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xlsx" ContentType="application/vnd.openxmlformats-officedocument.spreadsheetml.sheet"/>
  <Default Extension="jpg" ContentType="image/jp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9"/>
  </p:notesMasterIdLst>
  <p:sldIdLst>
    <p:sldId id="608" r:id="rId2"/>
    <p:sldId id="256" r:id="rId3"/>
    <p:sldId id="535" r:id="rId4"/>
    <p:sldId id="258" r:id="rId5"/>
    <p:sldId id="259" r:id="rId6"/>
    <p:sldId id="260" r:id="rId7"/>
    <p:sldId id="261" r:id="rId8"/>
    <p:sldId id="262" r:id="rId9"/>
    <p:sldId id="263" r:id="rId10"/>
    <p:sldId id="264" r:id="rId11"/>
    <p:sldId id="604" r:id="rId12"/>
    <p:sldId id="605" r:id="rId13"/>
    <p:sldId id="606" r:id="rId14"/>
    <p:sldId id="276" r:id="rId15"/>
    <p:sldId id="269" r:id="rId16"/>
    <p:sldId id="277" r:id="rId17"/>
    <p:sldId id="599" r:id="rId18"/>
    <p:sldId id="536" r:id="rId19"/>
    <p:sldId id="598" r:id="rId20"/>
    <p:sldId id="594" r:id="rId21"/>
    <p:sldId id="607" r:id="rId22"/>
    <p:sldId id="593" r:id="rId23"/>
    <p:sldId id="586" r:id="rId24"/>
    <p:sldId id="272" r:id="rId25"/>
    <p:sldId id="552" r:id="rId26"/>
    <p:sldId id="273" r:id="rId27"/>
    <p:sldId id="274" r:id="rId28"/>
  </p:sldIdLst>
  <p:sldSz cx="12192000" cy="6858000"/>
  <p:notesSz cx="12192000" cy="6858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3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DC6D658-1344-4453-92BE-8851E1E03439}" v="7" dt="2025-11-05T05:09:58.718"/>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6" d="100"/>
          <a:sy n="76" d="100"/>
        </p:scale>
        <p:origin x="272" y="52"/>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dirty="0"/>
              <a:t>24</a:t>
            </a:r>
            <a:r>
              <a:rPr lang="en-US" baseline="0" dirty="0"/>
              <a:t> Months Capstone Timeline</a:t>
            </a:r>
            <a:endParaRPr lang="en-US" dirty="0"/>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bar"/>
        <c:grouping val="stacked"/>
        <c:varyColors val="0"/>
        <c:ser>
          <c:idx val="0"/>
          <c:order val="0"/>
          <c:tx>
            <c:strRef>
              <c:f>Sheet1!$B$1</c:f>
              <c:strCache>
                <c:ptCount val="1"/>
                <c:pt idx="0">
                  <c:v>Series 1</c:v>
                </c:pt>
              </c:strCache>
            </c:strRef>
          </c:tx>
          <c:spPr>
            <a:solidFill>
              <a:schemeClr val="accent1"/>
            </a:solidFill>
            <a:ln>
              <a:noFill/>
            </a:ln>
            <a:effectLst/>
          </c:spPr>
          <c:invertIfNegative val="0"/>
          <c:dPt>
            <c:idx val="1"/>
            <c:invertIfNegative val="0"/>
            <c:bubble3D val="0"/>
            <c:spPr>
              <a:solidFill>
                <a:schemeClr val="bg1"/>
              </a:solidFill>
              <a:ln>
                <a:solidFill>
                  <a:schemeClr val="bg1"/>
                </a:solidFill>
              </a:ln>
              <a:effectLst/>
            </c:spPr>
            <c:extLst xmlns:c16r2="http://schemas.microsoft.com/office/drawing/2015/06/chart">
              <c:ext xmlns:c16="http://schemas.microsoft.com/office/drawing/2014/chart" uri="{C3380CC4-5D6E-409C-BE32-E72D297353CC}">
                <c16:uniqueId val="{00000001-8636-4D08-A536-92A711628AE1}"/>
              </c:ext>
            </c:extLst>
          </c:dPt>
          <c:dPt>
            <c:idx val="2"/>
            <c:invertIfNegative val="0"/>
            <c:bubble3D val="0"/>
            <c:spPr>
              <a:solidFill>
                <a:schemeClr val="bg1"/>
              </a:solidFill>
              <a:ln>
                <a:noFill/>
              </a:ln>
              <a:effectLst/>
            </c:spPr>
            <c:extLst xmlns:c16r2="http://schemas.microsoft.com/office/drawing/2015/06/chart">
              <c:ext xmlns:c16="http://schemas.microsoft.com/office/drawing/2014/chart" uri="{C3380CC4-5D6E-409C-BE32-E72D297353CC}">
                <c16:uniqueId val="{00000003-8636-4D08-A536-92A711628AE1}"/>
              </c:ext>
            </c:extLst>
          </c:dPt>
          <c:dPt>
            <c:idx val="3"/>
            <c:invertIfNegative val="0"/>
            <c:bubble3D val="0"/>
            <c:spPr>
              <a:solidFill>
                <a:schemeClr val="bg1"/>
              </a:solidFill>
              <a:ln>
                <a:noFill/>
              </a:ln>
              <a:effectLst/>
            </c:spPr>
            <c:extLst xmlns:c16r2="http://schemas.microsoft.com/office/drawing/2015/06/chart">
              <c:ext xmlns:c16="http://schemas.microsoft.com/office/drawing/2014/chart" uri="{C3380CC4-5D6E-409C-BE32-E72D297353CC}">
                <c16:uniqueId val="{00000005-8636-4D08-A536-92A711628AE1}"/>
              </c:ext>
            </c:extLst>
          </c:dPt>
          <c:dPt>
            <c:idx val="4"/>
            <c:invertIfNegative val="0"/>
            <c:bubble3D val="0"/>
            <c:spPr>
              <a:solidFill>
                <a:schemeClr val="bg1"/>
              </a:solidFill>
              <a:ln>
                <a:noFill/>
              </a:ln>
              <a:effectLst/>
            </c:spPr>
            <c:extLst xmlns:c16r2="http://schemas.microsoft.com/office/drawing/2015/06/chart">
              <c:ext xmlns:c16="http://schemas.microsoft.com/office/drawing/2014/chart" uri="{C3380CC4-5D6E-409C-BE32-E72D297353CC}">
                <c16:uniqueId val="{00000007-8636-4D08-A536-92A711628AE1}"/>
              </c:ext>
            </c:extLst>
          </c:dPt>
          <c:dPt>
            <c:idx val="5"/>
            <c:invertIfNegative val="0"/>
            <c:bubble3D val="0"/>
            <c:spPr>
              <a:solidFill>
                <a:schemeClr val="bg1"/>
              </a:solidFill>
              <a:ln>
                <a:noFill/>
              </a:ln>
              <a:effectLst/>
            </c:spPr>
            <c:extLst xmlns:c16r2="http://schemas.microsoft.com/office/drawing/2015/06/chart">
              <c:ext xmlns:c16="http://schemas.microsoft.com/office/drawing/2014/chart" uri="{C3380CC4-5D6E-409C-BE32-E72D297353CC}">
                <c16:uniqueId val="{00000009-8636-4D08-A536-92A711628AE1}"/>
              </c:ext>
            </c:extLst>
          </c:dPt>
          <c:dPt>
            <c:idx val="6"/>
            <c:invertIfNegative val="0"/>
            <c:bubble3D val="0"/>
            <c:spPr>
              <a:solidFill>
                <a:schemeClr val="bg1"/>
              </a:solidFill>
              <a:ln>
                <a:noFill/>
              </a:ln>
              <a:effectLst/>
            </c:spPr>
            <c:extLst xmlns:c16r2="http://schemas.microsoft.com/office/drawing/2015/06/chart">
              <c:ext xmlns:c16="http://schemas.microsoft.com/office/drawing/2014/chart" uri="{C3380CC4-5D6E-409C-BE32-E72D297353CC}">
                <c16:uniqueId val="{0000000B-8636-4D08-A536-92A711628AE1}"/>
              </c:ext>
            </c:extLst>
          </c:dPt>
          <c:dPt>
            <c:idx val="7"/>
            <c:invertIfNegative val="0"/>
            <c:bubble3D val="0"/>
            <c:spPr>
              <a:solidFill>
                <a:schemeClr val="bg1"/>
              </a:solidFill>
              <a:ln>
                <a:noFill/>
              </a:ln>
              <a:effectLst/>
            </c:spPr>
            <c:extLst xmlns:c16r2="http://schemas.microsoft.com/office/drawing/2015/06/chart">
              <c:ext xmlns:c16="http://schemas.microsoft.com/office/drawing/2014/chart" uri="{C3380CC4-5D6E-409C-BE32-E72D297353CC}">
                <c16:uniqueId val="{0000000D-8636-4D08-A536-92A711628AE1}"/>
              </c:ext>
            </c:extLst>
          </c:dPt>
          <c:dPt>
            <c:idx val="8"/>
            <c:invertIfNegative val="0"/>
            <c:bubble3D val="0"/>
            <c:spPr>
              <a:solidFill>
                <a:schemeClr val="bg1"/>
              </a:solidFill>
              <a:ln>
                <a:noFill/>
              </a:ln>
              <a:effectLst/>
            </c:spPr>
            <c:extLst xmlns:c16r2="http://schemas.microsoft.com/office/drawing/2015/06/chart">
              <c:ext xmlns:c16="http://schemas.microsoft.com/office/drawing/2014/chart" uri="{C3380CC4-5D6E-409C-BE32-E72D297353CC}">
                <c16:uniqueId val="{0000000F-8636-4D08-A536-92A711628AE1}"/>
              </c:ext>
            </c:extLst>
          </c:dPt>
          <c:cat>
            <c:strRef>
              <c:f>Sheet1!$A$2:$A$10</c:f>
              <c:strCache>
                <c:ptCount val="9"/>
                <c:pt idx="0">
                  <c:v>Literature survey</c:v>
                </c:pt>
                <c:pt idx="1">
                  <c:v>Dataset collection</c:v>
                </c:pt>
                <c:pt idx="2">
                  <c:v>Baseline Model</c:v>
                </c:pt>
                <c:pt idx="3">
                  <c:v>Advanced DL Model</c:v>
                </c:pt>
                <c:pt idx="4">
                  <c:v>Multi-modal opt</c:v>
                </c:pt>
                <c:pt idx="5">
                  <c:v>ITS simu and int</c:v>
                </c:pt>
                <c:pt idx="6">
                  <c:v>Edge deployment</c:v>
                </c:pt>
                <c:pt idx="7">
                  <c:v>Sys test and valid</c:v>
                </c:pt>
                <c:pt idx="8">
                  <c:v>Docu and final Report</c:v>
                </c:pt>
              </c:strCache>
            </c:strRef>
          </c:cat>
          <c:val>
            <c:numRef>
              <c:f>Sheet1!$B$2:$B$10</c:f>
              <c:numCache>
                <c:formatCode>General</c:formatCode>
                <c:ptCount val="9"/>
                <c:pt idx="0">
                  <c:v>4</c:v>
                </c:pt>
                <c:pt idx="1">
                  <c:v>4</c:v>
                </c:pt>
                <c:pt idx="2">
                  <c:v>4</c:v>
                </c:pt>
                <c:pt idx="3">
                  <c:v>4</c:v>
                </c:pt>
                <c:pt idx="4">
                  <c:v>4</c:v>
                </c:pt>
                <c:pt idx="5">
                  <c:v>4</c:v>
                </c:pt>
                <c:pt idx="6">
                  <c:v>4</c:v>
                </c:pt>
                <c:pt idx="7">
                  <c:v>4</c:v>
                </c:pt>
                <c:pt idx="8">
                  <c:v>4</c:v>
                </c:pt>
              </c:numCache>
            </c:numRef>
          </c:val>
          <c:extLst xmlns:c16r2="http://schemas.microsoft.com/office/drawing/2015/06/chart">
            <c:ext xmlns:c16="http://schemas.microsoft.com/office/drawing/2014/chart" uri="{C3380CC4-5D6E-409C-BE32-E72D297353CC}">
              <c16:uniqueId val="{00000010-8636-4D08-A536-92A711628AE1}"/>
            </c:ext>
          </c:extLst>
        </c:ser>
        <c:ser>
          <c:idx val="1"/>
          <c:order val="1"/>
          <c:tx>
            <c:strRef>
              <c:f>Sheet1!$C$1</c:f>
              <c:strCache>
                <c:ptCount val="1"/>
                <c:pt idx="0">
                  <c:v>Series 2</c:v>
                </c:pt>
              </c:strCache>
            </c:strRef>
          </c:tx>
          <c:spPr>
            <a:solidFill>
              <a:schemeClr val="accent2"/>
            </a:solidFill>
            <a:ln>
              <a:noFill/>
            </a:ln>
            <a:effectLst/>
          </c:spPr>
          <c:invertIfNegative val="0"/>
          <c:dPt>
            <c:idx val="2"/>
            <c:invertIfNegative val="0"/>
            <c:bubble3D val="0"/>
            <c:spPr>
              <a:solidFill>
                <a:schemeClr val="bg1"/>
              </a:solidFill>
              <a:ln>
                <a:noFill/>
              </a:ln>
              <a:effectLst/>
            </c:spPr>
            <c:extLst xmlns:c16r2="http://schemas.microsoft.com/office/drawing/2015/06/chart">
              <c:ext xmlns:c16="http://schemas.microsoft.com/office/drawing/2014/chart" uri="{C3380CC4-5D6E-409C-BE32-E72D297353CC}">
                <c16:uniqueId val="{00000012-8636-4D08-A536-92A711628AE1}"/>
              </c:ext>
            </c:extLst>
          </c:dPt>
          <c:dPt>
            <c:idx val="3"/>
            <c:invertIfNegative val="0"/>
            <c:bubble3D val="0"/>
            <c:spPr>
              <a:solidFill>
                <a:schemeClr val="bg1"/>
              </a:solidFill>
              <a:ln>
                <a:noFill/>
              </a:ln>
              <a:effectLst/>
            </c:spPr>
            <c:extLst xmlns:c16r2="http://schemas.microsoft.com/office/drawing/2015/06/chart">
              <c:ext xmlns:c16="http://schemas.microsoft.com/office/drawing/2014/chart" uri="{C3380CC4-5D6E-409C-BE32-E72D297353CC}">
                <c16:uniqueId val="{00000014-8636-4D08-A536-92A711628AE1}"/>
              </c:ext>
            </c:extLst>
          </c:dPt>
          <c:dPt>
            <c:idx val="4"/>
            <c:invertIfNegative val="0"/>
            <c:bubble3D val="0"/>
            <c:spPr>
              <a:solidFill>
                <a:schemeClr val="bg1"/>
              </a:solidFill>
              <a:ln>
                <a:noFill/>
              </a:ln>
              <a:effectLst/>
            </c:spPr>
            <c:extLst xmlns:c16r2="http://schemas.microsoft.com/office/drawing/2015/06/chart">
              <c:ext xmlns:c16="http://schemas.microsoft.com/office/drawing/2014/chart" uri="{C3380CC4-5D6E-409C-BE32-E72D297353CC}">
                <c16:uniqueId val="{00000016-8636-4D08-A536-92A711628AE1}"/>
              </c:ext>
            </c:extLst>
          </c:dPt>
          <c:dPt>
            <c:idx val="5"/>
            <c:invertIfNegative val="0"/>
            <c:bubble3D val="0"/>
            <c:spPr>
              <a:solidFill>
                <a:schemeClr val="bg1"/>
              </a:solidFill>
              <a:ln>
                <a:noFill/>
              </a:ln>
              <a:effectLst/>
            </c:spPr>
            <c:extLst xmlns:c16r2="http://schemas.microsoft.com/office/drawing/2015/06/chart">
              <c:ext xmlns:c16="http://schemas.microsoft.com/office/drawing/2014/chart" uri="{C3380CC4-5D6E-409C-BE32-E72D297353CC}">
                <c16:uniqueId val="{00000018-8636-4D08-A536-92A711628AE1}"/>
              </c:ext>
            </c:extLst>
          </c:dPt>
          <c:dPt>
            <c:idx val="6"/>
            <c:invertIfNegative val="0"/>
            <c:bubble3D val="0"/>
            <c:spPr>
              <a:solidFill>
                <a:schemeClr val="bg1"/>
              </a:solidFill>
              <a:ln>
                <a:noFill/>
              </a:ln>
              <a:effectLst/>
            </c:spPr>
            <c:extLst xmlns:c16r2="http://schemas.microsoft.com/office/drawing/2015/06/chart">
              <c:ext xmlns:c16="http://schemas.microsoft.com/office/drawing/2014/chart" uri="{C3380CC4-5D6E-409C-BE32-E72D297353CC}">
                <c16:uniqueId val="{0000001A-8636-4D08-A536-92A711628AE1}"/>
              </c:ext>
            </c:extLst>
          </c:dPt>
          <c:dPt>
            <c:idx val="7"/>
            <c:invertIfNegative val="0"/>
            <c:bubble3D val="0"/>
            <c:spPr>
              <a:solidFill>
                <a:schemeClr val="bg1"/>
              </a:solidFill>
              <a:ln>
                <a:noFill/>
              </a:ln>
              <a:effectLst/>
            </c:spPr>
            <c:extLst xmlns:c16r2="http://schemas.microsoft.com/office/drawing/2015/06/chart">
              <c:ext xmlns:c16="http://schemas.microsoft.com/office/drawing/2014/chart" uri="{C3380CC4-5D6E-409C-BE32-E72D297353CC}">
                <c16:uniqueId val="{0000001C-8636-4D08-A536-92A711628AE1}"/>
              </c:ext>
            </c:extLst>
          </c:dPt>
          <c:dPt>
            <c:idx val="8"/>
            <c:invertIfNegative val="0"/>
            <c:bubble3D val="0"/>
            <c:spPr>
              <a:solidFill>
                <a:schemeClr val="bg1"/>
              </a:solidFill>
              <a:ln>
                <a:noFill/>
              </a:ln>
              <a:effectLst/>
            </c:spPr>
            <c:extLst xmlns:c16r2="http://schemas.microsoft.com/office/drawing/2015/06/chart">
              <c:ext xmlns:c16="http://schemas.microsoft.com/office/drawing/2014/chart" uri="{C3380CC4-5D6E-409C-BE32-E72D297353CC}">
                <c16:uniqueId val="{0000001E-8636-4D08-A536-92A711628AE1}"/>
              </c:ext>
            </c:extLst>
          </c:dPt>
          <c:cat>
            <c:strRef>
              <c:f>Sheet1!$A$2:$A$10</c:f>
              <c:strCache>
                <c:ptCount val="9"/>
                <c:pt idx="0">
                  <c:v>Literature survey</c:v>
                </c:pt>
                <c:pt idx="1">
                  <c:v>Dataset collection</c:v>
                </c:pt>
                <c:pt idx="2">
                  <c:v>Baseline Model</c:v>
                </c:pt>
                <c:pt idx="3">
                  <c:v>Advanced DL Model</c:v>
                </c:pt>
                <c:pt idx="4">
                  <c:v>Multi-modal opt</c:v>
                </c:pt>
                <c:pt idx="5">
                  <c:v>ITS simu and int</c:v>
                </c:pt>
                <c:pt idx="6">
                  <c:v>Edge deployment</c:v>
                </c:pt>
                <c:pt idx="7">
                  <c:v>Sys test and valid</c:v>
                </c:pt>
                <c:pt idx="8">
                  <c:v>Docu and final Report</c:v>
                </c:pt>
              </c:strCache>
            </c:strRef>
          </c:cat>
          <c:val>
            <c:numRef>
              <c:f>Sheet1!$C$2:$C$10</c:f>
              <c:numCache>
                <c:formatCode>General</c:formatCode>
                <c:ptCount val="9"/>
                <c:pt idx="0">
                  <c:v>0</c:v>
                </c:pt>
                <c:pt idx="1">
                  <c:v>3</c:v>
                </c:pt>
                <c:pt idx="2">
                  <c:v>3</c:v>
                </c:pt>
                <c:pt idx="3">
                  <c:v>3</c:v>
                </c:pt>
                <c:pt idx="4">
                  <c:v>3</c:v>
                </c:pt>
                <c:pt idx="5">
                  <c:v>3</c:v>
                </c:pt>
                <c:pt idx="6">
                  <c:v>3</c:v>
                </c:pt>
                <c:pt idx="7">
                  <c:v>3</c:v>
                </c:pt>
                <c:pt idx="8">
                  <c:v>3</c:v>
                </c:pt>
              </c:numCache>
            </c:numRef>
          </c:val>
          <c:extLst xmlns:c16r2="http://schemas.microsoft.com/office/drawing/2015/06/chart">
            <c:ext xmlns:c16="http://schemas.microsoft.com/office/drawing/2014/chart" uri="{C3380CC4-5D6E-409C-BE32-E72D297353CC}">
              <c16:uniqueId val="{0000001F-8636-4D08-A536-92A711628AE1}"/>
            </c:ext>
          </c:extLst>
        </c:ser>
        <c:ser>
          <c:idx val="2"/>
          <c:order val="2"/>
          <c:tx>
            <c:strRef>
              <c:f>Sheet1!$D$1</c:f>
              <c:strCache>
                <c:ptCount val="1"/>
                <c:pt idx="0">
                  <c:v>Series 3</c:v>
                </c:pt>
              </c:strCache>
            </c:strRef>
          </c:tx>
          <c:spPr>
            <a:solidFill>
              <a:schemeClr val="accent3"/>
            </a:solidFill>
            <a:ln>
              <a:noFill/>
            </a:ln>
            <a:effectLst/>
          </c:spPr>
          <c:invertIfNegative val="0"/>
          <c:dPt>
            <c:idx val="3"/>
            <c:invertIfNegative val="0"/>
            <c:bubble3D val="0"/>
            <c:spPr>
              <a:solidFill>
                <a:schemeClr val="bg1"/>
              </a:solidFill>
              <a:ln>
                <a:noFill/>
              </a:ln>
              <a:effectLst/>
            </c:spPr>
            <c:extLst xmlns:c16r2="http://schemas.microsoft.com/office/drawing/2015/06/chart">
              <c:ext xmlns:c16="http://schemas.microsoft.com/office/drawing/2014/chart" uri="{C3380CC4-5D6E-409C-BE32-E72D297353CC}">
                <c16:uniqueId val="{00000021-8636-4D08-A536-92A711628AE1}"/>
              </c:ext>
            </c:extLst>
          </c:dPt>
          <c:dPt>
            <c:idx val="4"/>
            <c:invertIfNegative val="0"/>
            <c:bubble3D val="0"/>
            <c:spPr>
              <a:solidFill>
                <a:schemeClr val="bg1"/>
              </a:solidFill>
              <a:ln>
                <a:noFill/>
              </a:ln>
              <a:effectLst/>
            </c:spPr>
            <c:extLst xmlns:c16r2="http://schemas.microsoft.com/office/drawing/2015/06/chart">
              <c:ext xmlns:c16="http://schemas.microsoft.com/office/drawing/2014/chart" uri="{C3380CC4-5D6E-409C-BE32-E72D297353CC}">
                <c16:uniqueId val="{00000023-8636-4D08-A536-92A711628AE1}"/>
              </c:ext>
            </c:extLst>
          </c:dPt>
          <c:dPt>
            <c:idx val="5"/>
            <c:invertIfNegative val="0"/>
            <c:bubble3D val="0"/>
            <c:spPr>
              <a:solidFill>
                <a:schemeClr val="bg1"/>
              </a:solidFill>
              <a:ln>
                <a:noFill/>
              </a:ln>
              <a:effectLst/>
            </c:spPr>
            <c:extLst xmlns:c16r2="http://schemas.microsoft.com/office/drawing/2015/06/chart">
              <c:ext xmlns:c16="http://schemas.microsoft.com/office/drawing/2014/chart" uri="{C3380CC4-5D6E-409C-BE32-E72D297353CC}">
                <c16:uniqueId val="{00000025-8636-4D08-A536-92A711628AE1}"/>
              </c:ext>
            </c:extLst>
          </c:dPt>
          <c:dPt>
            <c:idx val="6"/>
            <c:invertIfNegative val="0"/>
            <c:bubble3D val="0"/>
            <c:spPr>
              <a:solidFill>
                <a:schemeClr val="bg1"/>
              </a:solidFill>
              <a:ln>
                <a:noFill/>
              </a:ln>
              <a:effectLst/>
            </c:spPr>
            <c:extLst xmlns:c16r2="http://schemas.microsoft.com/office/drawing/2015/06/chart">
              <c:ext xmlns:c16="http://schemas.microsoft.com/office/drawing/2014/chart" uri="{C3380CC4-5D6E-409C-BE32-E72D297353CC}">
                <c16:uniqueId val="{00000027-8636-4D08-A536-92A711628AE1}"/>
              </c:ext>
            </c:extLst>
          </c:dPt>
          <c:dPt>
            <c:idx val="7"/>
            <c:invertIfNegative val="0"/>
            <c:bubble3D val="0"/>
            <c:spPr>
              <a:solidFill>
                <a:schemeClr val="bg1"/>
              </a:solidFill>
              <a:ln>
                <a:noFill/>
              </a:ln>
              <a:effectLst/>
            </c:spPr>
            <c:extLst xmlns:c16r2="http://schemas.microsoft.com/office/drawing/2015/06/chart">
              <c:ext xmlns:c16="http://schemas.microsoft.com/office/drawing/2014/chart" uri="{C3380CC4-5D6E-409C-BE32-E72D297353CC}">
                <c16:uniqueId val="{00000029-8636-4D08-A536-92A711628AE1}"/>
              </c:ext>
            </c:extLst>
          </c:dPt>
          <c:dPt>
            <c:idx val="8"/>
            <c:invertIfNegative val="0"/>
            <c:bubble3D val="0"/>
            <c:spPr>
              <a:solidFill>
                <a:schemeClr val="bg1"/>
              </a:solidFill>
              <a:ln>
                <a:noFill/>
              </a:ln>
              <a:effectLst/>
            </c:spPr>
            <c:extLst xmlns:c16r2="http://schemas.microsoft.com/office/drawing/2015/06/chart">
              <c:ext xmlns:c16="http://schemas.microsoft.com/office/drawing/2014/chart" uri="{C3380CC4-5D6E-409C-BE32-E72D297353CC}">
                <c16:uniqueId val="{0000002B-8636-4D08-A536-92A711628AE1}"/>
              </c:ext>
            </c:extLst>
          </c:dPt>
          <c:cat>
            <c:strRef>
              <c:f>Sheet1!$A$2:$A$10</c:f>
              <c:strCache>
                <c:ptCount val="9"/>
                <c:pt idx="0">
                  <c:v>Literature survey</c:v>
                </c:pt>
                <c:pt idx="1">
                  <c:v>Dataset collection</c:v>
                </c:pt>
                <c:pt idx="2">
                  <c:v>Baseline Model</c:v>
                </c:pt>
                <c:pt idx="3">
                  <c:v>Advanced DL Model</c:v>
                </c:pt>
                <c:pt idx="4">
                  <c:v>Multi-modal opt</c:v>
                </c:pt>
                <c:pt idx="5">
                  <c:v>ITS simu and int</c:v>
                </c:pt>
                <c:pt idx="6">
                  <c:v>Edge deployment</c:v>
                </c:pt>
                <c:pt idx="7">
                  <c:v>Sys test and valid</c:v>
                </c:pt>
                <c:pt idx="8">
                  <c:v>Docu and final Report</c:v>
                </c:pt>
              </c:strCache>
            </c:strRef>
          </c:cat>
          <c:val>
            <c:numRef>
              <c:f>Sheet1!$D$2:$D$10</c:f>
              <c:numCache>
                <c:formatCode>General</c:formatCode>
                <c:ptCount val="9"/>
                <c:pt idx="0">
                  <c:v>0</c:v>
                </c:pt>
                <c:pt idx="1">
                  <c:v>0</c:v>
                </c:pt>
                <c:pt idx="2">
                  <c:v>3</c:v>
                </c:pt>
                <c:pt idx="3">
                  <c:v>3</c:v>
                </c:pt>
                <c:pt idx="4">
                  <c:v>3</c:v>
                </c:pt>
                <c:pt idx="5">
                  <c:v>3</c:v>
                </c:pt>
                <c:pt idx="6">
                  <c:v>3</c:v>
                </c:pt>
                <c:pt idx="7">
                  <c:v>3</c:v>
                </c:pt>
                <c:pt idx="8">
                  <c:v>3</c:v>
                </c:pt>
              </c:numCache>
            </c:numRef>
          </c:val>
          <c:extLst xmlns:c16r2="http://schemas.microsoft.com/office/drawing/2015/06/chart">
            <c:ext xmlns:c16="http://schemas.microsoft.com/office/drawing/2014/chart" uri="{C3380CC4-5D6E-409C-BE32-E72D297353CC}">
              <c16:uniqueId val="{0000002C-8636-4D08-A536-92A711628AE1}"/>
            </c:ext>
          </c:extLst>
        </c:ser>
        <c:ser>
          <c:idx val="3"/>
          <c:order val="3"/>
          <c:tx>
            <c:strRef>
              <c:f>Sheet1!$E$1</c:f>
              <c:strCache>
                <c:ptCount val="1"/>
                <c:pt idx="0">
                  <c:v>series 4</c:v>
                </c:pt>
              </c:strCache>
            </c:strRef>
          </c:tx>
          <c:spPr>
            <a:solidFill>
              <a:schemeClr val="accent4"/>
            </a:solidFill>
            <a:ln>
              <a:noFill/>
            </a:ln>
            <a:effectLst/>
          </c:spPr>
          <c:invertIfNegative val="0"/>
          <c:dPt>
            <c:idx val="4"/>
            <c:invertIfNegative val="0"/>
            <c:bubble3D val="0"/>
            <c:spPr>
              <a:solidFill>
                <a:schemeClr val="bg1"/>
              </a:solidFill>
              <a:ln>
                <a:noFill/>
              </a:ln>
              <a:effectLst/>
            </c:spPr>
            <c:extLst xmlns:c16r2="http://schemas.microsoft.com/office/drawing/2015/06/chart">
              <c:ext xmlns:c16="http://schemas.microsoft.com/office/drawing/2014/chart" uri="{C3380CC4-5D6E-409C-BE32-E72D297353CC}">
                <c16:uniqueId val="{0000002E-8636-4D08-A536-92A711628AE1}"/>
              </c:ext>
            </c:extLst>
          </c:dPt>
          <c:dPt>
            <c:idx val="5"/>
            <c:invertIfNegative val="0"/>
            <c:bubble3D val="0"/>
            <c:spPr>
              <a:solidFill>
                <a:schemeClr val="bg1"/>
              </a:solidFill>
              <a:ln>
                <a:noFill/>
              </a:ln>
              <a:effectLst/>
            </c:spPr>
            <c:extLst xmlns:c16r2="http://schemas.microsoft.com/office/drawing/2015/06/chart">
              <c:ext xmlns:c16="http://schemas.microsoft.com/office/drawing/2014/chart" uri="{C3380CC4-5D6E-409C-BE32-E72D297353CC}">
                <c16:uniqueId val="{00000030-8636-4D08-A536-92A711628AE1}"/>
              </c:ext>
            </c:extLst>
          </c:dPt>
          <c:dPt>
            <c:idx val="6"/>
            <c:invertIfNegative val="0"/>
            <c:bubble3D val="0"/>
            <c:spPr>
              <a:solidFill>
                <a:schemeClr val="bg1"/>
              </a:solidFill>
              <a:ln>
                <a:noFill/>
              </a:ln>
              <a:effectLst/>
            </c:spPr>
            <c:extLst xmlns:c16r2="http://schemas.microsoft.com/office/drawing/2015/06/chart">
              <c:ext xmlns:c16="http://schemas.microsoft.com/office/drawing/2014/chart" uri="{C3380CC4-5D6E-409C-BE32-E72D297353CC}">
                <c16:uniqueId val="{00000032-8636-4D08-A536-92A711628AE1}"/>
              </c:ext>
            </c:extLst>
          </c:dPt>
          <c:dPt>
            <c:idx val="7"/>
            <c:invertIfNegative val="0"/>
            <c:bubble3D val="0"/>
            <c:spPr>
              <a:solidFill>
                <a:schemeClr val="bg1"/>
              </a:solidFill>
              <a:ln>
                <a:noFill/>
              </a:ln>
              <a:effectLst/>
            </c:spPr>
            <c:extLst xmlns:c16r2="http://schemas.microsoft.com/office/drawing/2015/06/chart">
              <c:ext xmlns:c16="http://schemas.microsoft.com/office/drawing/2014/chart" uri="{C3380CC4-5D6E-409C-BE32-E72D297353CC}">
                <c16:uniqueId val="{00000034-8636-4D08-A536-92A711628AE1}"/>
              </c:ext>
            </c:extLst>
          </c:dPt>
          <c:dPt>
            <c:idx val="8"/>
            <c:invertIfNegative val="0"/>
            <c:bubble3D val="0"/>
            <c:spPr>
              <a:solidFill>
                <a:schemeClr val="bg1"/>
              </a:solidFill>
              <a:ln>
                <a:noFill/>
              </a:ln>
              <a:effectLst/>
            </c:spPr>
            <c:extLst xmlns:c16r2="http://schemas.microsoft.com/office/drawing/2015/06/chart">
              <c:ext xmlns:c16="http://schemas.microsoft.com/office/drawing/2014/chart" uri="{C3380CC4-5D6E-409C-BE32-E72D297353CC}">
                <c16:uniqueId val="{00000036-8636-4D08-A536-92A711628AE1}"/>
              </c:ext>
            </c:extLst>
          </c:dPt>
          <c:cat>
            <c:strRef>
              <c:f>Sheet1!$A$2:$A$10</c:f>
              <c:strCache>
                <c:ptCount val="9"/>
                <c:pt idx="0">
                  <c:v>Literature survey</c:v>
                </c:pt>
                <c:pt idx="1">
                  <c:v>Dataset collection</c:v>
                </c:pt>
                <c:pt idx="2">
                  <c:v>Baseline Model</c:v>
                </c:pt>
                <c:pt idx="3">
                  <c:v>Advanced DL Model</c:v>
                </c:pt>
                <c:pt idx="4">
                  <c:v>Multi-modal opt</c:v>
                </c:pt>
                <c:pt idx="5">
                  <c:v>ITS simu and int</c:v>
                </c:pt>
                <c:pt idx="6">
                  <c:v>Edge deployment</c:v>
                </c:pt>
                <c:pt idx="7">
                  <c:v>Sys test and valid</c:v>
                </c:pt>
                <c:pt idx="8">
                  <c:v>Docu and final Report</c:v>
                </c:pt>
              </c:strCache>
            </c:strRef>
          </c:cat>
          <c:val>
            <c:numRef>
              <c:f>Sheet1!$E$2:$E$10</c:f>
              <c:numCache>
                <c:formatCode>General</c:formatCode>
                <c:ptCount val="9"/>
                <c:pt idx="0">
                  <c:v>0</c:v>
                </c:pt>
                <c:pt idx="1">
                  <c:v>0</c:v>
                </c:pt>
                <c:pt idx="2">
                  <c:v>0</c:v>
                </c:pt>
                <c:pt idx="3">
                  <c:v>3</c:v>
                </c:pt>
                <c:pt idx="4">
                  <c:v>3</c:v>
                </c:pt>
                <c:pt idx="5">
                  <c:v>3</c:v>
                </c:pt>
                <c:pt idx="6">
                  <c:v>3</c:v>
                </c:pt>
                <c:pt idx="7">
                  <c:v>3</c:v>
                </c:pt>
                <c:pt idx="8">
                  <c:v>3</c:v>
                </c:pt>
              </c:numCache>
            </c:numRef>
          </c:val>
          <c:extLst xmlns:c16r2="http://schemas.microsoft.com/office/drawing/2015/06/chart">
            <c:ext xmlns:c16="http://schemas.microsoft.com/office/drawing/2014/chart" uri="{C3380CC4-5D6E-409C-BE32-E72D297353CC}">
              <c16:uniqueId val="{00000037-8636-4D08-A536-92A711628AE1}"/>
            </c:ext>
          </c:extLst>
        </c:ser>
        <c:ser>
          <c:idx val="4"/>
          <c:order val="4"/>
          <c:tx>
            <c:strRef>
              <c:f>Sheet1!$F$1</c:f>
              <c:strCache>
                <c:ptCount val="1"/>
                <c:pt idx="0">
                  <c:v>series5</c:v>
                </c:pt>
              </c:strCache>
            </c:strRef>
          </c:tx>
          <c:spPr>
            <a:solidFill>
              <a:schemeClr val="accent5"/>
            </a:solidFill>
            <a:ln>
              <a:noFill/>
            </a:ln>
            <a:effectLst/>
          </c:spPr>
          <c:invertIfNegative val="0"/>
          <c:dPt>
            <c:idx val="5"/>
            <c:invertIfNegative val="0"/>
            <c:bubble3D val="0"/>
            <c:spPr>
              <a:solidFill>
                <a:schemeClr val="bg1"/>
              </a:solidFill>
              <a:ln>
                <a:noFill/>
              </a:ln>
              <a:effectLst/>
            </c:spPr>
            <c:extLst xmlns:c16r2="http://schemas.microsoft.com/office/drawing/2015/06/chart">
              <c:ext xmlns:c16="http://schemas.microsoft.com/office/drawing/2014/chart" uri="{C3380CC4-5D6E-409C-BE32-E72D297353CC}">
                <c16:uniqueId val="{00000039-8636-4D08-A536-92A711628AE1}"/>
              </c:ext>
            </c:extLst>
          </c:dPt>
          <c:dPt>
            <c:idx val="6"/>
            <c:invertIfNegative val="0"/>
            <c:bubble3D val="0"/>
            <c:spPr>
              <a:solidFill>
                <a:schemeClr val="bg1"/>
              </a:solidFill>
              <a:ln>
                <a:noFill/>
              </a:ln>
              <a:effectLst/>
            </c:spPr>
            <c:extLst xmlns:c16r2="http://schemas.microsoft.com/office/drawing/2015/06/chart">
              <c:ext xmlns:c16="http://schemas.microsoft.com/office/drawing/2014/chart" uri="{C3380CC4-5D6E-409C-BE32-E72D297353CC}">
                <c16:uniqueId val="{0000003B-8636-4D08-A536-92A711628AE1}"/>
              </c:ext>
            </c:extLst>
          </c:dPt>
          <c:dPt>
            <c:idx val="7"/>
            <c:invertIfNegative val="0"/>
            <c:bubble3D val="0"/>
            <c:spPr>
              <a:solidFill>
                <a:schemeClr val="bg1"/>
              </a:solidFill>
              <a:ln>
                <a:noFill/>
              </a:ln>
              <a:effectLst/>
            </c:spPr>
            <c:extLst xmlns:c16r2="http://schemas.microsoft.com/office/drawing/2015/06/chart">
              <c:ext xmlns:c16="http://schemas.microsoft.com/office/drawing/2014/chart" uri="{C3380CC4-5D6E-409C-BE32-E72D297353CC}">
                <c16:uniqueId val="{0000003D-8636-4D08-A536-92A711628AE1}"/>
              </c:ext>
            </c:extLst>
          </c:dPt>
          <c:dPt>
            <c:idx val="8"/>
            <c:invertIfNegative val="0"/>
            <c:bubble3D val="0"/>
            <c:spPr>
              <a:solidFill>
                <a:schemeClr val="bg1"/>
              </a:solidFill>
              <a:ln>
                <a:noFill/>
              </a:ln>
              <a:effectLst/>
            </c:spPr>
            <c:extLst xmlns:c16r2="http://schemas.microsoft.com/office/drawing/2015/06/chart">
              <c:ext xmlns:c16="http://schemas.microsoft.com/office/drawing/2014/chart" uri="{C3380CC4-5D6E-409C-BE32-E72D297353CC}">
                <c16:uniqueId val="{0000003F-8636-4D08-A536-92A711628AE1}"/>
              </c:ext>
            </c:extLst>
          </c:dPt>
          <c:cat>
            <c:strRef>
              <c:f>Sheet1!$A$2:$A$10</c:f>
              <c:strCache>
                <c:ptCount val="9"/>
                <c:pt idx="0">
                  <c:v>Literature survey</c:v>
                </c:pt>
                <c:pt idx="1">
                  <c:v>Dataset collection</c:v>
                </c:pt>
                <c:pt idx="2">
                  <c:v>Baseline Model</c:v>
                </c:pt>
                <c:pt idx="3">
                  <c:v>Advanced DL Model</c:v>
                </c:pt>
                <c:pt idx="4">
                  <c:v>Multi-modal opt</c:v>
                </c:pt>
                <c:pt idx="5">
                  <c:v>ITS simu and int</c:v>
                </c:pt>
                <c:pt idx="6">
                  <c:v>Edge deployment</c:v>
                </c:pt>
                <c:pt idx="7">
                  <c:v>Sys test and valid</c:v>
                </c:pt>
                <c:pt idx="8">
                  <c:v>Docu and final Report</c:v>
                </c:pt>
              </c:strCache>
            </c:strRef>
          </c:cat>
          <c:val>
            <c:numRef>
              <c:f>Sheet1!$F$2:$F$10</c:f>
              <c:numCache>
                <c:formatCode>General</c:formatCode>
                <c:ptCount val="9"/>
                <c:pt idx="0">
                  <c:v>0</c:v>
                </c:pt>
                <c:pt idx="1">
                  <c:v>0</c:v>
                </c:pt>
                <c:pt idx="2">
                  <c:v>0</c:v>
                </c:pt>
                <c:pt idx="3">
                  <c:v>0</c:v>
                </c:pt>
                <c:pt idx="4">
                  <c:v>3</c:v>
                </c:pt>
                <c:pt idx="5">
                  <c:v>3</c:v>
                </c:pt>
                <c:pt idx="6">
                  <c:v>3</c:v>
                </c:pt>
                <c:pt idx="7">
                  <c:v>3</c:v>
                </c:pt>
                <c:pt idx="8">
                  <c:v>3</c:v>
                </c:pt>
              </c:numCache>
            </c:numRef>
          </c:val>
          <c:extLst xmlns:c16r2="http://schemas.microsoft.com/office/drawing/2015/06/chart">
            <c:ext xmlns:c16="http://schemas.microsoft.com/office/drawing/2014/chart" uri="{C3380CC4-5D6E-409C-BE32-E72D297353CC}">
              <c16:uniqueId val="{00000040-8636-4D08-A536-92A711628AE1}"/>
            </c:ext>
          </c:extLst>
        </c:ser>
        <c:ser>
          <c:idx val="5"/>
          <c:order val="5"/>
          <c:tx>
            <c:strRef>
              <c:f>Sheet1!$G$1</c:f>
              <c:strCache>
                <c:ptCount val="1"/>
                <c:pt idx="0">
                  <c:v>6</c:v>
                </c:pt>
              </c:strCache>
            </c:strRef>
          </c:tx>
          <c:spPr>
            <a:solidFill>
              <a:schemeClr val="accent6"/>
            </a:solidFill>
            <a:ln>
              <a:noFill/>
            </a:ln>
            <a:effectLst/>
          </c:spPr>
          <c:invertIfNegative val="0"/>
          <c:dPt>
            <c:idx val="6"/>
            <c:invertIfNegative val="0"/>
            <c:bubble3D val="0"/>
            <c:spPr>
              <a:solidFill>
                <a:schemeClr val="bg1"/>
              </a:solidFill>
              <a:ln>
                <a:noFill/>
              </a:ln>
              <a:effectLst/>
            </c:spPr>
            <c:extLst xmlns:c16r2="http://schemas.microsoft.com/office/drawing/2015/06/chart">
              <c:ext xmlns:c16="http://schemas.microsoft.com/office/drawing/2014/chart" uri="{C3380CC4-5D6E-409C-BE32-E72D297353CC}">
                <c16:uniqueId val="{00000042-8636-4D08-A536-92A711628AE1}"/>
              </c:ext>
            </c:extLst>
          </c:dPt>
          <c:dPt>
            <c:idx val="7"/>
            <c:invertIfNegative val="0"/>
            <c:bubble3D val="0"/>
            <c:spPr>
              <a:solidFill>
                <a:schemeClr val="bg1"/>
              </a:solidFill>
              <a:ln>
                <a:noFill/>
              </a:ln>
              <a:effectLst/>
            </c:spPr>
            <c:extLst xmlns:c16r2="http://schemas.microsoft.com/office/drawing/2015/06/chart">
              <c:ext xmlns:c16="http://schemas.microsoft.com/office/drawing/2014/chart" uri="{C3380CC4-5D6E-409C-BE32-E72D297353CC}">
                <c16:uniqueId val="{00000044-8636-4D08-A536-92A711628AE1}"/>
              </c:ext>
            </c:extLst>
          </c:dPt>
          <c:dPt>
            <c:idx val="8"/>
            <c:invertIfNegative val="0"/>
            <c:bubble3D val="0"/>
            <c:spPr>
              <a:solidFill>
                <a:schemeClr val="bg1"/>
              </a:solidFill>
              <a:ln>
                <a:noFill/>
              </a:ln>
              <a:effectLst/>
            </c:spPr>
            <c:extLst xmlns:c16r2="http://schemas.microsoft.com/office/drawing/2015/06/chart">
              <c:ext xmlns:c16="http://schemas.microsoft.com/office/drawing/2014/chart" uri="{C3380CC4-5D6E-409C-BE32-E72D297353CC}">
                <c16:uniqueId val="{00000046-8636-4D08-A536-92A711628AE1}"/>
              </c:ext>
            </c:extLst>
          </c:dPt>
          <c:cat>
            <c:strRef>
              <c:f>Sheet1!$A$2:$A$10</c:f>
              <c:strCache>
                <c:ptCount val="9"/>
                <c:pt idx="0">
                  <c:v>Literature survey</c:v>
                </c:pt>
                <c:pt idx="1">
                  <c:v>Dataset collection</c:v>
                </c:pt>
                <c:pt idx="2">
                  <c:v>Baseline Model</c:v>
                </c:pt>
                <c:pt idx="3">
                  <c:v>Advanced DL Model</c:v>
                </c:pt>
                <c:pt idx="4">
                  <c:v>Multi-modal opt</c:v>
                </c:pt>
                <c:pt idx="5">
                  <c:v>ITS simu and int</c:v>
                </c:pt>
                <c:pt idx="6">
                  <c:v>Edge deployment</c:v>
                </c:pt>
                <c:pt idx="7">
                  <c:v>Sys test and valid</c:v>
                </c:pt>
                <c:pt idx="8">
                  <c:v>Docu and final Report</c:v>
                </c:pt>
              </c:strCache>
            </c:strRef>
          </c:cat>
          <c:val>
            <c:numRef>
              <c:f>Sheet1!$G$2:$G$10</c:f>
              <c:numCache>
                <c:formatCode>General</c:formatCode>
                <c:ptCount val="9"/>
                <c:pt idx="0">
                  <c:v>0</c:v>
                </c:pt>
                <c:pt idx="1">
                  <c:v>0</c:v>
                </c:pt>
                <c:pt idx="2">
                  <c:v>0</c:v>
                </c:pt>
                <c:pt idx="3">
                  <c:v>0</c:v>
                </c:pt>
                <c:pt idx="4">
                  <c:v>0</c:v>
                </c:pt>
                <c:pt idx="5">
                  <c:v>3</c:v>
                </c:pt>
                <c:pt idx="6">
                  <c:v>3</c:v>
                </c:pt>
                <c:pt idx="7">
                  <c:v>3</c:v>
                </c:pt>
                <c:pt idx="8">
                  <c:v>3</c:v>
                </c:pt>
              </c:numCache>
            </c:numRef>
          </c:val>
          <c:extLst xmlns:c16r2="http://schemas.microsoft.com/office/drawing/2015/06/chart">
            <c:ext xmlns:c16="http://schemas.microsoft.com/office/drawing/2014/chart" uri="{C3380CC4-5D6E-409C-BE32-E72D297353CC}">
              <c16:uniqueId val="{00000047-8636-4D08-A536-92A711628AE1}"/>
            </c:ext>
          </c:extLst>
        </c:ser>
        <c:ser>
          <c:idx val="6"/>
          <c:order val="6"/>
          <c:tx>
            <c:strRef>
              <c:f>Sheet1!$H$1</c:f>
              <c:strCache>
                <c:ptCount val="1"/>
                <c:pt idx="0">
                  <c:v>7</c:v>
                </c:pt>
              </c:strCache>
            </c:strRef>
          </c:tx>
          <c:spPr>
            <a:solidFill>
              <a:schemeClr val="accent1">
                <a:lumMod val="60000"/>
              </a:schemeClr>
            </a:solidFill>
            <a:ln>
              <a:noFill/>
            </a:ln>
            <a:effectLst/>
          </c:spPr>
          <c:invertIfNegative val="0"/>
          <c:dPt>
            <c:idx val="7"/>
            <c:invertIfNegative val="0"/>
            <c:bubble3D val="0"/>
            <c:spPr>
              <a:solidFill>
                <a:schemeClr val="bg1"/>
              </a:solidFill>
              <a:ln>
                <a:noFill/>
              </a:ln>
              <a:effectLst/>
            </c:spPr>
            <c:extLst xmlns:c16r2="http://schemas.microsoft.com/office/drawing/2015/06/chart">
              <c:ext xmlns:c16="http://schemas.microsoft.com/office/drawing/2014/chart" uri="{C3380CC4-5D6E-409C-BE32-E72D297353CC}">
                <c16:uniqueId val="{00000049-8636-4D08-A536-92A711628AE1}"/>
              </c:ext>
            </c:extLst>
          </c:dPt>
          <c:dPt>
            <c:idx val="8"/>
            <c:invertIfNegative val="0"/>
            <c:bubble3D val="0"/>
            <c:spPr>
              <a:solidFill>
                <a:schemeClr val="bg1"/>
              </a:solidFill>
              <a:ln>
                <a:noFill/>
              </a:ln>
              <a:effectLst/>
            </c:spPr>
            <c:extLst xmlns:c16r2="http://schemas.microsoft.com/office/drawing/2015/06/chart">
              <c:ext xmlns:c16="http://schemas.microsoft.com/office/drawing/2014/chart" uri="{C3380CC4-5D6E-409C-BE32-E72D297353CC}">
                <c16:uniqueId val="{0000004B-8636-4D08-A536-92A711628AE1}"/>
              </c:ext>
            </c:extLst>
          </c:dPt>
          <c:cat>
            <c:strRef>
              <c:f>Sheet1!$A$2:$A$10</c:f>
              <c:strCache>
                <c:ptCount val="9"/>
                <c:pt idx="0">
                  <c:v>Literature survey</c:v>
                </c:pt>
                <c:pt idx="1">
                  <c:v>Dataset collection</c:v>
                </c:pt>
                <c:pt idx="2">
                  <c:v>Baseline Model</c:v>
                </c:pt>
                <c:pt idx="3">
                  <c:v>Advanced DL Model</c:v>
                </c:pt>
                <c:pt idx="4">
                  <c:v>Multi-modal opt</c:v>
                </c:pt>
                <c:pt idx="5">
                  <c:v>ITS simu and int</c:v>
                </c:pt>
                <c:pt idx="6">
                  <c:v>Edge deployment</c:v>
                </c:pt>
                <c:pt idx="7">
                  <c:v>Sys test and valid</c:v>
                </c:pt>
                <c:pt idx="8">
                  <c:v>Docu and final Report</c:v>
                </c:pt>
              </c:strCache>
            </c:strRef>
          </c:cat>
          <c:val>
            <c:numRef>
              <c:f>Sheet1!$H$2:$H$10</c:f>
              <c:numCache>
                <c:formatCode>General</c:formatCode>
                <c:ptCount val="9"/>
                <c:pt idx="0">
                  <c:v>0</c:v>
                </c:pt>
                <c:pt idx="1">
                  <c:v>0</c:v>
                </c:pt>
                <c:pt idx="2">
                  <c:v>0</c:v>
                </c:pt>
                <c:pt idx="3">
                  <c:v>0</c:v>
                </c:pt>
                <c:pt idx="4">
                  <c:v>0</c:v>
                </c:pt>
                <c:pt idx="5">
                  <c:v>0</c:v>
                </c:pt>
                <c:pt idx="6">
                  <c:v>3</c:v>
                </c:pt>
                <c:pt idx="7">
                  <c:v>3</c:v>
                </c:pt>
                <c:pt idx="8">
                  <c:v>3</c:v>
                </c:pt>
              </c:numCache>
            </c:numRef>
          </c:val>
          <c:extLst xmlns:c16r2="http://schemas.microsoft.com/office/drawing/2015/06/chart">
            <c:ext xmlns:c16="http://schemas.microsoft.com/office/drawing/2014/chart" uri="{C3380CC4-5D6E-409C-BE32-E72D297353CC}">
              <c16:uniqueId val="{0000004C-8636-4D08-A536-92A711628AE1}"/>
            </c:ext>
          </c:extLst>
        </c:ser>
        <c:ser>
          <c:idx val="7"/>
          <c:order val="7"/>
          <c:tx>
            <c:strRef>
              <c:f>Sheet1!$I$1</c:f>
              <c:strCache>
                <c:ptCount val="1"/>
                <c:pt idx="0">
                  <c:v>8</c:v>
                </c:pt>
              </c:strCache>
            </c:strRef>
          </c:tx>
          <c:spPr>
            <a:solidFill>
              <a:schemeClr val="accent2">
                <a:lumMod val="60000"/>
              </a:schemeClr>
            </a:solidFill>
            <a:ln>
              <a:noFill/>
            </a:ln>
            <a:effectLst/>
          </c:spPr>
          <c:invertIfNegative val="0"/>
          <c:dPt>
            <c:idx val="8"/>
            <c:invertIfNegative val="0"/>
            <c:bubble3D val="0"/>
            <c:spPr>
              <a:solidFill>
                <a:schemeClr val="bg1"/>
              </a:solidFill>
              <a:ln>
                <a:noFill/>
              </a:ln>
              <a:effectLst/>
            </c:spPr>
            <c:extLst xmlns:c16r2="http://schemas.microsoft.com/office/drawing/2015/06/chart">
              <c:ext xmlns:c16="http://schemas.microsoft.com/office/drawing/2014/chart" uri="{C3380CC4-5D6E-409C-BE32-E72D297353CC}">
                <c16:uniqueId val="{0000004E-8636-4D08-A536-92A711628AE1}"/>
              </c:ext>
            </c:extLst>
          </c:dPt>
          <c:cat>
            <c:strRef>
              <c:f>Sheet1!$A$2:$A$10</c:f>
              <c:strCache>
                <c:ptCount val="9"/>
                <c:pt idx="0">
                  <c:v>Literature survey</c:v>
                </c:pt>
                <c:pt idx="1">
                  <c:v>Dataset collection</c:v>
                </c:pt>
                <c:pt idx="2">
                  <c:v>Baseline Model</c:v>
                </c:pt>
                <c:pt idx="3">
                  <c:v>Advanced DL Model</c:v>
                </c:pt>
                <c:pt idx="4">
                  <c:v>Multi-modal opt</c:v>
                </c:pt>
                <c:pt idx="5">
                  <c:v>ITS simu and int</c:v>
                </c:pt>
                <c:pt idx="6">
                  <c:v>Edge deployment</c:v>
                </c:pt>
                <c:pt idx="7">
                  <c:v>Sys test and valid</c:v>
                </c:pt>
                <c:pt idx="8">
                  <c:v>Docu and final Report</c:v>
                </c:pt>
              </c:strCache>
            </c:strRef>
          </c:cat>
          <c:val>
            <c:numRef>
              <c:f>Sheet1!$I$2:$I$10</c:f>
              <c:numCache>
                <c:formatCode>General</c:formatCode>
                <c:ptCount val="9"/>
                <c:pt idx="0">
                  <c:v>0</c:v>
                </c:pt>
                <c:pt idx="1">
                  <c:v>0</c:v>
                </c:pt>
                <c:pt idx="2">
                  <c:v>0</c:v>
                </c:pt>
                <c:pt idx="3">
                  <c:v>0</c:v>
                </c:pt>
                <c:pt idx="4">
                  <c:v>0</c:v>
                </c:pt>
                <c:pt idx="5">
                  <c:v>0</c:v>
                </c:pt>
                <c:pt idx="6">
                  <c:v>0</c:v>
                </c:pt>
                <c:pt idx="7">
                  <c:v>2</c:v>
                </c:pt>
                <c:pt idx="8">
                  <c:v>2</c:v>
                </c:pt>
              </c:numCache>
            </c:numRef>
          </c:val>
          <c:extLst xmlns:c16r2="http://schemas.microsoft.com/office/drawing/2015/06/chart">
            <c:ext xmlns:c16="http://schemas.microsoft.com/office/drawing/2014/chart" uri="{C3380CC4-5D6E-409C-BE32-E72D297353CC}">
              <c16:uniqueId val="{0000004F-8636-4D08-A536-92A711628AE1}"/>
            </c:ext>
          </c:extLst>
        </c:ser>
        <c:ser>
          <c:idx val="8"/>
          <c:order val="8"/>
          <c:tx>
            <c:strRef>
              <c:f>Sheet1!$J$1</c:f>
              <c:strCache>
                <c:ptCount val="1"/>
                <c:pt idx="0">
                  <c:v>9</c:v>
                </c:pt>
              </c:strCache>
            </c:strRef>
          </c:tx>
          <c:spPr>
            <a:solidFill>
              <a:schemeClr val="accent3">
                <a:lumMod val="60000"/>
              </a:schemeClr>
            </a:solidFill>
            <a:ln>
              <a:noFill/>
            </a:ln>
            <a:effectLst/>
          </c:spPr>
          <c:invertIfNegative val="0"/>
          <c:cat>
            <c:strRef>
              <c:f>Sheet1!$A$2:$A$10</c:f>
              <c:strCache>
                <c:ptCount val="9"/>
                <c:pt idx="0">
                  <c:v>Literature survey</c:v>
                </c:pt>
                <c:pt idx="1">
                  <c:v>Dataset collection</c:v>
                </c:pt>
                <c:pt idx="2">
                  <c:v>Baseline Model</c:v>
                </c:pt>
                <c:pt idx="3">
                  <c:v>Advanced DL Model</c:v>
                </c:pt>
                <c:pt idx="4">
                  <c:v>Multi-modal opt</c:v>
                </c:pt>
                <c:pt idx="5">
                  <c:v>ITS simu and int</c:v>
                </c:pt>
                <c:pt idx="6">
                  <c:v>Edge deployment</c:v>
                </c:pt>
                <c:pt idx="7">
                  <c:v>Sys test and valid</c:v>
                </c:pt>
                <c:pt idx="8">
                  <c:v>Docu and final Report</c:v>
                </c:pt>
              </c:strCache>
            </c:strRef>
          </c:cat>
          <c:val>
            <c:numRef>
              <c:f>Sheet1!$J$2:$J$10</c:f>
              <c:numCache>
                <c:formatCode>General</c:formatCode>
                <c:ptCount val="9"/>
                <c:pt idx="0">
                  <c:v>0</c:v>
                </c:pt>
                <c:pt idx="1">
                  <c:v>0</c:v>
                </c:pt>
                <c:pt idx="2">
                  <c:v>0</c:v>
                </c:pt>
                <c:pt idx="3">
                  <c:v>0</c:v>
                </c:pt>
                <c:pt idx="4">
                  <c:v>0</c:v>
                </c:pt>
                <c:pt idx="5">
                  <c:v>0</c:v>
                </c:pt>
                <c:pt idx="6">
                  <c:v>0</c:v>
                </c:pt>
                <c:pt idx="7">
                  <c:v>0</c:v>
                </c:pt>
                <c:pt idx="8">
                  <c:v>1</c:v>
                </c:pt>
              </c:numCache>
            </c:numRef>
          </c:val>
          <c:extLst xmlns:c16r2="http://schemas.microsoft.com/office/drawing/2015/06/chart">
            <c:ext xmlns:c16="http://schemas.microsoft.com/office/drawing/2014/chart" uri="{C3380CC4-5D6E-409C-BE32-E72D297353CC}">
              <c16:uniqueId val="{00000050-8636-4D08-A536-92A711628AE1}"/>
            </c:ext>
          </c:extLst>
        </c:ser>
        <c:ser>
          <c:idx val="9"/>
          <c:order val="9"/>
          <c:tx>
            <c:strRef>
              <c:f>Sheet1!$K$1</c:f>
              <c:strCache>
                <c:ptCount val="1"/>
                <c:pt idx="0">
                  <c:v>10</c:v>
                </c:pt>
              </c:strCache>
            </c:strRef>
          </c:tx>
          <c:spPr>
            <a:solidFill>
              <a:schemeClr val="accent4">
                <a:lumMod val="60000"/>
              </a:schemeClr>
            </a:solidFill>
            <a:ln>
              <a:noFill/>
            </a:ln>
            <a:effectLst/>
          </c:spPr>
          <c:invertIfNegative val="0"/>
          <c:cat>
            <c:strRef>
              <c:f>Sheet1!$A$2:$A$10</c:f>
              <c:strCache>
                <c:ptCount val="9"/>
                <c:pt idx="0">
                  <c:v>Literature survey</c:v>
                </c:pt>
                <c:pt idx="1">
                  <c:v>Dataset collection</c:v>
                </c:pt>
                <c:pt idx="2">
                  <c:v>Baseline Model</c:v>
                </c:pt>
                <c:pt idx="3">
                  <c:v>Advanced DL Model</c:v>
                </c:pt>
                <c:pt idx="4">
                  <c:v>Multi-modal opt</c:v>
                </c:pt>
                <c:pt idx="5">
                  <c:v>ITS simu and int</c:v>
                </c:pt>
                <c:pt idx="6">
                  <c:v>Edge deployment</c:v>
                </c:pt>
                <c:pt idx="7">
                  <c:v>Sys test and valid</c:v>
                </c:pt>
                <c:pt idx="8">
                  <c:v>Docu and final Report</c:v>
                </c:pt>
              </c:strCache>
            </c:strRef>
          </c:cat>
          <c:val>
            <c:numRef>
              <c:f>Sheet1!$K$2:$K$10</c:f>
              <c:numCache>
                <c:formatCode>General</c:formatCode>
                <c:ptCount val="9"/>
              </c:numCache>
            </c:numRef>
          </c:val>
          <c:extLst xmlns:c16r2="http://schemas.microsoft.com/office/drawing/2015/06/chart">
            <c:ext xmlns:c16="http://schemas.microsoft.com/office/drawing/2014/chart" uri="{C3380CC4-5D6E-409C-BE32-E72D297353CC}">
              <c16:uniqueId val="{00000051-8636-4D08-A536-92A711628AE1}"/>
            </c:ext>
          </c:extLst>
        </c:ser>
        <c:dLbls>
          <c:showLegendKey val="0"/>
          <c:showVal val="0"/>
          <c:showCatName val="0"/>
          <c:showSerName val="0"/>
          <c:showPercent val="0"/>
          <c:showBubbleSize val="0"/>
        </c:dLbls>
        <c:gapWidth val="150"/>
        <c:overlap val="100"/>
        <c:axId val="299745888"/>
        <c:axId val="299750984"/>
      </c:barChart>
      <c:catAx>
        <c:axId val="299745888"/>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299750984"/>
        <c:crosses val="autoZero"/>
        <c:auto val="1"/>
        <c:lblAlgn val="ctr"/>
        <c:lblOffset val="100"/>
        <c:noMultiLvlLbl val="0"/>
      </c:catAx>
      <c:valAx>
        <c:axId val="299750984"/>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299745888"/>
        <c:crosses val="autoZero"/>
        <c:crossBetween val="between"/>
      </c:valAx>
      <c:spPr>
        <a:solidFill>
          <a:schemeClr val="bg1"/>
        </a:solidFill>
        <a:ln>
          <a:noFill/>
        </a:ln>
        <a:effectLst>
          <a:outerShdw blurRad="50800" dist="50800" dir="5400000" sx="1000" sy="1000" algn="ctr" rotWithShape="0">
            <a:srgbClr val="000000"/>
          </a:outerShdw>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12E80701-CB0D-4B7E-BE3C-0C35DF8FB8F3}" type="datetimeFigureOut">
              <a:rPr lang="en-IN" smtClean="0"/>
              <a:t>22-11-2025</a:t>
            </a:fld>
            <a:endParaRPr lang="en-IN"/>
          </a:p>
        </p:txBody>
      </p:sp>
      <p:sp>
        <p:nvSpPr>
          <p:cNvPr id="4" name="Slide Image Placeholder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633BD190-B59A-47D5-88B8-692384BAE5BC}" type="slidenum">
              <a:rPr lang="en-IN" smtClean="0"/>
              <a:t>‹#›</a:t>
            </a:fld>
            <a:endParaRPr lang="en-IN"/>
          </a:p>
        </p:txBody>
      </p:sp>
    </p:spTree>
    <p:extLst>
      <p:ext uri="{BB962C8B-B14F-4D97-AF65-F5344CB8AC3E}">
        <p14:creationId xmlns:p14="http://schemas.microsoft.com/office/powerpoint/2010/main" val="6963192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7988" y="696913"/>
            <a:ext cx="6196012" cy="348615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01C81575-24DE-4F6C-A73E-0331B3B2E418}" type="slidenum">
              <a:rPr lang="en-US" smtClean="0"/>
              <a:pPr>
                <a:defRPr/>
              </a:pPr>
              <a:t>3</a:t>
            </a:fld>
            <a:endParaRPr lang="en-US"/>
          </a:p>
        </p:txBody>
      </p:sp>
    </p:spTree>
    <p:extLst>
      <p:ext uri="{BB962C8B-B14F-4D97-AF65-F5344CB8AC3E}">
        <p14:creationId xmlns:p14="http://schemas.microsoft.com/office/powerpoint/2010/main" val="371186354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7988" y="696913"/>
            <a:ext cx="6196012" cy="348615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01C81575-24DE-4F6C-A73E-0331B3B2E418}" type="slidenum">
              <a:rPr lang="en-US" smtClean="0"/>
              <a:pPr>
                <a:defRPr/>
              </a:pPr>
              <a:t>18</a:t>
            </a:fld>
            <a:endParaRPr lang="en-US"/>
          </a:p>
        </p:txBody>
      </p:sp>
    </p:spTree>
    <p:extLst>
      <p:ext uri="{BB962C8B-B14F-4D97-AF65-F5344CB8AC3E}">
        <p14:creationId xmlns:p14="http://schemas.microsoft.com/office/powerpoint/2010/main" val="374711225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7988" y="696913"/>
            <a:ext cx="6196012" cy="348615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01C81575-24DE-4F6C-A73E-0331B3B2E418}" type="slidenum">
              <a:rPr lang="en-US" smtClean="0"/>
              <a:pPr>
                <a:defRPr/>
              </a:pPr>
              <a:t>19</a:t>
            </a:fld>
            <a:endParaRPr lang="en-US"/>
          </a:p>
        </p:txBody>
      </p:sp>
    </p:spTree>
    <p:extLst>
      <p:ext uri="{BB962C8B-B14F-4D97-AF65-F5344CB8AC3E}">
        <p14:creationId xmlns:p14="http://schemas.microsoft.com/office/powerpoint/2010/main" val="272750457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7988" y="696913"/>
            <a:ext cx="6196012" cy="348615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01C81575-24DE-4F6C-A73E-0331B3B2E418}" type="slidenum">
              <a:rPr lang="en-US" smtClean="0"/>
              <a:pPr>
                <a:defRPr/>
              </a:pPr>
              <a:t>20</a:t>
            </a:fld>
            <a:endParaRPr lang="en-US"/>
          </a:p>
        </p:txBody>
      </p:sp>
    </p:spTree>
    <p:extLst>
      <p:ext uri="{BB962C8B-B14F-4D97-AF65-F5344CB8AC3E}">
        <p14:creationId xmlns:p14="http://schemas.microsoft.com/office/powerpoint/2010/main" val="102846653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7988" y="696913"/>
            <a:ext cx="6196012" cy="348615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01C81575-24DE-4F6C-A73E-0331B3B2E418}" type="slidenum">
              <a:rPr lang="en-US" smtClean="0"/>
              <a:pPr>
                <a:defRPr/>
              </a:pPr>
              <a:t>21</a:t>
            </a:fld>
            <a:endParaRPr lang="en-US"/>
          </a:p>
        </p:txBody>
      </p:sp>
    </p:spTree>
    <p:extLst>
      <p:ext uri="{BB962C8B-B14F-4D97-AF65-F5344CB8AC3E}">
        <p14:creationId xmlns:p14="http://schemas.microsoft.com/office/powerpoint/2010/main" val="204756539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7988" y="696913"/>
            <a:ext cx="6196012" cy="348615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01C81575-24DE-4F6C-A73E-0331B3B2E418}" type="slidenum">
              <a:rPr lang="en-US" smtClean="0"/>
              <a:pPr>
                <a:defRPr/>
              </a:pPr>
              <a:t>22</a:t>
            </a:fld>
            <a:endParaRPr lang="en-US"/>
          </a:p>
        </p:txBody>
      </p:sp>
    </p:spTree>
    <p:extLst>
      <p:ext uri="{BB962C8B-B14F-4D97-AF65-F5344CB8AC3E}">
        <p14:creationId xmlns:p14="http://schemas.microsoft.com/office/powerpoint/2010/main" val="130935638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7988" y="696913"/>
            <a:ext cx="6196012" cy="348615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01C81575-24DE-4F6C-A73E-0331B3B2E418}" type="slidenum">
              <a:rPr lang="en-US" smtClean="0"/>
              <a:pPr>
                <a:defRPr/>
              </a:pPr>
              <a:t>25</a:t>
            </a:fld>
            <a:endParaRPr lang="en-US"/>
          </a:p>
        </p:txBody>
      </p:sp>
    </p:spTree>
    <p:extLst>
      <p:ext uri="{BB962C8B-B14F-4D97-AF65-F5344CB8AC3E}">
        <p14:creationId xmlns:p14="http://schemas.microsoft.com/office/powerpoint/2010/main" val="417462531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sz="2400" b="0" i="0">
                <a:solidFill>
                  <a:srgbClr val="FF0000"/>
                </a:solidFill>
                <a:latin typeface="Trebuchet MS"/>
                <a:cs typeface="Trebuchet MS"/>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11/22/2025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400" b="0" i="0">
                <a:solidFill>
                  <a:srgbClr val="FF0000"/>
                </a:solidFill>
                <a:latin typeface="Trebuchet MS"/>
                <a:cs typeface="Trebuchet MS"/>
              </a:defRPr>
            </a:lvl1pPr>
          </a:lstStyle>
          <a:p>
            <a:endParaRPr/>
          </a:p>
        </p:txBody>
      </p:sp>
      <p:sp>
        <p:nvSpPr>
          <p:cNvPr id="3" name="Holder 3"/>
          <p:cNvSpPr>
            <a:spLocks noGrp="1"/>
          </p:cNvSpPr>
          <p:nvPr>
            <p:ph type="body" idx="1"/>
          </p:nvPr>
        </p:nvSpPr>
        <p:spPr/>
        <p:txBody>
          <a:bodyPr lIns="0" tIns="0" rIns="0" bIns="0"/>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11/22/2025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400" b="0" i="0">
                <a:solidFill>
                  <a:srgbClr val="FF0000"/>
                </a:solidFill>
                <a:latin typeface="Trebuchet MS"/>
                <a:cs typeface="Trebuchet MS"/>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11/22/2025</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400" b="0" i="0">
                <a:solidFill>
                  <a:srgbClr val="FF0000"/>
                </a:solidFill>
                <a:latin typeface="Trebuchet MS"/>
                <a:cs typeface="Trebuchet MS"/>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11/22/2025</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11/22/2025</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jp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7" cstate="print"/>
          <a:stretch>
            <a:fillRect/>
          </a:stretch>
        </p:blipFill>
        <p:spPr>
          <a:xfrm>
            <a:off x="10222877" y="264413"/>
            <a:ext cx="1106538" cy="533400"/>
          </a:xfrm>
          <a:prstGeom prst="rect">
            <a:avLst/>
          </a:prstGeom>
        </p:spPr>
      </p:pic>
      <p:sp>
        <p:nvSpPr>
          <p:cNvPr id="2" name="Holder 2"/>
          <p:cNvSpPr>
            <a:spLocks noGrp="1"/>
          </p:cNvSpPr>
          <p:nvPr>
            <p:ph type="title"/>
          </p:nvPr>
        </p:nvSpPr>
        <p:spPr>
          <a:xfrm>
            <a:off x="5924169" y="1130553"/>
            <a:ext cx="4666869" cy="427736"/>
          </a:xfrm>
          <a:prstGeom prst="rect">
            <a:avLst/>
          </a:prstGeom>
        </p:spPr>
        <p:txBody>
          <a:bodyPr wrap="square" lIns="0" tIns="0" rIns="0" bIns="0">
            <a:spAutoFit/>
          </a:bodyPr>
          <a:lstStyle>
            <a:lvl1pPr>
              <a:defRPr sz="2400" b="0" i="0">
                <a:solidFill>
                  <a:srgbClr val="FF0000"/>
                </a:solidFill>
                <a:latin typeface="Trebuchet MS"/>
                <a:cs typeface="Trebuchet MS"/>
              </a:defRPr>
            </a:lvl1pPr>
          </a:lstStyle>
          <a:p>
            <a:endParaRPr/>
          </a:p>
        </p:txBody>
      </p:sp>
      <p:sp>
        <p:nvSpPr>
          <p:cNvPr id="3" name="Holder 3"/>
          <p:cNvSpPr>
            <a:spLocks noGrp="1"/>
          </p:cNvSpPr>
          <p:nvPr>
            <p:ph type="body" idx="1"/>
          </p:nvPr>
        </p:nvSpPr>
        <p:spPr>
          <a:xfrm>
            <a:off x="1803019" y="3134614"/>
            <a:ext cx="8442325" cy="2025650"/>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type="ftr" sz="quarter" idx="5"/>
          </p:nvPr>
        </p:nvSpPr>
        <p:spPr>
          <a:xfrm>
            <a:off x="4145280" y="6377940"/>
            <a:ext cx="390144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11/22/2025</a:t>
            </a:fld>
            <a:endParaRPr lang="en-US"/>
          </a:p>
        </p:txBody>
      </p:sp>
      <p:sp>
        <p:nvSpPr>
          <p:cNvPr id="6" name="Holder 6"/>
          <p:cNvSpPr>
            <a:spLocks noGrp="1"/>
          </p:cNvSpPr>
          <p:nvPr>
            <p:ph type="sldNum" sz="quarter" idx="7"/>
          </p:nvPr>
        </p:nvSpPr>
        <p:spPr>
          <a:xfrm>
            <a:off x="87782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48400" y="1752600"/>
            <a:ext cx="4667631" cy="469647"/>
          </a:xfrm>
        </p:spPr>
        <p:txBody>
          <a:bodyPr/>
          <a:lstStyle/>
          <a:p>
            <a:endParaRPr lang="en-US" dirty="0"/>
          </a:p>
        </p:txBody>
      </p:sp>
      <p:sp>
        <p:nvSpPr>
          <p:cNvPr id="3" name="Text Placeholder 2"/>
          <p:cNvSpPr>
            <a:spLocks noGrp="1"/>
          </p:cNvSpPr>
          <p:nvPr>
            <p:ph type="body" idx="1"/>
          </p:nvPr>
        </p:nvSpPr>
        <p:spPr/>
        <p:txBody>
          <a:bodyPr/>
          <a:lstStyle/>
          <a:p>
            <a:endParaRPr lang="en-US" dirty="0"/>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1000" y="1066800"/>
            <a:ext cx="11582400" cy="5181600"/>
          </a:xfrm>
          <a:prstGeom prst="rect">
            <a:avLst/>
          </a:prstGeom>
        </p:spPr>
      </p:pic>
    </p:spTree>
    <p:extLst>
      <p:ext uri="{BB962C8B-B14F-4D97-AF65-F5344CB8AC3E}">
        <p14:creationId xmlns:p14="http://schemas.microsoft.com/office/powerpoint/2010/main" val="375906215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667000" y="606349"/>
            <a:ext cx="5875782" cy="1085554"/>
          </a:xfrm>
          <a:prstGeom prst="rect">
            <a:avLst/>
          </a:prstGeom>
        </p:spPr>
        <p:txBody>
          <a:bodyPr vert="horz" wrap="square" lIns="0" tIns="48895" rIns="0" bIns="0" rtlCol="0">
            <a:spAutoFit/>
          </a:bodyPr>
          <a:lstStyle/>
          <a:p>
            <a:pPr marL="12700">
              <a:lnSpc>
                <a:spcPct val="100000"/>
              </a:lnSpc>
              <a:spcBef>
                <a:spcPts val="385"/>
              </a:spcBef>
              <a:tabLst>
                <a:tab pos="2465070" algn="l"/>
              </a:tabLst>
            </a:pPr>
            <a:r>
              <a:rPr lang="en-US" sz="2800" b="1" spc="-10" dirty="0">
                <a:latin typeface="Trebuchet MS"/>
                <a:cs typeface="Trebuchet MS"/>
              </a:rPr>
              <a:t>   </a:t>
            </a:r>
            <a:r>
              <a:rPr sz="2800" b="1" spc="-10" dirty="0">
                <a:latin typeface="Trebuchet MS"/>
                <a:cs typeface="Trebuchet MS"/>
              </a:rPr>
              <a:t>UE23CS320A–</a:t>
            </a:r>
            <a:r>
              <a:rPr sz="2800" b="1" dirty="0">
                <a:latin typeface="Trebuchet MS"/>
                <a:cs typeface="Trebuchet MS"/>
              </a:rPr>
              <a:t>	Project</a:t>
            </a:r>
            <a:r>
              <a:rPr sz="2800" b="1" spc="-80" dirty="0">
                <a:latin typeface="Trebuchet MS"/>
                <a:cs typeface="Trebuchet MS"/>
              </a:rPr>
              <a:t> </a:t>
            </a:r>
            <a:r>
              <a:rPr sz="2800" b="1" dirty="0">
                <a:latin typeface="Trebuchet MS"/>
                <a:cs typeface="Trebuchet MS"/>
              </a:rPr>
              <a:t>Phase</a:t>
            </a:r>
            <a:r>
              <a:rPr sz="2800" b="1" spc="-60" dirty="0">
                <a:latin typeface="Trebuchet MS"/>
                <a:cs typeface="Trebuchet MS"/>
              </a:rPr>
              <a:t> </a:t>
            </a:r>
            <a:r>
              <a:rPr sz="2800" b="1" dirty="0">
                <a:latin typeface="Trebuchet MS"/>
                <a:cs typeface="Trebuchet MS"/>
              </a:rPr>
              <a:t>–</a:t>
            </a:r>
            <a:r>
              <a:rPr sz="2800" b="1" spc="-65" dirty="0">
                <a:latin typeface="Trebuchet MS"/>
                <a:cs typeface="Trebuchet MS"/>
              </a:rPr>
              <a:t> </a:t>
            </a:r>
            <a:r>
              <a:rPr sz="2800" b="1" spc="-50" dirty="0">
                <a:latin typeface="Trebuchet MS"/>
                <a:cs typeface="Trebuchet MS"/>
              </a:rPr>
              <a:t>1</a:t>
            </a:r>
            <a:endParaRPr sz="2800" dirty="0">
              <a:latin typeface="Trebuchet MS"/>
              <a:cs typeface="Trebuchet MS"/>
            </a:endParaRPr>
          </a:p>
          <a:p>
            <a:pPr marL="153670" algn="ctr">
              <a:lnSpc>
                <a:spcPct val="100000"/>
              </a:lnSpc>
              <a:spcBef>
                <a:spcPts val="375"/>
              </a:spcBef>
            </a:pPr>
            <a:r>
              <a:rPr lang="en-US" sz="3600" dirty="0">
                <a:latin typeface="Trebuchet MS" pitchFamily="34" charset="0"/>
              </a:rPr>
              <a:t>End Semester Assessment</a:t>
            </a:r>
            <a:endParaRPr sz="3600" dirty="0"/>
          </a:p>
        </p:txBody>
      </p:sp>
      <p:sp>
        <p:nvSpPr>
          <p:cNvPr id="3" name="object 3"/>
          <p:cNvSpPr txBox="1"/>
          <p:nvPr/>
        </p:nvSpPr>
        <p:spPr>
          <a:xfrm>
            <a:off x="1350391" y="2589403"/>
            <a:ext cx="7674609" cy="2598147"/>
          </a:xfrm>
          <a:prstGeom prst="rect">
            <a:avLst/>
          </a:prstGeom>
        </p:spPr>
        <p:txBody>
          <a:bodyPr vert="horz" wrap="square" lIns="0" tIns="12700" rIns="0" bIns="0" rtlCol="0">
            <a:spAutoFit/>
          </a:bodyPr>
          <a:lstStyle/>
          <a:p>
            <a:pPr marL="12700" marR="5080">
              <a:lnSpc>
                <a:spcPct val="100000"/>
              </a:lnSpc>
              <a:spcBef>
                <a:spcPts val="100"/>
              </a:spcBef>
              <a:tabLst>
                <a:tab pos="1991995" algn="l"/>
              </a:tabLst>
            </a:pPr>
            <a:r>
              <a:rPr sz="2400" spc="-10" dirty="0">
                <a:solidFill>
                  <a:srgbClr val="0033CC"/>
                </a:solidFill>
                <a:latin typeface="Trebuchet MS"/>
                <a:cs typeface="Trebuchet MS"/>
              </a:rPr>
              <a:t>Project</a:t>
            </a:r>
            <a:r>
              <a:rPr sz="2400" spc="-145" dirty="0">
                <a:solidFill>
                  <a:srgbClr val="0033CC"/>
                </a:solidFill>
                <a:latin typeface="Trebuchet MS"/>
                <a:cs typeface="Trebuchet MS"/>
              </a:rPr>
              <a:t> </a:t>
            </a:r>
            <a:r>
              <a:rPr sz="2400" spc="-10" dirty="0">
                <a:solidFill>
                  <a:srgbClr val="0033CC"/>
                </a:solidFill>
                <a:latin typeface="Trebuchet MS"/>
                <a:cs typeface="Trebuchet MS"/>
              </a:rPr>
              <a:t>Title</a:t>
            </a:r>
            <a:r>
              <a:rPr sz="2400" dirty="0">
                <a:solidFill>
                  <a:srgbClr val="0033CC"/>
                </a:solidFill>
                <a:latin typeface="Trebuchet MS"/>
                <a:cs typeface="Trebuchet MS"/>
              </a:rPr>
              <a:t>	:Driver</a:t>
            </a:r>
            <a:r>
              <a:rPr sz="2400" spc="-80" dirty="0">
                <a:solidFill>
                  <a:srgbClr val="0033CC"/>
                </a:solidFill>
                <a:latin typeface="Trebuchet MS"/>
                <a:cs typeface="Trebuchet MS"/>
              </a:rPr>
              <a:t> </a:t>
            </a:r>
            <a:r>
              <a:rPr sz="2400" spc="-10" dirty="0">
                <a:solidFill>
                  <a:srgbClr val="0033CC"/>
                </a:solidFill>
                <a:latin typeface="Trebuchet MS"/>
                <a:cs typeface="Trebuchet MS"/>
              </a:rPr>
              <a:t>Behavior</a:t>
            </a:r>
            <a:r>
              <a:rPr sz="2400" spc="-175" dirty="0">
                <a:solidFill>
                  <a:srgbClr val="0033CC"/>
                </a:solidFill>
                <a:latin typeface="Trebuchet MS"/>
                <a:cs typeface="Trebuchet MS"/>
              </a:rPr>
              <a:t> </a:t>
            </a:r>
            <a:r>
              <a:rPr sz="2400" dirty="0">
                <a:solidFill>
                  <a:srgbClr val="0033CC"/>
                </a:solidFill>
                <a:latin typeface="Trebuchet MS"/>
                <a:cs typeface="Trebuchet MS"/>
              </a:rPr>
              <a:t>Anomaly</a:t>
            </a:r>
            <a:r>
              <a:rPr sz="2400" spc="-90" dirty="0">
                <a:solidFill>
                  <a:srgbClr val="0033CC"/>
                </a:solidFill>
                <a:latin typeface="Trebuchet MS"/>
                <a:cs typeface="Trebuchet MS"/>
              </a:rPr>
              <a:t> </a:t>
            </a:r>
            <a:r>
              <a:rPr sz="2400" dirty="0">
                <a:solidFill>
                  <a:srgbClr val="0033CC"/>
                </a:solidFill>
                <a:latin typeface="Trebuchet MS"/>
                <a:cs typeface="Trebuchet MS"/>
              </a:rPr>
              <a:t>Detection</a:t>
            </a:r>
            <a:r>
              <a:rPr sz="2400" spc="-70" dirty="0">
                <a:solidFill>
                  <a:srgbClr val="0033CC"/>
                </a:solidFill>
                <a:latin typeface="Trebuchet MS"/>
                <a:cs typeface="Trebuchet MS"/>
              </a:rPr>
              <a:t> </a:t>
            </a:r>
            <a:r>
              <a:rPr sz="2400" spc="-10" dirty="0">
                <a:solidFill>
                  <a:srgbClr val="0033CC"/>
                </a:solidFill>
                <a:latin typeface="Trebuchet MS"/>
                <a:cs typeface="Trebuchet MS"/>
              </a:rPr>
              <a:t>using </a:t>
            </a:r>
            <a:r>
              <a:rPr lang="en-US" sz="2400" spc="-10" dirty="0">
                <a:solidFill>
                  <a:srgbClr val="0033CC"/>
                </a:solidFill>
                <a:latin typeface="Trebuchet MS"/>
                <a:cs typeface="Trebuchet MS"/>
              </a:rPr>
              <a:t>	 </a:t>
            </a:r>
            <a:r>
              <a:rPr sz="2400" dirty="0">
                <a:solidFill>
                  <a:srgbClr val="0033CC"/>
                </a:solidFill>
                <a:latin typeface="Trebuchet MS"/>
                <a:cs typeface="Trebuchet MS"/>
              </a:rPr>
              <a:t>Deep</a:t>
            </a:r>
            <a:r>
              <a:rPr sz="2400" spc="-85" dirty="0">
                <a:solidFill>
                  <a:srgbClr val="0033CC"/>
                </a:solidFill>
                <a:latin typeface="Trebuchet MS"/>
                <a:cs typeface="Trebuchet MS"/>
              </a:rPr>
              <a:t> </a:t>
            </a:r>
            <a:r>
              <a:rPr sz="2400" dirty="0">
                <a:solidFill>
                  <a:srgbClr val="0033CC"/>
                </a:solidFill>
                <a:latin typeface="Trebuchet MS"/>
                <a:cs typeface="Trebuchet MS"/>
              </a:rPr>
              <a:t>Learning</a:t>
            </a:r>
            <a:endParaRPr sz="2400" dirty="0">
              <a:latin typeface="Trebuchet MS"/>
              <a:cs typeface="Trebuchet MS"/>
            </a:endParaRPr>
          </a:p>
          <a:p>
            <a:pPr marL="12700" marR="5227320">
              <a:lnSpc>
                <a:spcPct val="200000"/>
              </a:lnSpc>
              <a:tabLst>
                <a:tab pos="2007235" algn="l"/>
              </a:tabLst>
            </a:pPr>
            <a:r>
              <a:rPr sz="2400" dirty="0">
                <a:solidFill>
                  <a:srgbClr val="0033CC"/>
                </a:solidFill>
                <a:latin typeface="Trebuchet MS"/>
                <a:cs typeface="Trebuchet MS"/>
              </a:rPr>
              <a:t>Project</a:t>
            </a:r>
            <a:r>
              <a:rPr sz="2400" spc="-180" dirty="0">
                <a:solidFill>
                  <a:srgbClr val="0033CC"/>
                </a:solidFill>
                <a:latin typeface="Trebuchet MS"/>
                <a:cs typeface="Trebuchet MS"/>
              </a:rPr>
              <a:t> </a:t>
            </a:r>
            <a:r>
              <a:rPr sz="2400" spc="-25" dirty="0">
                <a:solidFill>
                  <a:srgbClr val="0033CC"/>
                </a:solidFill>
                <a:latin typeface="Trebuchet MS"/>
                <a:cs typeface="Trebuchet MS"/>
              </a:rPr>
              <a:t>ID</a:t>
            </a:r>
            <a:r>
              <a:rPr sz="2400" dirty="0">
                <a:solidFill>
                  <a:srgbClr val="0033CC"/>
                </a:solidFill>
                <a:latin typeface="Trebuchet MS"/>
                <a:cs typeface="Trebuchet MS"/>
              </a:rPr>
              <a:t>	</a:t>
            </a:r>
            <a:r>
              <a:rPr sz="2400" spc="-25" dirty="0">
                <a:solidFill>
                  <a:srgbClr val="0033CC"/>
                </a:solidFill>
                <a:latin typeface="Trebuchet MS"/>
                <a:cs typeface="Trebuchet MS"/>
              </a:rPr>
              <a:t>:</a:t>
            </a:r>
            <a:r>
              <a:rPr sz="2400" spc="-25" dirty="0">
                <a:solidFill>
                  <a:srgbClr val="0000FF"/>
                </a:solidFill>
                <a:latin typeface="Trebuchet MS"/>
                <a:cs typeface="Trebuchet MS"/>
              </a:rPr>
              <a:t>06</a:t>
            </a:r>
            <a:endParaRPr lang="en-US" sz="2400" spc="-25" dirty="0">
              <a:solidFill>
                <a:srgbClr val="0000FF"/>
              </a:solidFill>
              <a:latin typeface="Trebuchet MS"/>
              <a:cs typeface="Trebuchet MS"/>
            </a:endParaRPr>
          </a:p>
          <a:p>
            <a:pPr marL="12700" marR="5227320">
              <a:lnSpc>
                <a:spcPct val="200000"/>
              </a:lnSpc>
              <a:tabLst>
                <a:tab pos="2007235" algn="l"/>
              </a:tabLst>
            </a:pPr>
            <a:r>
              <a:rPr sz="2400" dirty="0">
                <a:solidFill>
                  <a:srgbClr val="0033CC"/>
                </a:solidFill>
                <a:latin typeface="Trebuchet MS"/>
                <a:cs typeface="Trebuchet MS"/>
              </a:rPr>
              <a:t>Project</a:t>
            </a:r>
            <a:r>
              <a:rPr sz="2400" spc="-135" dirty="0">
                <a:solidFill>
                  <a:srgbClr val="0033CC"/>
                </a:solidFill>
                <a:latin typeface="Trebuchet MS"/>
                <a:cs typeface="Trebuchet MS"/>
              </a:rPr>
              <a:t> </a:t>
            </a:r>
            <a:r>
              <a:rPr sz="2400" dirty="0">
                <a:solidFill>
                  <a:srgbClr val="0033CC"/>
                </a:solidFill>
                <a:latin typeface="Trebuchet MS"/>
                <a:cs typeface="Trebuchet MS"/>
              </a:rPr>
              <a:t>Guide</a:t>
            </a:r>
            <a:r>
              <a:rPr sz="2400" spc="-110" dirty="0">
                <a:solidFill>
                  <a:srgbClr val="0033CC"/>
                </a:solidFill>
                <a:latin typeface="Trebuchet MS"/>
                <a:cs typeface="Trebuchet MS"/>
              </a:rPr>
              <a:t> </a:t>
            </a:r>
            <a:r>
              <a:rPr sz="2400" spc="-50" dirty="0">
                <a:solidFill>
                  <a:srgbClr val="0033CC"/>
                </a:solidFill>
                <a:latin typeface="Trebuchet MS"/>
                <a:cs typeface="Trebuchet MS"/>
              </a:rPr>
              <a:t>:</a:t>
            </a:r>
            <a:endParaRPr sz="2400" dirty="0">
              <a:latin typeface="Trebuchet MS"/>
              <a:cs typeface="Trebuchet MS"/>
            </a:endParaRPr>
          </a:p>
          <a:p>
            <a:pPr marL="12700">
              <a:lnSpc>
                <a:spcPct val="100000"/>
              </a:lnSpc>
              <a:tabLst>
                <a:tab pos="1987550" algn="l"/>
              </a:tabLst>
            </a:pPr>
            <a:r>
              <a:rPr sz="2400" spc="-10" dirty="0">
                <a:solidFill>
                  <a:srgbClr val="0033CC"/>
                </a:solidFill>
                <a:latin typeface="Trebuchet MS"/>
                <a:cs typeface="Trebuchet MS"/>
              </a:rPr>
              <a:t>Project</a:t>
            </a:r>
            <a:r>
              <a:rPr sz="2400" spc="-145" dirty="0">
                <a:solidFill>
                  <a:srgbClr val="0033CC"/>
                </a:solidFill>
                <a:latin typeface="Trebuchet MS"/>
                <a:cs typeface="Trebuchet MS"/>
              </a:rPr>
              <a:t> </a:t>
            </a:r>
            <a:r>
              <a:rPr sz="2400" spc="-20" dirty="0">
                <a:solidFill>
                  <a:srgbClr val="0033CC"/>
                </a:solidFill>
                <a:latin typeface="Trebuchet MS"/>
                <a:cs typeface="Trebuchet MS"/>
              </a:rPr>
              <a:t>Team</a:t>
            </a:r>
            <a:r>
              <a:rPr sz="2400" dirty="0">
                <a:solidFill>
                  <a:srgbClr val="0033CC"/>
                </a:solidFill>
                <a:latin typeface="Trebuchet MS"/>
                <a:cs typeface="Trebuchet MS"/>
              </a:rPr>
              <a:t>	:Poojary</a:t>
            </a:r>
            <a:r>
              <a:rPr sz="2400" spc="-100" dirty="0">
                <a:solidFill>
                  <a:srgbClr val="0033CC"/>
                </a:solidFill>
                <a:latin typeface="Trebuchet MS"/>
                <a:cs typeface="Trebuchet MS"/>
              </a:rPr>
              <a:t> </a:t>
            </a:r>
            <a:r>
              <a:rPr sz="2400" dirty="0">
                <a:solidFill>
                  <a:srgbClr val="0033CC"/>
                </a:solidFill>
                <a:latin typeface="Trebuchet MS"/>
                <a:cs typeface="Trebuchet MS"/>
              </a:rPr>
              <a:t>Sairaj</a:t>
            </a:r>
            <a:r>
              <a:rPr sz="2400" spc="-114" dirty="0">
                <a:solidFill>
                  <a:srgbClr val="0033CC"/>
                </a:solidFill>
                <a:latin typeface="Trebuchet MS"/>
                <a:cs typeface="Trebuchet MS"/>
              </a:rPr>
              <a:t> </a:t>
            </a:r>
            <a:r>
              <a:rPr sz="2400" dirty="0">
                <a:solidFill>
                  <a:srgbClr val="0033CC"/>
                </a:solidFill>
                <a:latin typeface="Trebuchet MS"/>
                <a:cs typeface="Trebuchet MS"/>
              </a:rPr>
              <a:t>Shankar-</a:t>
            </a:r>
            <a:r>
              <a:rPr sz="2400" spc="-105" dirty="0">
                <a:solidFill>
                  <a:srgbClr val="0033CC"/>
                </a:solidFill>
                <a:latin typeface="Trebuchet MS"/>
                <a:cs typeface="Trebuchet MS"/>
              </a:rPr>
              <a:t> </a:t>
            </a:r>
            <a:r>
              <a:rPr sz="2400" spc="-10" dirty="0">
                <a:solidFill>
                  <a:srgbClr val="0033CC"/>
                </a:solidFill>
                <a:latin typeface="Trebuchet MS"/>
                <a:cs typeface="Trebuchet MS"/>
              </a:rPr>
              <a:t>PES2UG23AM073</a:t>
            </a:r>
            <a:endParaRPr sz="2400" dirty="0">
              <a:latin typeface="Trebuchet MS"/>
              <a:cs typeface="Trebuchet MS"/>
            </a:endParaRPr>
          </a:p>
        </p:txBody>
      </p:sp>
      <p:sp>
        <p:nvSpPr>
          <p:cNvPr id="4" name="object 4"/>
          <p:cNvSpPr txBox="1"/>
          <p:nvPr/>
        </p:nvSpPr>
        <p:spPr>
          <a:xfrm>
            <a:off x="3548253" y="5150358"/>
            <a:ext cx="2422525" cy="1122680"/>
          </a:xfrm>
          <a:prstGeom prst="rect">
            <a:avLst/>
          </a:prstGeom>
        </p:spPr>
        <p:txBody>
          <a:bodyPr vert="horz" wrap="square" lIns="0" tIns="12700" rIns="0" bIns="0" rtlCol="0">
            <a:spAutoFit/>
          </a:bodyPr>
          <a:lstStyle/>
          <a:p>
            <a:pPr marL="12700" marR="5080">
              <a:lnSpc>
                <a:spcPct val="100000"/>
              </a:lnSpc>
              <a:spcBef>
                <a:spcPts val="100"/>
              </a:spcBef>
            </a:pPr>
            <a:r>
              <a:rPr sz="2400" dirty="0">
                <a:solidFill>
                  <a:srgbClr val="0033CC"/>
                </a:solidFill>
                <a:latin typeface="Trebuchet MS"/>
                <a:cs typeface="Trebuchet MS"/>
              </a:rPr>
              <a:t>Mahesh</a:t>
            </a:r>
            <a:r>
              <a:rPr sz="2400" spc="-65" dirty="0">
                <a:solidFill>
                  <a:srgbClr val="0033CC"/>
                </a:solidFill>
                <a:latin typeface="Trebuchet MS"/>
                <a:cs typeface="Trebuchet MS"/>
              </a:rPr>
              <a:t> </a:t>
            </a:r>
            <a:r>
              <a:rPr sz="2400" dirty="0">
                <a:solidFill>
                  <a:srgbClr val="0033CC"/>
                </a:solidFill>
                <a:latin typeface="Trebuchet MS"/>
                <a:cs typeface="Trebuchet MS"/>
              </a:rPr>
              <a:t>E</a:t>
            </a:r>
            <a:r>
              <a:rPr sz="2400" spc="-175" dirty="0">
                <a:solidFill>
                  <a:srgbClr val="0033CC"/>
                </a:solidFill>
                <a:latin typeface="Trebuchet MS"/>
                <a:cs typeface="Trebuchet MS"/>
              </a:rPr>
              <a:t> </a:t>
            </a:r>
            <a:r>
              <a:rPr sz="2400" spc="-10" dirty="0">
                <a:solidFill>
                  <a:srgbClr val="0033CC"/>
                </a:solidFill>
                <a:latin typeface="Trebuchet MS"/>
                <a:cs typeface="Trebuchet MS"/>
              </a:rPr>
              <a:t>Ajjer </a:t>
            </a:r>
            <a:r>
              <a:rPr sz="2400" dirty="0">
                <a:solidFill>
                  <a:srgbClr val="0033CC"/>
                </a:solidFill>
                <a:latin typeface="Trebuchet MS"/>
                <a:cs typeface="Trebuchet MS"/>
              </a:rPr>
              <a:t>Chetan</a:t>
            </a:r>
            <a:r>
              <a:rPr sz="2400" spc="-90" dirty="0">
                <a:solidFill>
                  <a:srgbClr val="0033CC"/>
                </a:solidFill>
                <a:latin typeface="Trebuchet MS"/>
                <a:cs typeface="Trebuchet MS"/>
              </a:rPr>
              <a:t> </a:t>
            </a:r>
            <a:r>
              <a:rPr sz="2400" spc="-10" dirty="0">
                <a:solidFill>
                  <a:srgbClr val="0033CC"/>
                </a:solidFill>
                <a:latin typeface="Trebuchet MS"/>
                <a:cs typeface="Trebuchet MS"/>
              </a:rPr>
              <a:t>Nadichagi </a:t>
            </a:r>
            <a:r>
              <a:rPr sz="2400" dirty="0">
                <a:solidFill>
                  <a:srgbClr val="0033CC"/>
                </a:solidFill>
                <a:latin typeface="Trebuchet MS"/>
                <a:cs typeface="Trebuchet MS"/>
              </a:rPr>
              <a:t>Ranjith</a:t>
            </a:r>
            <a:r>
              <a:rPr sz="2400" spc="-95" dirty="0">
                <a:solidFill>
                  <a:srgbClr val="0033CC"/>
                </a:solidFill>
                <a:latin typeface="Trebuchet MS"/>
                <a:cs typeface="Trebuchet MS"/>
              </a:rPr>
              <a:t> </a:t>
            </a:r>
            <a:r>
              <a:rPr sz="2400" spc="-10" dirty="0">
                <a:solidFill>
                  <a:srgbClr val="0033CC"/>
                </a:solidFill>
                <a:latin typeface="Trebuchet MS"/>
                <a:cs typeface="Trebuchet MS"/>
              </a:rPr>
              <a:t>Kumar.V</a:t>
            </a:r>
            <a:endParaRPr sz="2400" dirty="0">
              <a:latin typeface="Trebuchet MS"/>
              <a:cs typeface="Trebuchet MS"/>
            </a:endParaRPr>
          </a:p>
        </p:txBody>
      </p:sp>
      <p:sp>
        <p:nvSpPr>
          <p:cNvPr id="5" name="object 5"/>
          <p:cNvSpPr txBox="1"/>
          <p:nvPr/>
        </p:nvSpPr>
        <p:spPr>
          <a:xfrm>
            <a:off x="6576821" y="5150358"/>
            <a:ext cx="2468245" cy="1122680"/>
          </a:xfrm>
          <a:prstGeom prst="rect">
            <a:avLst/>
          </a:prstGeom>
        </p:spPr>
        <p:txBody>
          <a:bodyPr vert="horz" wrap="square" lIns="0" tIns="12700" rIns="0" bIns="0" rtlCol="0">
            <a:spAutoFit/>
          </a:bodyPr>
          <a:lstStyle/>
          <a:p>
            <a:pPr marL="219075" indent="-203835">
              <a:lnSpc>
                <a:spcPct val="100000"/>
              </a:lnSpc>
              <a:spcBef>
                <a:spcPts val="100"/>
              </a:spcBef>
              <a:buChar char="-"/>
              <a:tabLst>
                <a:tab pos="219075" algn="l"/>
              </a:tabLst>
            </a:pPr>
            <a:r>
              <a:rPr sz="2400" spc="-10" dirty="0">
                <a:solidFill>
                  <a:srgbClr val="0033CC"/>
                </a:solidFill>
                <a:latin typeface="Trebuchet MS"/>
                <a:cs typeface="Trebuchet MS"/>
              </a:rPr>
              <a:t>PES2UG23CS316</a:t>
            </a:r>
            <a:endParaRPr sz="2400">
              <a:latin typeface="Trebuchet MS"/>
              <a:cs typeface="Trebuchet MS"/>
            </a:endParaRPr>
          </a:p>
          <a:p>
            <a:pPr marL="231140" indent="-203835">
              <a:lnSpc>
                <a:spcPct val="100000"/>
              </a:lnSpc>
              <a:buChar char="-"/>
              <a:tabLst>
                <a:tab pos="231140" algn="l"/>
              </a:tabLst>
            </a:pPr>
            <a:r>
              <a:rPr sz="2400" spc="-10" dirty="0">
                <a:solidFill>
                  <a:srgbClr val="0033CC"/>
                </a:solidFill>
                <a:latin typeface="Trebuchet MS"/>
                <a:cs typeface="Trebuchet MS"/>
              </a:rPr>
              <a:t>PES2UG23CS149</a:t>
            </a:r>
            <a:endParaRPr sz="2400">
              <a:latin typeface="Trebuchet MS"/>
              <a:cs typeface="Trebuchet MS"/>
            </a:endParaRPr>
          </a:p>
          <a:p>
            <a:pPr marL="216535" indent="-203835">
              <a:lnSpc>
                <a:spcPct val="100000"/>
              </a:lnSpc>
              <a:buChar char="-"/>
              <a:tabLst>
                <a:tab pos="216535" algn="l"/>
              </a:tabLst>
            </a:pPr>
            <a:r>
              <a:rPr sz="2400" spc="-10" dirty="0">
                <a:solidFill>
                  <a:srgbClr val="0033CC"/>
                </a:solidFill>
                <a:latin typeface="Trebuchet MS"/>
                <a:cs typeface="Trebuchet MS"/>
              </a:rPr>
              <a:t>PES2UG23AM082</a:t>
            </a:r>
            <a:endParaRPr sz="2400">
              <a:latin typeface="Trebuchet MS"/>
              <a:cs typeface="Trebuchet MS"/>
            </a:endParaRPr>
          </a:p>
        </p:txBody>
      </p:sp>
      <p:sp>
        <p:nvSpPr>
          <p:cNvPr id="6" name="TextBox 5">
            <a:extLst>
              <a:ext uri="{FF2B5EF4-FFF2-40B4-BE49-F238E27FC236}">
                <a16:creationId xmlns="" xmlns:a16="http://schemas.microsoft.com/office/drawing/2014/main" id="{E3426FDD-9FCA-8B02-29A9-6E2175AD9D81}"/>
              </a:ext>
            </a:extLst>
          </p:cNvPr>
          <p:cNvSpPr txBox="1"/>
          <p:nvPr/>
        </p:nvSpPr>
        <p:spPr>
          <a:xfrm>
            <a:off x="3475990" y="4335173"/>
            <a:ext cx="3810000" cy="1015663"/>
          </a:xfrm>
          <a:prstGeom prst="rect">
            <a:avLst/>
          </a:prstGeom>
          <a:noFill/>
        </p:spPr>
        <p:txBody>
          <a:bodyPr wrap="square" rtlCol="0">
            <a:spAutoFit/>
          </a:bodyPr>
          <a:lstStyle/>
          <a:p>
            <a:r>
              <a:rPr lang="en-IN" sz="2400" dirty="0" err="1">
                <a:solidFill>
                  <a:srgbClr val="0033CC"/>
                </a:solidFill>
              </a:rPr>
              <a:t>Prof.</a:t>
            </a:r>
            <a:r>
              <a:rPr lang="en-IN" sz="2400" dirty="0">
                <a:solidFill>
                  <a:srgbClr val="0033CC"/>
                </a:solidFill>
              </a:rPr>
              <a:t> Pavithra S</a:t>
            </a:r>
          </a:p>
          <a:p>
            <a:endParaRPr lang="en-IN" dirty="0">
              <a:solidFill>
                <a:srgbClr val="0033CC"/>
              </a:solidFill>
            </a:endParaRPr>
          </a:p>
          <a:p>
            <a:endParaRPr lang="en-IN"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a:spLocks noChangeArrowheads="1"/>
          </p:cNvSpPr>
          <p:nvPr/>
        </p:nvSpPr>
        <p:spPr bwMode="auto">
          <a:xfrm>
            <a:off x="3048000" y="1581155"/>
            <a:ext cx="7620000" cy="36513"/>
          </a:xfrm>
          <a:prstGeom prst="rect">
            <a:avLst/>
          </a:prstGeom>
          <a:solidFill>
            <a:srgbClr val="33CCCC"/>
          </a:solidFill>
          <a:ln w="9525">
            <a:noFill/>
            <a:miter lim="800000"/>
            <a:headEnd/>
            <a:tailEnd/>
          </a:ln>
        </p:spPr>
        <p:txBody>
          <a:bodyPr wrap="none" anchor="ctr"/>
          <a:lstStyle/>
          <a:p>
            <a:endParaRPr lang="en-US"/>
          </a:p>
        </p:txBody>
      </p:sp>
      <p:sp>
        <p:nvSpPr>
          <p:cNvPr id="10" name="Content Placeholder 2"/>
          <p:cNvSpPr txBox="1">
            <a:spLocks/>
          </p:cNvSpPr>
          <p:nvPr/>
        </p:nvSpPr>
        <p:spPr>
          <a:xfrm>
            <a:off x="2057400" y="1676400"/>
            <a:ext cx="8077200" cy="4724400"/>
          </a:xfrm>
          <a:prstGeom prst="rect">
            <a:avLst/>
          </a:prstGeom>
        </p:spPr>
        <p:txBody>
          <a:bodyPr/>
          <a:lstStyle/>
          <a:p>
            <a:pPr marL="685791" indent="-342900" algn="just" eaLnBrk="0" hangingPunct="0">
              <a:spcBef>
                <a:spcPct val="20000"/>
              </a:spcBef>
              <a:buFont typeface="Arial" panose="020B0604020202020204" pitchFamily="34" charset="0"/>
              <a:buChar char="•"/>
              <a:defRPr/>
            </a:pPr>
            <a:r>
              <a:rPr lang="en-IN" sz="2000" kern="0" dirty="0">
                <a:solidFill>
                  <a:srgbClr val="0000FF"/>
                </a:solidFill>
                <a:latin typeface="Trebuchet MS" pitchFamily="34" charset="0"/>
              </a:rPr>
              <a:t>Introduction and Motivation</a:t>
            </a:r>
          </a:p>
          <a:p>
            <a:pPr marL="685791" indent="-342900" algn="just" eaLnBrk="0" hangingPunct="0">
              <a:spcBef>
                <a:spcPct val="20000"/>
              </a:spcBef>
              <a:buFont typeface="Arial" panose="020B0604020202020204" pitchFamily="34" charset="0"/>
              <a:buChar char="•"/>
              <a:defRPr/>
            </a:pPr>
            <a:r>
              <a:rPr lang="en-IN" sz="2000" kern="0" dirty="0">
                <a:solidFill>
                  <a:srgbClr val="0000FF"/>
                </a:solidFill>
                <a:latin typeface="Trebuchet MS" pitchFamily="34" charset="0"/>
              </a:rPr>
              <a:t>Problem Statement</a:t>
            </a:r>
          </a:p>
          <a:p>
            <a:pPr marL="685791" indent="-342900" algn="just" eaLnBrk="0" hangingPunct="0">
              <a:spcBef>
                <a:spcPct val="20000"/>
              </a:spcBef>
              <a:buFont typeface="Arial" panose="020B0604020202020204" pitchFamily="34" charset="0"/>
              <a:buChar char="•"/>
              <a:defRPr/>
            </a:pPr>
            <a:r>
              <a:rPr lang="en-US" sz="2000" kern="0" dirty="0">
                <a:solidFill>
                  <a:srgbClr val="0000FF"/>
                </a:solidFill>
                <a:latin typeface="Trebuchet MS" pitchFamily="34" charset="0"/>
              </a:rPr>
              <a:t>Abstract and Scope</a:t>
            </a:r>
          </a:p>
          <a:p>
            <a:pPr marL="685791" indent="-342900" algn="just" eaLnBrk="0" hangingPunct="0">
              <a:spcBef>
                <a:spcPct val="20000"/>
              </a:spcBef>
              <a:buFont typeface="Arial" panose="020B0604020202020204" pitchFamily="34" charset="0"/>
              <a:buChar char="•"/>
              <a:defRPr/>
            </a:pPr>
            <a:r>
              <a:rPr lang="en-US" sz="2000" kern="0" dirty="0">
                <a:solidFill>
                  <a:srgbClr val="0000FF"/>
                </a:solidFill>
                <a:latin typeface="Trebuchet MS" pitchFamily="34" charset="0"/>
              </a:rPr>
              <a:t>Suggestions from Review – 1</a:t>
            </a:r>
          </a:p>
          <a:p>
            <a:pPr marL="685791" indent="-342900" algn="just" eaLnBrk="0" hangingPunct="0">
              <a:spcBef>
                <a:spcPct val="20000"/>
              </a:spcBef>
              <a:buFont typeface="Arial" panose="020B0604020202020204" pitchFamily="34" charset="0"/>
              <a:buChar char="•"/>
              <a:defRPr/>
            </a:pPr>
            <a:r>
              <a:rPr lang="en-US" sz="2000" kern="0" dirty="0">
                <a:solidFill>
                  <a:srgbClr val="0000FF"/>
                </a:solidFill>
                <a:latin typeface="Trebuchet MS" pitchFamily="34" charset="0"/>
              </a:rPr>
              <a:t>Research / Technology gap and Challenges</a:t>
            </a:r>
          </a:p>
          <a:p>
            <a:pPr marL="685791" indent="-342900" algn="just" eaLnBrk="0" hangingPunct="0">
              <a:spcBef>
                <a:spcPct val="20000"/>
              </a:spcBef>
              <a:buFont typeface="Arial" panose="020B0604020202020204" pitchFamily="34" charset="0"/>
              <a:buChar char="•"/>
              <a:defRPr/>
            </a:pPr>
            <a:r>
              <a:rPr lang="en-US" sz="2000" kern="0" dirty="0">
                <a:solidFill>
                  <a:srgbClr val="0000FF"/>
                </a:solidFill>
                <a:latin typeface="Trebuchet MS" pitchFamily="34" charset="0"/>
              </a:rPr>
              <a:t>Objectives</a:t>
            </a:r>
          </a:p>
          <a:p>
            <a:pPr marL="685791" indent="-342900" algn="just" eaLnBrk="0" hangingPunct="0">
              <a:spcBef>
                <a:spcPct val="20000"/>
              </a:spcBef>
              <a:buFont typeface="Arial" panose="020B0604020202020204" pitchFamily="34" charset="0"/>
              <a:buChar char="•"/>
              <a:defRPr/>
            </a:pPr>
            <a:r>
              <a:rPr lang="en-US" sz="2000" kern="0" dirty="0">
                <a:solidFill>
                  <a:srgbClr val="0000FF"/>
                </a:solidFill>
                <a:latin typeface="Trebuchet MS" pitchFamily="34" charset="0"/>
              </a:rPr>
              <a:t>Literature Survey / Existing System</a:t>
            </a:r>
          </a:p>
          <a:p>
            <a:pPr marL="685791" indent="-342900" algn="just" eaLnBrk="0" hangingPunct="0">
              <a:spcBef>
                <a:spcPct val="20000"/>
              </a:spcBef>
              <a:buFont typeface="Arial" panose="020B0604020202020204" pitchFamily="34" charset="0"/>
              <a:buChar char="•"/>
              <a:defRPr/>
            </a:pPr>
            <a:r>
              <a:rPr lang="en-US" sz="2000" kern="0" dirty="0">
                <a:solidFill>
                  <a:srgbClr val="0000FF"/>
                </a:solidFill>
                <a:latin typeface="Trebuchet MS" pitchFamily="34" charset="0"/>
              </a:rPr>
              <a:t>Dataset exploration</a:t>
            </a:r>
          </a:p>
          <a:p>
            <a:pPr marL="685791" indent="-342900" algn="just" eaLnBrk="0" hangingPunct="0">
              <a:spcBef>
                <a:spcPct val="20000"/>
              </a:spcBef>
              <a:buFont typeface="Arial" panose="020B0604020202020204" pitchFamily="34" charset="0"/>
              <a:buChar char="•"/>
              <a:defRPr/>
            </a:pPr>
            <a:r>
              <a:rPr lang="en-US" sz="2000" kern="0" dirty="0">
                <a:solidFill>
                  <a:srgbClr val="0000FF"/>
                </a:solidFill>
                <a:latin typeface="Trebuchet MS" pitchFamily="34" charset="0"/>
                <a:sym typeface="Trebuchet MS"/>
              </a:rPr>
              <a:t>References</a:t>
            </a:r>
            <a:endParaRPr lang="en-US" sz="2000" kern="0" dirty="0">
              <a:solidFill>
                <a:srgbClr val="0000FF"/>
              </a:solidFill>
              <a:latin typeface="Trebuchet MS" pitchFamily="34" charset="0"/>
            </a:endParaRPr>
          </a:p>
        </p:txBody>
      </p:sp>
      <p:sp>
        <p:nvSpPr>
          <p:cNvPr id="14" name="Text Box 34"/>
          <p:cNvSpPr txBox="1">
            <a:spLocks noChangeArrowheads="1"/>
          </p:cNvSpPr>
          <p:nvPr/>
        </p:nvSpPr>
        <p:spPr bwMode="auto">
          <a:xfrm>
            <a:off x="4191000" y="1143002"/>
            <a:ext cx="6477000" cy="461665"/>
          </a:xfrm>
          <a:prstGeom prst="rect">
            <a:avLst/>
          </a:prstGeom>
          <a:noFill/>
          <a:ln w="9525">
            <a:noFill/>
            <a:miter lim="800000"/>
            <a:headEnd/>
            <a:tailEnd/>
          </a:ln>
        </p:spPr>
        <p:txBody>
          <a:bodyPr wrap="square">
            <a:spAutoFit/>
          </a:bodyPr>
          <a:lstStyle/>
          <a:p>
            <a:pPr marL="342891" indent="-342891" algn="r" eaLnBrk="0" hangingPunct="0">
              <a:defRPr/>
            </a:pPr>
            <a:r>
              <a:rPr lang="en-US" sz="2400" dirty="0">
                <a:solidFill>
                  <a:srgbClr val="FF0000"/>
                </a:solidFill>
                <a:latin typeface="Trebuchet MS" pitchFamily="34" charset="0"/>
              </a:rPr>
              <a:t>Agenda</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3048000" y="1581213"/>
            <a:ext cx="7620000" cy="36830"/>
          </a:xfrm>
          <a:custGeom>
            <a:avLst/>
            <a:gdLst/>
            <a:ahLst/>
            <a:cxnLst/>
            <a:rect l="l" t="t" r="r" b="b"/>
            <a:pathLst>
              <a:path w="7620000" h="36830">
                <a:moveTo>
                  <a:pt x="7620000" y="0"/>
                </a:moveTo>
                <a:lnTo>
                  <a:pt x="0" y="0"/>
                </a:lnTo>
                <a:lnTo>
                  <a:pt x="0" y="36512"/>
                </a:lnTo>
                <a:lnTo>
                  <a:pt x="7620000" y="36512"/>
                </a:lnTo>
                <a:lnTo>
                  <a:pt x="7620000" y="0"/>
                </a:lnTo>
                <a:close/>
              </a:path>
            </a:pathLst>
          </a:custGeom>
          <a:solidFill>
            <a:srgbClr val="33CCCC"/>
          </a:solidFill>
        </p:spPr>
        <p:txBody>
          <a:bodyPr wrap="square" lIns="0" tIns="0" rIns="0" bIns="0" rtlCol="0"/>
          <a:lstStyle/>
          <a:p>
            <a:endParaRPr/>
          </a:p>
        </p:txBody>
      </p:sp>
      <p:sp>
        <p:nvSpPr>
          <p:cNvPr id="3" name="object 3"/>
          <p:cNvSpPr txBox="1"/>
          <p:nvPr/>
        </p:nvSpPr>
        <p:spPr>
          <a:xfrm>
            <a:off x="1405255" y="1167129"/>
            <a:ext cx="10229850" cy="3885679"/>
          </a:xfrm>
          <a:prstGeom prst="rect">
            <a:avLst/>
          </a:prstGeom>
        </p:spPr>
        <p:txBody>
          <a:bodyPr vert="horz" wrap="square" lIns="0" tIns="12700" rIns="0" bIns="0" rtlCol="0">
            <a:spAutoFit/>
          </a:bodyPr>
          <a:lstStyle/>
          <a:p>
            <a:pPr marR="1050290" algn="r">
              <a:lnSpc>
                <a:spcPct val="100000"/>
              </a:lnSpc>
              <a:spcBef>
                <a:spcPts val="100"/>
              </a:spcBef>
            </a:pPr>
            <a:r>
              <a:rPr sz="2400" spc="-10" dirty="0">
                <a:solidFill>
                  <a:srgbClr val="FF0000"/>
                </a:solidFill>
                <a:latin typeface="Trebuchet MS" panose="020B0603020202020204" pitchFamily="34" charset="0"/>
                <a:cs typeface="Trebuchet MS"/>
              </a:rPr>
              <a:t>Introduction</a:t>
            </a:r>
            <a:endParaRPr sz="2400" dirty="0">
              <a:latin typeface="Trebuchet MS" panose="020B0603020202020204" pitchFamily="34" charset="0"/>
              <a:cs typeface="Trebuchet MS"/>
            </a:endParaRPr>
          </a:p>
          <a:p>
            <a:pPr>
              <a:lnSpc>
                <a:spcPct val="100000"/>
              </a:lnSpc>
              <a:spcBef>
                <a:spcPts val="1430"/>
              </a:spcBef>
            </a:pPr>
            <a:endParaRPr sz="2400" dirty="0">
              <a:latin typeface="Trebuchet MS" panose="020B0603020202020204" pitchFamily="34" charset="0"/>
              <a:cs typeface="Trebuchet MS"/>
            </a:endParaRPr>
          </a:p>
          <a:p>
            <a:pPr marL="12700" marR="5080" indent="12065" algn="just"/>
            <a:r>
              <a:rPr lang="en-US" sz="2400" dirty="0">
                <a:latin typeface="Trebuchet MS" panose="020B0603020202020204" pitchFamily="34" charset="0"/>
              </a:rPr>
              <a:t>The project </a:t>
            </a:r>
            <a:r>
              <a:rPr lang="en-US" sz="2400" b="1" dirty="0">
                <a:latin typeface="Trebuchet MS" panose="020B0603020202020204" pitchFamily="34" charset="0"/>
              </a:rPr>
              <a:t>“Driver Behavior Anomaly Detection using Deep Learning”</a:t>
            </a:r>
            <a:r>
              <a:rPr lang="en-US" sz="2400" dirty="0">
                <a:latin typeface="Trebuchet MS" panose="020B0603020202020204" pitchFamily="34" charset="0"/>
              </a:rPr>
              <a:t> focuses on identifying unsafe or abnormal driving behaviors that may lead to road accidents.</a:t>
            </a:r>
          </a:p>
          <a:p>
            <a:pPr marL="12700" marR="5080" indent="12065" algn="just"/>
            <a:r>
              <a:rPr lang="en-US" sz="2400" dirty="0">
                <a:latin typeface="Trebuchet MS" panose="020B0603020202020204" pitchFamily="34" charset="0"/>
              </a:rPr>
              <a:t>Number of vehicles and the rise in accident cases are caused by human error.</a:t>
            </a:r>
          </a:p>
          <a:p>
            <a:pPr marL="12700" marR="5080" indent="12065" algn="just"/>
            <a:r>
              <a:rPr lang="en-US" sz="2400" dirty="0">
                <a:latin typeface="Trebuchet MS" panose="020B0603020202020204" pitchFamily="34" charset="0"/>
              </a:rPr>
              <a:t>By leveraging deep learning techniques, this project aims to detect anomalies such as drowsiness, distraction, rash driving, or inattention, and provide timely warnings to help prevent accidents.</a:t>
            </a:r>
            <a:endParaRPr sz="2400" dirty="0">
              <a:latin typeface="Trebuchet MS" panose="020B0603020202020204" pitchFamily="34" charset="0"/>
              <a:cs typeface="Arial MT"/>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3048000" y="1581213"/>
            <a:ext cx="7620000" cy="36830"/>
          </a:xfrm>
          <a:custGeom>
            <a:avLst/>
            <a:gdLst/>
            <a:ahLst/>
            <a:cxnLst/>
            <a:rect l="l" t="t" r="r" b="b"/>
            <a:pathLst>
              <a:path w="7620000" h="36830">
                <a:moveTo>
                  <a:pt x="7620000" y="0"/>
                </a:moveTo>
                <a:lnTo>
                  <a:pt x="0" y="0"/>
                </a:lnTo>
                <a:lnTo>
                  <a:pt x="0" y="36512"/>
                </a:lnTo>
                <a:lnTo>
                  <a:pt x="7620000" y="36512"/>
                </a:lnTo>
                <a:lnTo>
                  <a:pt x="7620000" y="0"/>
                </a:lnTo>
                <a:close/>
              </a:path>
            </a:pathLst>
          </a:custGeom>
          <a:solidFill>
            <a:srgbClr val="33CCCC"/>
          </a:solidFill>
        </p:spPr>
        <p:txBody>
          <a:bodyPr wrap="square" lIns="0" tIns="0" rIns="0" bIns="0" rtlCol="0"/>
          <a:lstStyle/>
          <a:p>
            <a:endParaRPr/>
          </a:p>
        </p:txBody>
      </p:sp>
      <p:sp>
        <p:nvSpPr>
          <p:cNvPr id="3" name="object 3"/>
          <p:cNvSpPr txBox="1"/>
          <p:nvPr/>
        </p:nvSpPr>
        <p:spPr>
          <a:xfrm>
            <a:off x="1490852" y="1167129"/>
            <a:ext cx="10060305" cy="3885679"/>
          </a:xfrm>
          <a:prstGeom prst="rect">
            <a:avLst/>
          </a:prstGeom>
        </p:spPr>
        <p:txBody>
          <a:bodyPr vert="horz" wrap="square" lIns="0" tIns="12700" rIns="0" bIns="0" rtlCol="0">
            <a:spAutoFit/>
          </a:bodyPr>
          <a:lstStyle/>
          <a:p>
            <a:pPr marR="967105" algn="r">
              <a:lnSpc>
                <a:spcPct val="100000"/>
              </a:lnSpc>
              <a:spcBef>
                <a:spcPts val="100"/>
              </a:spcBef>
            </a:pPr>
            <a:r>
              <a:rPr sz="2400" spc="-10" dirty="0">
                <a:solidFill>
                  <a:srgbClr val="FF0000"/>
                </a:solidFill>
                <a:latin typeface="Trebuchet MS" panose="020B0603020202020204" pitchFamily="34" charset="0"/>
                <a:cs typeface="Trebuchet MS"/>
              </a:rPr>
              <a:t>Motivation</a:t>
            </a:r>
            <a:endParaRPr sz="2400" dirty="0">
              <a:latin typeface="Trebuchet MS" panose="020B0603020202020204" pitchFamily="34" charset="0"/>
              <a:cs typeface="Trebuchet MS"/>
            </a:endParaRPr>
          </a:p>
          <a:p>
            <a:pPr>
              <a:lnSpc>
                <a:spcPct val="100000"/>
              </a:lnSpc>
              <a:spcBef>
                <a:spcPts val="1430"/>
              </a:spcBef>
            </a:pPr>
            <a:endParaRPr sz="2400" dirty="0">
              <a:latin typeface="Trebuchet MS" panose="020B0603020202020204" pitchFamily="34" charset="0"/>
              <a:cs typeface="Trebuchet MS"/>
            </a:endParaRPr>
          </a:p>
          <a:p>
            <a:pPr marL="12065" marR="5080" indent="6985" algn="l">
              <a:lnSpc>
                <a:spcPct val="100000"/>
              </a:lnSpc>
            </a:pPr>
            <a:r>
              <a:rPr lang="en-US" sz="2400" dirty="0">
                <a:latin typeface="Trebuchet MS" panose="020B0603020202020204" pitchFamily="34" charset="0"/>
              </a:rPr>
              <a:t>The motivation behind choosing this problem is the increasing number of road accidents caused by risky or inattentive driving behaviors. Many of these incidents can be prevented by identifying signs of drowsiness, distraction, or rash driving at the right moment. By using deep learning techniques to monitor driver behavior, we aim to develop a system that can detect such anomalies early and help prevent accidents. This contributes to safer roads, more responsible driving, and ultimately, the protection of human lives.</a:t>
            </a:r>
            <a:endParaRPr sz="2400" dirty="0">
              <a:latin typeface="Trebuchet MS" panose="020B0603020202020204" pitchFamily="34" charset="0"/>
              <a:cs typeface="Arial MT"/>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3048000" y="1581213"/>
            <a:ext cx="7620000" cy="36830"/>
          </a:xfrm>
          <a:custGeom>
            <a:avLst/>
            <a:gdLst/>
            <a:ahLst/>
            <a:cxnLst/>
            <a:rect l="l" t="t" r="r" b="b"/>
            <a:pathLst>
              <a:path w="7620000" h="36830">
                <a:moveTo>
                  <a:pt x="7620000" y="0"/>
                </a:moveTo>
                <a:lnTo>
                  <a:pt x="0" y="0"/>
                </a:lnTo>
                <a:lnTo>
                  <a:pt x="0" y="36512"/>
                </a:lnTo>
                <a:lnTo>
                  <a:pt x="7620000" y="36512"/>
                </a:lnTo>
                <a:lnTo>
                  <a:pt x="7620000" y="0"/>
                </a:lnTo>
                <a:close/>
              </a:path>
            </a:pathLst>
          </a:custGeom>
          <a:solidFill>
            <a:srgbClr val="33CCCC"/>
          </a:solidFill>
        </p:spPr>
        <p:txBody>
          <a:bodyPr wrap="square" lIns="0" tIns="0" rIns="0" bIns="0" rtlCol="0"/>
          <a:lstStyle/>
          <a:p>
            <a:endParaRPr/>
          </a:p>
        </p:txBody>
      </p:sp>
      <p:sp>
        <p:nvSpPr>
          <p:cNvPr id="3" name="object 3"/>
          <p:cNvSpPr txBox="1"/>
          <p:nvPr/>
        </p:nvSpPr>
        <p:spPr>
          <a:xfrm>
            <a:off x="1765807" y="2230323"/>
            <a:ext cx="9297670" cy="2585720"/>
          </a:xfrm>
          <a:prstGeom prst="rect">
            <a:avLst/>
          </a:prstGeom>
        </p:spPr>
        <p:txBody>
          <a:bodyPr vert="horz" wrap="square" lIns="0" tIns="12700" rIns="0" bIns="0" rtlCol="0">
            <a:spAutoFit/>
          </a:bodyPr>
          <a:lstStyle/>
          <a:p>
            <a:pPr marL="12065" marR="5080" indent="9525" algn="l">
              <a:lnSpc>
                <a:spcPct val="100000"/>
              </a:lnSpc>
              <a:spcBef>
                <a:spcPts val="100"/>
              </a:spcBef>
            </a:pPr>
            <a:r>
              <a:rPr sz="2400" dirty="0">
                <a:latin typeface="Trebuchet MS" panose="020B0603020202020204" pitchFamily="34" charset="0"/>
                <a:cs typeface="Arial MT"/>
              </a:rPr>
              <a:t>Despite</a:t>
            </a:r>
            <a:r>
              <a:rPr sz="2400" spc="-80" dirty="0">
                <a:latin typeface="Trebuchet MS" panose="020B0603020202020204" pitchFamily="34" charset="0"/>
                <a:cs typeface="Arial MT"/>
              </a:rPr>
              <a:t> </a:t>
            </a:r>
            <a:r>
              <a:rPr sz="2400" dirty="0">
                <a:latin typeface="Trebuchet MS" panose="020B0603020202020204" pitchFamily="34" charset="0"/>
                <a:cs typeface="Arial MT"/>
              </a:rPr>
              <a:t>significant</a:t>
            </a:r>
            <a:r>
              <a:rPr sz="2400" spc="-65" dirty="0">
                <a:latin typeface="Trebuchet MS" panose="020B0603020202020204" pitchFamily="34" charset="0"/>
                <a:cs typeface="Arial MT"/>
              </a:rPr>
              <a:t> </a:t>
            </a:r>
            <a:r>
              <a:rPr sz="2400" spc="-10" dirty="0">
                <a:latin typeface="Trebuchet MS" panose="020B0603020202020204" pitchFamily="34" charset="0"/>
                <a:cs typeface="Arial MT"/>
              </a:rPr>
              <a:t>advancements</a:t>
            </a:r>
            <a:r>
              <a:rPr sz="2400" spc="-70" dirty="0">
                <a:latin typeface="Trebuchet MS" panose="020B0603020202020204" pitchFamily="34" charset="0"/>
                <a:cs typeface="Arial MT"/>
              </a:rPr>
              <a:t> </a:t>
            </a:r>
            <a:r>
              <a:rPr sz="2400" dirty="0">
                <a:latin typeface="Trebuchet MS" panose="020B0603020202020204" pitchFamily="34" charset="0"/>
                <a:cs typeface="Arial MT"/>
              </a:rPr>
              <a:t>in</a:t>
            </a:r>
            <a:r>
              <a:rPr sz="2400" spc="-95" dirty="0">
                <a:latin typeface="Trebuchet MS" panose="020B0603020202020204" pitchFamily="34" charset="0"/>
                <a:cs typeface="Arial MT"/>
              </a:rPr>
              <a:t> </a:t>
            </a:r>
            <a:r>
              <a:rPr sz="2400" dirty="0">
                <a:latin typeface="Trebuchet MS" panose="020B0603020202020204" pitchFamily="34" charset="0"/>
                <a:cs typeface="Arial MT"/>
              </a:rPr>
              <a:t>vehicle</a:t>
            </a:r>
            <a:r>
              <a:rPr sz="2400" spc="-80" dirty="0">
                <a:latin typeface="Trebuchet MS" panose="020B0603020202020204" pitchFamily="34" charset="0"/>
                <a:cs typeface="Arial MT"/>
              </a:rPr>
              <a:t> </a:t>
            </a:r>
            <a:r>
              <a:rPr sz="2400" spc="-20" dirty="0">
                <a:latin typeface="Trebuchet MS" panose="020B0603020202020204" pitchFamily="34" charset="0"/>
                <a:cs typeface="Arial MT"/>
              </a:rPr>
              <a:t>technology,</a:t>
            </a:r>
            <a:r>
              <a:rPr sz="2400" spc="-75" dirty="0">
                <a:latin typeface="Trebuchet MS" panose="020B0603020202020204" pitchFamily="34" charset="0"/>
                <a:cs typeface="Arial MT"/>
              </a:rPr>
              <a:t> </a:t>
            </a:r>
            <a:r>
              <a:rPr sz="2400" spc="-10" dirty="0">
                <a:latin typeface="Trebuchet MS" panose="020B0603020202020204" pitchFamily="34" charset="0"/>
                <a:cs typeface="Arial MT"/>
              </a:rPr>
              <a:t>human</a:t>
            </a:r>
            <a:r>
              <a:rPr sz="2400" spc="600" dirty="0">
                <a:latin typeface="Trebuchet MS" panose="020B0603020202020204" pitchFamily="34" charset="0"/>
                <a:cs typeface="Arial MT"/>
              </a:rPr>
              <a:t>  </a:t>
            </a:r>
            <a:r>
              <a:rPr sz="2400" dirty="0">
                <a:latin typeface="Trebuchet MS" panose="020B0603020202020204" pitchFamily="34" charset="0"/>
                <a:cs typeface="Arial MT"/>
              </a:rPr>
              <a:t>error</a:t>
            </a:r>
            <a:r>
              <a:rPr sz="2400" spc="-65" dirty="0">
                <a:latin typeface="Trebuchet MS" panose="020B0603020202020204" pitchFamily="34" charset="0"/>
                <a:cs typeface="Arial MT"/>
              </a:rPr>
              <a:t> </a:t>
            </a:r>
            <a:r>
              <a:rPr sz="2400" dirty="0">
                <a:latin typeface="Trebuchet MS" panose="020B0603020202020204" pitchFamily="34" charset="0"/>
                <a:cs typeface="Arial MT"/>
              </a:rPr>
              <a:t>remains</a:t>
            </a:r>
            <a:r>
              <a:rPr sz="2400" spc="-55" dirty="0">
                <a:latin typeface="Trebuchet MS" panose="020B0603020202020204" pitchFamily="34" charset="0"/>
                <a:cs typeface="Arial MT"/>
              </a:rPr>
              <a:t> </a:t>
            </a:r>
            <a:r>
              <a:rPr sz="2400" dirty="0">
                <a:latin typeface="Trebuchet MS" panose="020B0603020202020204" pitchFamily="34" charset="0"/>
                <a:cs typeface="Arial MT"/>
              </a:rPr>
              <a:t>one</a:t>
            </a:r>
            <a:r>
              <a:rPr sz="2400" spc="-70" dirty="0">
                <a:latin typeface="Trebuchet MS" panose="020B0603020202020204" pitchFamily="34" charset="0"/>
                <a:cs typeface="Arial MT"/>
              </a:rPr>
              <a:t> </a:t>
            </a:r>
            <a:r>
              <a:rPr sz="2400" dirty="0">
                <a:latin typeface="Trebuchet MS" panose="020B0603020202020204" pitchFamily="34" charset="0"/>
                <a:cs typeface="Arial MT"/>
              </a:rPr>
              <a:t>of</a:t>
            </a:r>
            <a:r>
              <a:rPr sz="2400" spc="-55" dirty="0">
                <a:latin typeface="Trebuchet MS" panose="020B0603020202020204" pitchFamily="34" charset="0"/>
                <a:cs typeface="Arial MT"/>
              </a:rPr>
              <a:t> </a:t>
            </a:r>
            <a:r>
              <a:rPr sz="2400" dirty="0">
                <a:latin typeface="Trebuchet MS" panose="020B0603020202020204" pitchFamily="34" charset="0"/>
                <a:cs typeface="Arial MT"/>
              </a:rPr>
              <a:t>the</a:t>
            </a:r>
            <a:r>
              <a:rPr sz="2400" spc="-70" dirty="0">
                <a:latin typeface="Trebuchet MS" panose="020B0603020202020204" pitchFamily="34" charset="0"/>
                <a:cs typeface="Arial MT"/>
              </a:rPr>
              <a:t> </a:t>
            </a:r>
            <a:r>
              <a:rPr sz="2400" dirty="0">
                <a:latin typeface="Trebuchet MS" panose="020B0603020202020204" pitchFamily="34" charset="0"/>
                <a:cs typeface="Arial MT"/>
              </a:rPr>
              <a:t>leading</a:t>
            </a:r>
            <a:r>
              <a:rPr sz="2400" spc="-35" dirty="0">
                <a:latin typeface="Trebuchet MS" panose="020B0603020202020204" pitchFamily="34" charset="0"/>
                <a:cs typeface="Arial MT"/>
              </a:rPr>
              <a:t> </a:t>
            </a:r>
            <a:r>
              <a:rPr sz="2400" dirty="0">
                <a:latin typeface="Trebuchet MS" panose="020B0603020202020204" pitchFamily="34" charset="0"/>
                <a:cs typeface="Arial MT"/>
              </a:rPr>
              <a:t>causes</a:t>
            </a:r>
            <a:r>
              <a:rPr sz="2400" spc="-60" dirty="0">
                <a:latin typeface="Trebuchet MS" panose="020B0603020202020204" pitchFamily="34" charset="0"/>
                <a:cs typeface="Arial MT"/>
              </a:rPr>
              <a:t> </a:t>
            </a:r>
            <a:r>
              <a:rPr sz="2400" dirty="0">
                <a:latin typeface="Trebuchet MS" panose="020B0603020202020204" pitchFamily="34" charset="0"/>
                <a:cs typeface="Arial MT"/>
              </a:rPr>
              <a:t>of</a:t>
            </a:r>
            <a:r>
              <a:rPr sz="2400" spc="-60" dirty="0">
                <a:latin typeface="Trebuchet MS" panose="020B0603020202020204" pitchFamily="34" charset="0"/>
                <a:cs typeface="Arial MT"/>
              </a:rPr>
              <a:t> </a:t>
            </a:r>
            <a:r>
              <a:rPr sz="2400" dirty="0">
                <a:latin typeface="Trebuchet MS" panose="020B0603020202020204" pitchFamily="34" charset="0"/>
                <a:cs typeface="Arial MT"/>
              </a:rPr>
              <a:t>road</a:t>
            </a:r>
            <a:r>
              <a:rPr sz="2400" spc="-70" dirty="0">
                <a:latin typeface="Trebuchet MS" panose="020B0603020202020204" pitchFamily="34" charset="0"/>
                <a:cs typeface="Arial MT"/>
              </a:rPr>
              <a:t> </a:t>
            </a:r>
            <a:r>
              <a:rPr sz="2400" dirty="0">
                <a:latin typeface="Trebuchet MS" panose="020B0603020202020204" pitchFamily="34" charset="0"/>
                <a:cs typeface="Arial MT"/>
              </a:rPr>
              <a:t>accidents.</a:t>
            </a:r>
            <a:r>
              <a:rPr sz="2400" spc="-40" dirty="0">
                <a:latin typeface="Trebuchet MS" panose="020B0603020202020204" pitchFamily="34" charset="0"/>
                <a:cs typeface="Arial MT"/>
              </a:rPr>
              <a:t> </a:t>
            </a:r>
            <a:r>
              <a:rPr sz="2400" spc="-10" dirty="0">
                <a:latin typeface="Trebuchet MS" panose="020B0603020202020204" pitchFamily="34" charset="0"/>
                <a:cs typeface="Arial MT"/>
              </a:rPr>
              <a:t>Drivers </a:t>
            </a:r>
            <a:r>
              <a:rPr sz="2400" dirty="0">
                <a:latin typeface="Trebuchet MS" panose="020B0603020202020204" pitchFamily="34" charset="0"/>
                <a:cs typeface="Arial MT"/>
              </a:rPr>
              <a:t>often</a:t>
            </a:r>
            <a:r>
              <a:rPr sz="2400" spc="-110" dirty="0">
                <a:latin typeface="Trebuchet MS" panose="020B0603020202020204" pitchFamily="34" charset="0"/>
                <a:cs typeface="Arial MT"/>
              </a:rPr>
              <a:t> </a:t>
            </a:r>
            <a:r>
              <a:rPr sz="2400" dirty="0">
                <a:latin typeface="Trebuchet MS" panose="020B0603020202020204" pitchFamily="34" charset="0"/>
                <a:cs typeface="Arial MT"/>
              </a:rPr>
              <a:t>exhibit</a:t>
            </a:r>
            <a:r>
              <a:rPr sz="2400" spc="-65" dirty="0">
                <a:latin typeface="Trebuchet MS" panose="020B0603020202020204" pitchFamily="34" charset="0"/>
                <a:cs typeface="Arial MT"/>
              </a:rPr>
              <a:t> </a:t>
            </a:r>
            <a:r>
              <a:rPr sz="2400" dirty="0">
                <a:latin typeface="Trebuchet MS" panose="020B0603020202020204" pitchFamily="34" charset="0"/>
                <a:cs typeface="Arial MT"/>
              </a:rPr>
              <a:t>abnormal</a:t>
            </a:r>
            <a:r>
              <a:rPr sz="2400" spc="-80" dirty="0">
                <a:latin typeface="Trebuchet MS" panose="020B0603020202020204" pitchFamily="34" charset="0"/>
                <a:cs typeface="Arial MT"/>
              </a:rPr>
              <a:t> </a:t>
            </a:r>
            <a:r>
              <a:rPr sz="2400" dirty="0">
                <a:latin typeface="Trebuchet MS" panose="020B0603020202020204" pitchFamily="34" charset="0"/>
                <a:cs typeface="Arial MT"/>
              </a:rPr>
              <a:t>behaviors</a:t>
            </a:r>
            <a:r>
              <a:rPr sz="2400" spc="-70" dirty="0">
                <a:latin typeface="Trebuchet MS" panose="020B0603020202020204" pitchFamily="34" charset="0"/>
                <a:cs typeface="Arial MT"/>
              </a:rPr>
              <a:t> </a:t>
            </a:r>
            <a:r>
              <a:rPr sz="2400" dirty="0">
                <a:latin typeface="Trebuchet MS" panose="020B0603020202020204" pitchFamily="34" charset="0"/>
                <a:cs typeface="Arial MT"/>
              </a:rPr>
              <a:t>such</a:t>
            </a:r>
            <a:r>
              <a:rPr sz="2400" spc="-90" dirty="0">
                <a:latin typeface="Trebuchet MS" panose="020B0603020202020204" pitchFamily="34" charset="0"/>
                <a:cs typeface="Arial MT"/>
              </a:rPr>
              <a:t> </a:t>
            </a:r>
            <a:r>
              <a:rPr sz="2400" dirty="0">
                <a:latin typeface="Trebuchet MS" panose="020B0603020202020204" pitchFamily="34" charset="0"/>
                <a:cs typeface="Arial MT"/>
              </a:rPr>
              <a:t>as</a:t>
            </a:r>
            <a:r>
              <a:rPr sz="2400" spc="-95" dirty="0">
                <a:latin typeface="Trebuchet MS" panose="020B0603020202020204" pitchFamily="34" charset="0"/>
                <a:cs typeface="Arial MT"/>
              </a:rPr>
              <a:t> </a:t>
            </a:r>
            <a:r>
              <a:rPr sz="2400" dirty="0">
                <a:latin typeface="Trebuchet MS" panose="020B0603020202020204" pitchFamily="34" charset="0"/>
                <a:cs typeface="Arial MT"/>
              </a:rPr>
              <a:t>drowsiness,</a:t>
            </a:r>
            <a:r>
              <a:rPr sz="2400" spc="-80" dirty="0">
                <a:latin typeface="Trebuchet MS" panose="020B0603020202020204" pitchFamily="34" charset="0"/>
                <a:cs typeface="Arial MT"/>
              </a:rPr>
              <a:t> </a:t>
            </a:r>
            <a:r>
              <a:rPr sz="2400" spc="-10" dirty="0">
                <a:latin typeface="Trebuchet MS" panose="020B0603020202020204" pitchFamily="34" charset="0"/>
                <a:cs typeface="Arial MT"/>
              </a:rPr>
              <a:t>distraction, </a:t>
            </a:r>
            <a:r>
              <a:rPr sz="2400" dirty="0">
                <a:latin typeface="Trebuchet MS" panose="020B0603020202020204" pitchFamily="34" charset="0"/>
                <a:cs typeface="Arial MT"/>
              </a:rPr>
              <a:t>speeding,</a:t>
            </a:r>
            <a:r>
              <a:rPr sz="2400" spc="-50" dirty="0">
                <a:latin typeface="Trebuchet MS" panose="020B0603020202020204" pitchFamily="34" charset="0"/>
                <a:cs typeface="Arial MT"/>
              </a:rPr>
              <a:t> </a:t>
            </a:r>
            <a:r>
              <a:rPr sz="2400" dirty="0">
                <a:latin typeface="Trebuchet MS" panose="020B0603020202020204" pitchFamily="34" charset="0"/>
                <a:cs typeface="Arial MT"/>
              </a:rPr>
              <a:t>or</a:t>
            </a:r>
            <a:r>
              <a:rPr sz="2400" spc="-70" dirty="0">
                <a:latin typeface="Trebuchet MS" panose="020B0603020202020204" pitchFamily="34" charset="0"/>
                <a:cs typeface="Arial MT"/>
              </a:rPr>
              <a:t> </a:t>
            </a:r>
            <a:r>
              <a:rPr sz="2400" dirty="0">
                <a:latin typeface="Trebuchet MS" panose="020B0603020202020204" pitchFamily="34" charset="0"/>
                <a:cs typeface="Arial MT"/>
              </a:rPr>
              <a:t>mobile</a:t>
            </a:r>
            <a:r>
              <a:rPr sz="2400" spc="-60" dirty="0">
                <a:latin typeface="Trebuchet MS" panose="020B0603020202020204" pitchFamily="34" charset="0"/>
                <a:cs typeface="Arial MT"/>
              </a:rPr>
              <a:t> </a:t>
            </a:r>
            <a:r>
              <a:rPr sz="2400" dirty="0">
                <a:latin typeface="Trebuchet MS" panose="020B0603020202020204" pitchFamily="34" charset="0"/>
                <a:cs typeface="Arial MT"/>
              </a:rPr>
              <a:t>phone</a:t>
            </a:r>
            <a:r>
              <a:rPr sz="2400" spc="-50" dirty="0">
                <a:latin typeface="Trebuchet MS" panose="020B0603020202020204" pitchFamily="34" charset="0"/>
                <a:cs typeface="Arial MT"/>
              </a:rPr>
              <a:t> </a:t>
            </a:r>
            <a:r>
              <a:rPr sz="2400" dirty="0">
                <a:latin typeface="Trebuchet MS" panose="020B0603020202020204" pitchFamily="34" charset="0"/>
                <a:cs typeface="Arial MT"/>
              </a:rPr>
              <a:t>usage,</a:t>
            </a:r>
            <a:r>
              <a:rPr sz="2400" spc="-65" dirty="0">
                <a:latin typeface="Trebuchet MS" panose="020B0603020202020204" pitchFamily="34" charset="0"/>
                <a:cs typeface="Arial MT"/>
              </a:rPr>
              <a:t> </a:t>
            </a:r>
            <a:r>
              <a:rPr sz="2400" dirty="0">
                <a:latin typeface="Trebuchet MS" panose="020B0603020202020204" pitchFamily="34" charset="0"/>
                <a:cs typeface="Arial MT"/>
              </a:rPr>
              <a:t>which</a:t>
            </a:r>
            <a:r>
              <a:rPr sz="2400" spc="-60" dirty="0">
                <a:latin typeface="Trebuchet MS" panose="020B0603020202020204" pitchFamily="34" charset="0"/>
                <a:cs typeface="Arial MT"/>
              </a:rPr>
              <a:t> </a:t>
            </a:r>
            <a:r>
              <a:rPr sz="2400" dirty="0">
                <a:latin typeface="Trebuchet MS" panose="020B0603020202020204" pitchFamily="34" charset="0"/>
                <a:cs typeface="Arial MT"/>
              </a:rPr>
              <a:t>can</a:t>
            </a:r>
            <a:r>
              <a:rPr sz="2400" spc="-70" dirty="0">
                <a:latin typeface="Trebuchet MS" panose="020B0603020202020204" pitchFamily="34" charset="0"/>
                <a:cs typeface="Arial MT"/>
              </a:rPr>
              <a:t> </a:t>
            </a:r>
            <a:r>
              <a:rPr sz="2400" dirty="0">
                <a:latin typeface="Trebuchet MS" panose="020B0603020202020204" pitchFamily="34" charset="0"/>
                <a:cs typeface="Arial MT"/>
              </a:rPr>
              <a:t>lead</a:t>
            </a:r>
            <a:r>
              <a:rPr sz="2400" spc="-60" dirty="0">
                <a:latin typeface="Trebuchet MS" panose="020B0603020202020204" pitchFamily="34" charset="0"/>
                <a:cs typeface="Arial MT"/>
              </a:rPr>
              <a:t> </a:t>
            </a:r>
            <a:r>
              <a:rPr sz="2400" dirty="0">
                <a:latin typeface="Trebuchet MS" panose="020B0603020202020204" pitchFamily="34" charset="0"/>
                <a:cs typeface="Arial MT"/>
              </a:rPr>
              <a:t>to</a:t>
            </a:r>
            <a:r>
              <a:rPr sz="2400" spc="-70" dirty="0">
                <a:latin typeface="Trebuchet MS" panose="020B0603020202020204" pitchFamily="34" charset="0"/>
                <a:cs typeface="Arial MT"/>
              </a:rPr>
              <a:t> </a:t>
            </a:r>
            <a:r>
              <a:rPr sz="2400" spc="-10" dirty="0">
                <a:latin typeface="Trebuchet MS" panose="020B0603020202020204" pitchFamily="34" charset="0"/>
                <a:cs typeface="Arial MT"/>
              </a:rPr>
              <a:t>severe</a:t>
            </a:r>
            <a:r>
              <a:rPr sz="2400" spc="600" dirty="0">
                <a:latin typeface="Trebuchet MS" panose="020B0603020202020204" pitchFamily="34" charset="0"/>
                <a:cs typeface="Arial MT"/>
              </a:rPr>
              <a:t> </a:t>
            </a:r>
            <a:r>
              <a:rPr sz="2400" dirty="0">
                <a:latin typeface="Trebuchet MS" panose="020B0603020202020204" pitchFamily="34" charset="0"/>
                <a:cs typeface="Arial MT"/>
              </a:rPr>
              <a:t>collisions</a:t>
            </a:r>
            <a:r>
              <a:rPr sz="2400" spc="-35" dirty="0">
                <a:latin typeface="Trebuchet MS" panose="020B0603020202020204" pitchFamily="34" charset="0"/>
                <a:cs typeface="Arial MT"/>
              </a:rPr>
              <a:t> </a:t>
            </a:r>
            <a:r>
              <a:rPr sz="2400" dirty="0">
                <a:latin typeface="Trebuchet MS" panose="020B0603020202020204" pitchFamily="34" charset="0"/>
                <a:cs typeface="Arial MT"/>
              </a:rPr>
              <a:t>and</a:t>
            </a:r>
            <a:r>
              <a:rPr sz="2400" spc="-65" dirty="0">
                <a:latin typeface="Trebuchet MS" panose="020B0603020202020204" pitchFamily="34" charset="0"/>
                <a:cs typeface="Arial MT"/>
              </a:rPr>
              <a:t> </a:t>
            </a:r>
            <a:r>
              <a:rPr sz="2400" dirty="0">
                <a:latin typeface="Trebuchet MS" panose="020B0603020202020204" pitchFamily="34" charset="0"/>
                <a:cs typeface="Arial MT"/>
              </a:rPr>
              <a:t>loss</a:t>
            </a:r>
            <a:r>
              <a:rPr sz="2400" spc="-60" dirty="0">
                <a:latin typeface="Trebuchet MS" panose="020B0603020202020204" pitchFamily="34" charset="0"/>
                <a:cs typeface="Arial MT"/>
              </a:rPr>
              <a:t> </a:t>
            </a:r>
            <a:r>
              <a:rPr sz="2400" dirty="0">
                <a:latin typeface="Trebuchet MS" panose="020B0603020202020204" pitchFamily="34" charset="0"/>
                <a:cs typeface="Arial MT"/>
              </a:rPr>
              <a:t>of</a:t>
            </a:r>
            <a:r>
              <a:rPr sz="2400" spc="-70" dirty="0">
                <a:latin typeface="Trebuchet MS" panose="020B0603020202020204" pitchFamily="34" charset="0"/>
                <a:cs typeface="Arial MT"/>
              </a:rPr>
              <a:t> </a:t>
            </a:r>
            <a:r>
              <a:rPr sz="2400" dirty="0">
                <a:latin typeface="Trebuchet MS" panose="020B0603020202020204" pitchFamily="34" charset="0"/>
                <a:cs typeface="Arial MT"/>
              </a:rPr>
              <a:t>life.</a:t>
            </a:r>
            <a:r>
              <a:rPr sz="2400" spc="-65" dirty="0">
                <a:latin typeface="Trebuchet MS" panose="020B0603020202020204" pitchFamily="34" charset="0"/>
                <a:cs typeface="Arial MT"/>
              </a:rPr>
              <a:t> </a:t>
            </a:r>
            <a:r>
              <a:rPr sz="2400" dirty="0">
                <a:latin typeface="Trebuchet MS" panose="020B0603020202020204" pitchFamily="34" charset="0"/>
                <a:cs typeface="Arial MT"/>
              </a:rPr>
              <a:t>Existing</a:t>
            </a:r>
            <a:r>
              <a:rPr sz="2400" spc="-40" dirty="0">
                <a:latin typeface="Trebuchet MS" panose="020B0603020202020204" pitchFamily="34" charset="0"/>
                <a:cs typeface="Arial MT"/>
              </a:rPr>
              <a:t> </a:t>
            </a:r>
            <a:r>
              <a:rPr sz="2400" dirty="0">
                <a:latin typeface="Trebuchet MS" panose="020B0603020202020204" pitchFamily="34" charset="0"/>
                <a:cs typeface="Arial MT"/>
              </a:rPr>
              <a:t>systems</a:t>
            </a:r>
            <a:r>
              <a:rPr sz="2400" spc="-90" dirty="0">
                <a:latin typeface="Trebuchet MS" panose="020B0603020202020204" pitchFamily="34" charset="0"/>
                <a:cs typeface="Arial MT"/>
              </a:rPr>
              <a:t> </a:t>
            </a:r>
            <a:r>
              <a:rPr sz="2400" dirty="0">
                <a:latin typeface="Trebuchet MS" panose="020B0603020202020204" pitchFamily="34" charset="0"/>
                <a:cs typeface="Arial MT"/>
              </a:rPr>
              <a:t>in</a:t>
            </a:r>
            <a:r>
              <a:rPr sz="2400" spc="-60" dirty="0">
                <a:latin typeface="Trebuchet MS" panose="020B0603020202020204" pitchFamily="34" charset="0"/>
                <a:cs typeface="Arial MT"/>
              </a:rPr>
              <a:t> </a:t>
            </a:r>
            <a:r>
              <a:rPr sz="2400" dirty="0">
                <a:latin typeface="Trebuchet MS" panose="020B0603020202020204" pitchFamily="34" charset="0"/>
                <a:cs typeface="Arial MT"/>
              </a:rPr>
              <a:t>vehicles</a:t>
            </a:r>
            <a:r>
              <a:rPr sz="2400" spc="-55" dirty="0">
                <a:latin typeface="Trebuchet MS" panose="020B0603020202020204" pitchFamily="34" charset="0"/>
                <a:cs typeface="Arial MT"/>
              </a:rPr>
              <a:t> </a:t>
            </a:r>
            <a:r>
              <a:rPr sz="2400" dirty="0">
                <a:latin typeface="Trebuchet MS" panose="020B0603020202020204" pitchFamily="34" charset="0"/>
                <a:cs typeface="Arial MT"/>
              </a:rPr>
              <a:t>primarily</a:t>
            </a:r>
            <a:r>
              <a:rPr sz="2400" spc="-60" dirty="0">
                <a:latin typeface="Trebuchet MS" panose="020B0603020202020204" pitchFamily="34" charset="0"/>
                <a:cs typeface="Arial MT"/>
              </a:rPr>
              <a:t> </a:t>
            </a:r>
            <a:r>
              <a:rPr sz="2400" spc="-10" dirty="0">
                <a:latin typeface="Trebuchet MS" panose="020B0603020202020204" pitchFamily="34" charset="0"/>
                <a:cs typeface="Arial MT"/>
              </a:rPr>
              <a:t>focus </a:t>
            </a:r>
            <a:r>
              <a:rPr sz="2400" dirty="0">
                <a:latin typeface="Trebuchet MS" panose="020B0603020202020204" pitchFamily="34" charset="0"/>
                <a:cs typeface="Arial MT"/>
              </a:rPr>
              <a:t>on</a:t>
            </a:r>
            <a:r>
              <a:rPr sz="2400" spc="-75" dirty="0">
                <a:latin typeface="Trebuchet MS" panose="020B0603020202020204" pitchFamily="34" charset="0"/>
                <a:cs typeface="Arial MT"/>
              </a:rPr>
              <a:t> </a:t>
            </a:r>
            <a:r>
              <a:rPr sz="2400" spc="-20" dirty="0">
                <a:latin typeface="Trebuchet MS" panose="020B0603020202020204" pitchFamily="34" charset="0"/>
                <a:cs typeface="Arial MT"/>
              </a:rPr>
              <a:t>post-</a:t>
            </a:r>
            <a:r>
              <a:rPr sz="2400" dirty="0">
                <a:latin typeface="Trebuchet MS" panose="020B0603020202020204" pitchFamily="34" charset="0"/>
                <a:cs typeface="Arial MT"/>
              </a:rPr>
              <a:t>accident</a:t>
            </a:r>
            <a:r>
              <a:rPr sz="2400" spc="-60" dirty="0">
                <a:latin typeface="Trebuchet MS" panose="020B0603020202020204" pitchFamily="34" charset="0"/>
                <a:cs typeface="Arial MT"/>
              </a:rPr>
              <a:t> </a:t>
            </a:r>
            <a:r>
              <a:rPr sz="2400" dirty="0">
                <a:latin typeface="Trebuchet MS" panose="020B0603020202020204" pitchFamily="34" charset="0"/>
                <a:cs typeface="Arial MT"/>
              </a:rPr>
              <a:t>analysis</a:t>
            </a:r>
            <a:r>
              <a:rPr sz="2400" spc="-50" dirty="0">
                <a:latin typeface="Trebuchet MS" panose="020B0603020202020204" pitchFamily="34" charset="0"/>
                <a:cs typeface="Arial MT"/>
              </a:rPr>
              <a:t> </a:t>
            </a:r>
            <a:r>
              <a:rPr sz="2400" dirty="0">
                <a:latin typeface="Trebuchet MS" panose="020B0603020202020204" pitchFamily="34" charset="0"/>
                <a:cs typeface="Arial MT"/>
              </a:rPr>
              <a:t>rather</a:t>
            </a:r>
            <a:r>
              <a:rPr sz="2400" spc="-65" dirty="0">
                <a:latin typeface="Trebuchet MS" panose="020B0603020202020204" pitchFamily="34" charset="0"/>
                <a:cs typeface="Arial MT"/>
              </a:rPr>
              <a:t> </a:t>
            </a:r>
            <a:r>
              <a:rPr sz="2400" dirty="0">
                <a:latin typeface="Trebuchet MS" panose="020B0603020202020204" pitchFamily="34" charset="0"/>
                <a:cs typeface="Arial MT"/>
              </a:rPr>
              <a:t>than</a:t>
            </a:r>
            <a:r>
              <a:rPr sz="2400" spc="-75" dirty="0">
                <a:latin typeface="Trebuchet MS" panose="020B0603020202020204" pitchFamily="34" charset="0"/>
                <a:cs typeface="Arial MT"/>
              </a:rPr>
              <a:t> </a:t>
            </a:r>
            <a:r>
              <a:rPr sz="2400" spc="-20" dirty="0">
                <a:latin typeface="Trebuchet MS" panose="020B0603020202020204" pitchFamily="34" charset="0"/>
                <a:cs typeface="Arial MT"/>
              </a:rPr>
              <a:t>real-</a:t>
            </a:r>
            <a:r>
              <a:rPr sz="2400" dirty="0">
                <a:latin typeface="Trebuchet MS" panose="020B0603020202020204" pitchFamily="34" charset="0"/>
                <a:cs typeface="Arial MT"/>
              </a:rPr>
              <a:t>time</a:t>
            </a:r>
            <a:r>
              <a:rPr sz="2400" spc="-70" dirty="0">
                <a:latin typeface="Trebuchet MS" panose="020B0603020202020204" pitchFamily="34" charset="0"/>
                <a:cs typeface="Arial MT"/>
              </a:rPr>
              <a:t> </a:t>
            </a:r>
            <a:r>
              <a:rPr sz="2400" dirty="0">
                <a:latin typeface="Trebuchet MS" panose="020B0603020202020204" pitchFamily="34" charset="0"/>
                <a:cs typeface="Arial MT"/>
              </a:rPr>
              <a:t>detection</a:t>
            </a:r>
            <a:r>
              <a:rPr sz="2400" spc="-65" dirty="0">
                <a:latin typeface="Trebuchet MS" panose="020B0603020202020204" pitchFamily="34" charset="0"/>
                <a:cs typeface="Arial MT"/>
              </a:rPr>
              <a:t> </a:t>
            </a:r>
            <a:r>
              <a:rPr sz="2400" spc="-25" dirty="0">
                <a:latin typeface="Trebuchet MS" panose="020B0603020202020204" pitchFamily="34" charset="0"/>
                <a:cs typeface="Arial MT"/>
              </a:rPr>
              <a:t>and </a:t>
            </a:r>
            <a:r>
              <a:rPr sz="2400" dirty="0">
                <a:latin typeface="Trebuchet MS" panose="020B0603020202020204" pitchFamily="34" charset="0"/>
                <a:cs typeface="Arial MT"/>
              </a:rPr>
              <a:t>prevention</a:t>
            </a:r>
            <a:r>
              <a:rPr sz="2400" spc="-75" dirty="0">
                <a:latin typeface="Trebuchet MS" panose="020B0603020202020204" pitchFamily="34" charset="0"/>
                <a:cs typeface="Arial MT"/>
              </a:rPr>
              <a:t> </a:t>
            </a:r>
            <a:r>
              <a:rPr sz="2400" dirty="0">
                <a:latin typeface="Trebuchet MS" panose="020B0603020202020204" pitchFamily="34" charset="0"/>
                <a:cs typeface="Arial MT"/>
              </a:rPr>
              <a:t>of</a:t>
            </a:r>
            <a:r>
              <a:rPr sz="2400" spc="-85" dirty="0">
                <a:latin typeface="Trebuchet MS" panose="020B0603020202020204" pitchFamily="34" charset="0"/>
                <a:cs typeface="Arial MT"/>
              </a:rPr>
              <a:t> </a:t>
            </a:r>
            <a:r>
              <a:rPr sz="2400" dirty="0">
                <a:latin typeface="Trebuchet MS" panose="020B0603020202020204" pitchFamily="34" charset="0"/>
                <a:cs typeface="Arial MT"/>
              </a:rPr>
              <a:t>such</a:t>
            </a:r>
            <a:r>
              <a:rPr sz="2400" spc="-85" dirty="0">
                <a:latin typeface="Trebuchet MS" panose="020B0603020202020204" pitchFamily="34" charset="0"/>
                <a:cs typeface="Arial MT"/>
              </a:rPr>
              <a:t> </a:t>
            </a:r>
            <a:r>
              <a:rPr sz="2400" dirty="0">
                <a:latin typeface="Trebuchet MS" panose="020B0603020202020204" pitchFamily="34" charset="0"/>
                <a:cs typeface="Arial MT"/>
              </a:rPr>
              <a:t>unsafe</a:t>
            </a:r>
            <a:r>
              <a:rPr sz="2400" spc="-85" dirty="0">
                <a:latin typeface="Trebuchet MS" panose="020B0603020202020204" pitchFamily="34" charset="0"/>
                <a:cs typeface="Arial MT"/>
              </a:rPr>
              <a:t> </a:t>
            </a:r>
            <a:r>
              <a:rPr sz="2400" dirty="0">
                <a:latin typeface="Trebuchet MS" panose="020B0603020202020204" pitchFamily="34" charset="0"/>
                <a:cs typeface="Arial MT"/>
              </a:rPr>
              <a:t>driving</a:t>
            </a:r>
            <a:r>
              <a:rPr sz="2400" spc="-70" dirty="0">
                <a:latin typeface="Trebuchet MS" panose="020B0603020202020204" pitchFamily="34" charset="0"/>
                <a:cs typeface="Arial MT"/>
              </a:rPr>
              <a:t> </a:t>
            </a:r>
            <a:r>
              <a:rPr sz="2400" spc="-10" dirty="0">
                <a:latin typeface="Trebuchet MS" panose="020B0603020202020204" pitchFamily="34" charset="0"/>
                <a:cs typeface="Arial MT"/>
              </a:rPr>
              <a:t>behaviors.</a:t>
            </a:r>
            <a:endParaRPr sz="2400" dirty="0">
              <a:latin typeface="Trebuchet MS" panose="020B0603020202020204" pitchFamily="34" charset="0"/>
              <a:cs typeface="Arial MT"/>
            </a:endParaRPr>
          </a:p>
        </p:txBody>
      </p:sp>
      <p:sp>
        <p:nvSpPr>
          <p:cNvPr id="4" name="object 4"/>
          <p:cNvSpPr txBox="1">
            <a:spLocks noGrp="1"/>
          </p:cNvSpPr>
          <p:nvPr>
            <p:ph type="title"/>
          </p:nvPr>
        </p:nvSpPr>
        <p:spPr>
          <a:prstGeom prst="rect">
            <a:avLst/>
          </a:prstGeom>
        </p:spPr>
        <p:txBody>
          <a:bodyPr vert="horz" wrap="square" lIns="0" tIns="12700" rIns="0" bIns="0" rtlCol="0">
            <a:spAutoFit/>
          </a:bodyPr>
          <a:lstStyle/>
          <a:p>
            <a:pPr marL="2006600">
              <a:lnSpc>
                <a:spcPct val="100000"/>
              </a:lnSpc>
              <a:spcBef>
                <a:spcPts val="100"/>
              </a:spcBef>
            </a:pPr>
            <a:r>
              <a:rPr dirty="0"/>
              <a:t>Problem</a:t>
            </a:r>
            <a:r>
              <a:rPr spc="-180" dirty="0"/>
              <a:t> </a:t>
            </a:r>
            <a:r>
              <a:rPr spc="-10" dirty="0"/>
              <a:t>Statement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3048000" y="1581213"/>
            <a:ext cx="7620000" cy="36830"/>
          </a:xfrm>
          <a:custGeom>
            <a:avLst/>
            <a:gdLst/>
            <a:ahLst/>
            <a:cxnLst/>
            <a:rect l="l" t="t" r="r" b="b"/>
            <a:pathLst>
              <a:path w="7620000" h="36830">
                <a:moveTo>
                  <a:pt x="7620000" y="0"/>
                </a:moveTo>
                <a:lnTo>
                  <a:pt x="0" y="0"/>
                </a:lnTo>
                <a:lnTo>
                  <a:pt x="0" y="36512"/>
                </a:lnTo>
                <a:lnTo>
                  <a:pt x="7620000" y="36512"/>
                </a:lnTo>
                <a:lnTo>
                  <a:pt x="7620000" y="0"/>
                </a:lnTo>
                <a:close/>
              </a:path>
            </a:pathLst>
          </a:custGeom>
          <a:solidFill>
            <a:srgbClr val="33CCCC"/>
          </a:solidFill>
        </p:spPr>
        <p:txBody>
          <a:bodyPr wrap="square" lIns="0" tIns="0" rIns="0" bIns="0" rtlCol="0"/>
          <a:lstStyle/>
          <a:p>
            <a:endParaRPr/>
          </a:p>
        </p:txBody>
      </p:sp>
      <p:sp>
        <p:nvSpPr>
          <p:cNvPr id="3" name="object 3"/>
          <p:cNvSpPr txBox="1"/>
          <p:nvPr/>
        </p:nvSpPr>
        <p:spPr>
          <a:xfrm>
            <a:off x="1540255" y="2230323"/>
            <a:ext cx="8950960" cy="2598147"/>
          </a:xfrm>
          <a:prstGeom prst="rect">
            <a:avLst/>
          </a:prstGeom>
        </p:spPr>
        <p:txBody>
          <a:bodyPr vert="horz" wrap="square" lIns="0" tIns="12700" rIns="0" bIns="0" rtlCol="0">
            <a:spAutoFit/>
          </a:bodyPr>
          <a:lstStyle/>
          <a:p>
            <a:pPr marL="1270" algn="l">
              <a:lnSpc>
                <a:spcPct val="100000"/>
              </a:lnSpc>
              <a:spcBef>
                <a:spcPts val="100"/>
              </a:spcBef>
            </a:pPr>
            <a:r>
              <a:rPr sz="2400" dirty="0">
                <a:latin typeface="Trebuchet MS" panose="020B0603020202020204" pitchFamily="34" charset="0"/>
                <a:cs typeface="Arial MT"/>
              </a:rPr>
              <a:t>This</a:t>
            </a:r>
            <a:r>
              <a:rPr sz="2400" spc="-55" dirty="0">
                <a:latin typeface="Trebuchet MS" panose="020B0603020202020204" pitchFamily="34" charset="0"/>
                <a:cs typeface="Arial MT"/>
              </a:rPr>
              <a:t> </a:t>
            </a:r>
            <a:r>
              <a:rPr sz="2400" dirty="0">
                <a:latin typeface="Trebuchet MS" panose="020B0603020202020204" pitchFamily="34" charset="0"/>
                <a:cs typeface="Arial MT"/>
              </a:rPr>
              <a:t>project,</a:t>
            </a:r>
            <a:r>
              <a:rPr sz="2400" spc="-50" dirty="0">
                <a:latin typeface="Trebuchet MS" panose="020B0603020202020204" pitchFamily="34" charset="0"/>
                <a:cs typeface="Arial MT"/>
              </a:rPr>
              <a:t> </a:t>
            </a:r>
            <a:r>
              <a:rPr sz="2400" dirty="0">
                <a:latin typeface="Trebuchet MS" panose="020B0603020202020204" pitchFamily="34" charset="0"/>
                <a:cs typeface="Arial MT"/>
              </a:rPr>
              <a:t>“Driver</a:t>
            </a:r>
            <a:r>
              <a:rPr sz="2400" spc="-60" dirty="0">
                <a:latin typeface="Trebuchet MS" panose="020B0603020202020204" pitchFamily="34" charset="0"/>
                <a:cs typeface="Arial MT"/>
              </a:rPr>
              <a:t> </a:t>
            </a:r>
            <a:r>
              <a:rPr sz="2400" spc="-20" dirty="0">
                <a:latin typeface="Trebuchet MS" panose="020B0603020202020204" pitchFamily="34" charset="0"/>
                <a:cs typeface="Arial MT"/>
              </a:rPr>
              <a:t>Behavior</a:t>
            </a:r>
            <a:r>
              <a:rPr sz="2400" spc="-150" dirty="0">
                <a:latin typeface="Trebuchet MS" panose="020B0603020202020204" pitchFamily="34" charset="0"/>
                <a:cs typeface="Arial MT"/>
              </a:rPr>
              <a:t> </a:t>
            </a:r>
            <a:r>
              <a:rPr sz="2400" dirty="0">
                <a:latin typeface="Trebuchet MS" panose="020B0603020202020204" pitchFamily="34" charset="0"/>
                <a:cs typeface="Arial MT"/>
              </a:rPr>
              <a:t>Anomaly</a:t>
            </a:r>
            <a:r>
              <a:rPr sz="2400" spc="-40" dirty="0">
                <a:latin typeface="Trebuchet MS" panose="020B0603020202020204" pitchFamily="34" charset="0"/>
                <a:cs typeface="Arial MT"/>
              </a:rPr>
              <a:t> </a:t>
            </a:r>
            <a:r>
              <a:rPr sz="2400" dirty="0">
                <a:latin typeface="Trebuchet MS" panose="020B0603020202020204" pitchFamily="34" charset="0"/>
                <a:cs typeface="Arial MT"/>
              </a:rPr>
              <a:t>Detection</a:t>
            </a:r>
            <a:r>
              <a:rPr sz="2400" spc="-45" dirty="0">
                <a:latin typeface="Trebuchet MS" panose="020B0603020202020204" pitchFamily="34" charset="0"/>
                <a:cs typeface="Arial MT"/>
              </a:rPr>
              <a:t> </a:t>
            </a:r>
            <a:r>
              <a:rPr sz="2400" dirty="0">
                <a:latin typeface="Trebuchet MS" panose="020B0603020202020204" pitchFamily="34" charset="0"/>
                <a:cs typeface="Arial MT"/>
              </a:rPr>
              <a:t>using</a:t>
            </a:r>
            <a:r>
              <a:rPr sz="2400" spc="-40" dirty="0">
                <a:latin typeface="Trebuchet MS" panose="020B0603020202020204" pitchFamily="34" charset="0"/>
                <a:cs typeface="Arial MT"/>
              </a:rPr>
              <a:t> </a:t>
            </a:r>
            <a:r>
              <a:rPr sz="2400" spc="-20" dirty="0">
                <a:latin typeface="Trebuchet MS" panose="020B0603020202020204" pitchFamily="34" charset="0"/>
                <a:cs typeface="Arial MT"/>
              </a:rPr>
              <a:t>Deep</a:t>
            </a:r>
            <a:endParaRPr sz="2400" dirty="0">
              <a:latin typeface="Trebuchet MS" panose="020B0603020202020204" pitchFamily="34" charset="0"/>
              <a:cs typeface="Arial MT"/>
            </a:endParaRPr>
          </a:p>
          <a:p>
            <a:pPr algn="l">
              <a:lnSpc>
                <a:spcPct val="100000"/>
              </a:lnSpc>
              <a:spcBef>
                <a:spcPts val="5"/>
              </a:spcBef>
            </a:pPr>
            <a:r>
              <a:rPr sz="2400" dirty="0">
                <a:latin typeface="Trebuchet MS" panose="020B0603020202020204" pitchFamily="34" charset="0"/>
                <a:cs typeface="Arial MT"/>
              </a:rPr>
              <a:t>Learning,”</a:t>
            </a:r>
            <a:r>
              <a:rPr sz="2400" spc="-65" dirty="0">
                <a:latin typeface="Trebuchet MS" panose="020B0603020202020204" pitchFamily="34" charset="0"/>
                <a:cs typeface="Arial MT"/>
              </a:rPr>
              <a:t> </a:t>
            </a:r>
            <a:r>
              <a:rPr sz="2400" dirty="0">
                <a:latin typeface="Trebuchet MS" panose="020B0603020202020204" pitchFamily="34" charset="0"/>
                <a:cs typeface="Arial MT"/>
              </a:rPr>
              <a:t>aims</a:t>
            </a:r>
            <a:r>
              <a:rPr sz="2400" spc="-75" dirty="0">
                <a:latin typeface="Trebuchet MS" panose="020B0603020202020204" pitchFamily="34" charset="0"/>
                <a:cs typeface="Arial MT"/>
              </a:rPr>
              <a:t> </a:t>
            </a:r>
            <a:r>
              <a:rPr sz="2400" dirty="0">
                <a:latin typeface="Trebuchet MS" panose="020B0603020202020204" pitchFamily="34" charset="0"/>
                <a:cs typeface="Arial MT"/>
              </a:rPr>
              <a:t>to</a:t>
            </a:r>
            <a:r>
              <a:rPr sz="2400" spc="-80" dirty="0">
                <a:latin typeface="Trebuchet MS" panose="020B0603020202020204" pitchFamily="34" charset="0"/>
                <a:cs typeface="Arial MT"/>
              </a:rPr>
              <a:t> </a:t>
            </a:r>
            <a:r>
              <a:rPr sz="2400" dirty="0">
                <a:latin typeface="Trebuchet MS" panose="020B0603020202020204" pitchFamily="34" charset="0"/>
                <a:cs typeface="Arial MT"/>
              </a:rPr>
              <a:t>reduce</a:t>
            </a:r>
            <a:r>
              <a:rPr sz="2400" spc="-80" dirty="0">
                <a:latin typeface="Trebuchet MS" panose="020B0603020202020204" pitchFamily="34" charset="0"/>
                <a:cs typeface="Arial MT"/>
              </a:rPr>
              <a:t> </a:t>
            </a:r>
            <a:r>
              <a:rPr sz="2400" dirty="0">
                <a:latin typeface="Trebuchet MS" panose="020B0603020202020204" pitchFamily="34" charset="0"/>
                <a:cs typeface="Arial MT"/>
              </a:rPr>
              <a:t>road</a:t>
            </a:r>
            <a:r>
              <a:rPr sz="2400" spc="-80" dirty="0">
                <a:latin typeface="Trebuchet MS" panose="020B0603020202020204" pitchFamily="34" charset="0"/>
                <a:cs typeface="Arial MT"/>
              </a:rPr>
              <a:t> </a:t>
            </a:r>
            <a:r>
              <a:rPr sz="2400" dirty="0">
                <a:latin typeface="Trebuchet MS" panose="020B0603020202020204" pitchFamily="34" charset="0"/>
                <a:cs typeface="Arial MT"/>
              </a:rPr>
              <a:t>accidents</a:t>
            </a:r>
            <a:r>
              <a:rPr sz="2400" spc="-75" dirty="0">
                <a:latin typeface="Trebuchet MS" panose="020B0603020202020204" pitchFamily="34" charset="0"/>
                <a:cs typeface="Arial MT"/>
              </a:rPr>
              <a:t> </a:t>
            </a:r>
            <a:r>
              <a:rPr sz="2400" dirty="0">
                <a:latin typeface="Trebuchet MS" panose="020B0603020202020204" pitchFamily="34" charset="0"/>
                <a:cs typeface="Arial MT"/>
              </a:rPr>
              <a:t>caused</a:t>
            </a:r>
            <a:r>
              <a:rPr sz="2400" spc="-80" dirty="0">
                <a:latin typeface="Trebuchet MS" panose="020B0603020202020204" pitchFamily="34" charset="0"/>
                <a:cs typeface="Arial MT"/>
              </a:rPr>
              <a:t> </a:t>
            </a:r>
            <a:r>
              <a:rPr sz="2400" dirty="0">
                <a:latin typeface="Trebuchet MS" panose="020B0603020202020204" pitchFamily="34" charset="0"/>
                <a:cs typeface="Arial MT"/>
              </a:rPr>
              <a:t>by</a:t>
            </a:r>
            <a:r>
              <a:rPr sz="2400" spc="-80" dirty="0">
                <a:latin typeface="Trebuchet MS" panose="020B0603020202020204" pitchFamily="34" charset="0"/>
                <a:cs typeface="Arial MT"/>
              </a:rPr>
              <a:t> </a:t>
            </a:r>
            <a:r>
              <a:rPr sz="2400" dirty="0">
                <a:latin typeface="Trebuchet MS" panose="020B0603020202020204" pitchFamily="34" charset="0"/>
                <a:cs typeface="Arial MT"/>
              </a:rPr>
              <a:t>human</a:t>
            </a:r>
            <a:r>
              <a:rPr sz="2400" spc="-70" dirty="0">
                <a:latin typeface="Trebuchet MS" panose="020B0603020202020204" pitchFamily="34" charset="0"/>
                <a:cs typeface="Arial MT"/>
              </a:rPr>
              <a:t> </a:t>
            </a:r>
            <a:r>
              <a:rPr sz="2400" spc="-10" dirty="0">
                <a:latin typeface="Trebuchet MS" panose="020B0603020202020204" pitchFamily="34" charset="0"/>
                <a:cs typeface="Arial MT"/>
              </a:rPr>
              <a:t>error.</a:t>
            </a:r>
            <a:endParaRPr sz="2400" dirty="0">
              <a:latin typeface="Trebuchet MS" panose="020B0603020202020204" pitchFamily="34" charset="0"/>
              <a:cs typeface="Arial MT"/>
            </a:endParaRPr>
          </a:p>
          <a:p>
            <a:pPr marL="12065" marR="5080" indent="-2540" algn="l">
              <a:lnSpc>
                <a:spcPct val="100000"/>
              </a:lnSpc>
            </a:pPr>
            <a:r>
              <a:rPr sz="2400" dirty="0">
                <a:latin typeface="Trebuchet MS" panose="020B0603020202020204" pitchFamily="34" charset="0"/>
                <a:cs typeface="Arial MT"/>
              </a:rPr>
              <a:t>Using</a:t>
            </a:r>
            <a:r>
              <a:rPr sz="2400" spc="-55" dirty="0">
                <a:latin typeface="Trebuchet MS" panose="020B0603020202020204" pitchFamily="34" charset="0"/>
                <a:cs typeface="Arial MT"/>
              </a:rPr>
              <a:t> </a:t>
            </a:r>
            <a:r>
              <a:rPr sz="2400" dirty="0">
                <a:latin typeface="Trebuchet MS" panose="020B0603020202020204" pitchFamily="34" charset="0"/>
                <a:cs typeface="Arial MT"/>
              </a:rPr>
              <a:t>deep</a:t>
            </a:r>
            <a:r>
              <a:rPr sz="2400" spc="-65" dirty="0">
                <a:latin typeface="Trebuchet MS" panose="020B0603020202020204" pitchFamily="34" charset="0"/>
                <a:cs typeface="Arial MT"/>
              </a:rPr>
              <a:t> </a:t>
            </a:r>
            <a:r>
              <a:rPr sz="2400" dirty="0">
                <a:latin typeface="Trebuchet MS" panose="020B0603020202020204" pitchFamily="34" charset="0"/>
                <a:cs typeface="Arial MT"/>
              </a:rPr>
              <a:t>learning,</a:t>
            </a:r>
            <a:r>
              <a:rPr sz="2400" spc="-50" dirty="0">
                <a:latin typeface="Trebuchet MS" panose="020B0603020202020204" pitchFamily="34" charset="0"/>
                <a:cs typeface="Arial MT"/>
              </a:rPr>
              <a:t> </a:t>
            </a:r>
            <a:r>
              <a:rPr sz="2400" dirty="0">
                <a:latin typeface="Trebuchet MS" panose="020B0603020202020204" pitchFamily="34" charset="0"/>
                <a:cs typeface="Arial MT"/>
              </a:rPr>
              <a:t>the</a:t>
            </a:r>
            <a:r>
              <a:rPr sz="2400" spc="-70" dirty="0">
                <a:latin typeface="Trebuchet MS" panose="020B0603020202020204" pitchFamily="34" charset="0"/>
                <a:cs typeface="Arial MT"/>
              </a:rPr>
              <a:t> </a:t>
            </a:r>
            <a:r>
              <a:rPr sz="2400" dirty="0">
                <a:latin typeface="Trebuchet MS" panose="020B0603020202020204" pitchFamily="34" charset="0"/>
                <a:cs typeface="Arial MT"/>
              </a:rPr>
              <a:t>system</a:t>
            </a:r>
            <a:r>
              <a:rPr sz="2400" spc="-70" dirty="0">
                <a:latin typeface="Trebuchet MS" panose="020B0603020202020204" pitchFamily="34" charset="0"/>
                <a:cs typeface="Arial MT"/>
              </a:rPr>
              <a:t> </a:t>
            </a:r>
            <a:r>
              <a:rPr sz="2400" dirty="0">
                <a:latin typeface="Trebuchet MS" panose="020B0603020202020204" pitchFamily="34" charset="0"/>
                <a:cs typeface="Arial MT"/>
              </a:rPr>
              <a:t>detects</a:t>
            </a:r>
            <a:r>
              <a:rPr sz="2400" spc="-70" dirty="0">
                <a:latin typeface="Trebuchet MS" panose="020B0603020202020204" pitchFamily="34" charset="0"/>
                <a:cs typeface="Arial MT"/>
              </a:rPr>
              <a:t> </a:t>
            </a:r>
            <a:r>
              <a:rPr sz="2400" dirty="0">
                <a:latin typeface="Trebuchet MS" panose="020B0603020202020204" pitchFamily="34" charset="0"/>
                <a:cs typeface="Arial MT"/>
              </a:rPr>
              <a:t>unsafe</a:t>
            </a:r>
            <a:r>
              <a:rPr sz="2400" spc="-75" dirty="0">
                <a:latin typeface="Trebuchet MS" panose="020B0603020202020204" pitchFamily="34" charset="0"/>
                <a:cs typeface="Arial MT"/>
              </a:rPr>
              <a:t> </a:t>
            </a:r>
            <a:r>
              <a:rPr sz="2400" dirty="0">
                <a:latin typeface="Trebuchet MS" panose="020B0603020202020204" pitchFamily="34" charset="0"/>
                <a:cs typeface="Arial MT"/>
              </a:rPr>
              <a:t>behaviors</a:t>
            </a:r>
            <a:r>
              <a:rPr sz="2400" spc="-45" dirty="0">
                <a:latin typeface="Trebuchet MS" panose="020B0603020202020204" pitchFamily="34" charset="0"/>
                <a:cs typeface="Arial MT"/>
              </a:rPr>
              <a:t> </a:t>
            </a:r>
            <a:r>
              <a:rPr sz="2400" spc="-20" dirty="0">
                <a:latin typeface="Trebuchet MS" panose="020B0603020202020204" pitchFamily="34" charset="0"/>
                <a:cs typeface="Arial MT"/>
              </a:rPr>
              <a:t>like </a:t>
            </a:r>
            <a:r>
              <a:rPr sz="2400" dirty="0">
                <a:latin typeface="Trebuchet MS" panose="020B0603020202020204" pitchFamily="34" charset="0"/>
                <a:cs typeface="Arial MT"/>
              </a:rPr>
              <a:t>drowsiness,</a:t>
            </a:r>
            <a:r>
              <a:rPr sz="2400" spc="-50" dirty="0">
                <a:latin typeface="Trebuchet MS" panose="020B0603020202020204" pitchFamily="34" charset="0"/>
                <a:cs typeface="Arial MT"/>
              </a:rPr>
              <a:t> </a:t>
            </a:r>
            <a:r>
              <a:rPr sz="2400" dirty="0">
                <a:latin typeface="Trebuchet MS" panose="020B0603020202020204" pitchFamily="34" charset="0"/>
                <a:cs typeface="Arial MT"/>
              </a:rPr>
              <a:t>distraction,</a:t>
            </a:r>
            <a:r>
              <a:rPr sz="2400" spc="-80" dirty="0">
                <a:latin typeface="Trebuchet MS" panose="020B0603020202020204" pitchFamily="34" charset="0"/>
                <a:cs typeface="Arial MT"/>
              </a:rPr>
              <a:t> </a:t>
            </a:r>
            <a:r>
              <a:rPr sz="2400" dirty="0">
                <a:latin typeface="Trebuchet MS" panose="020B0603020202020204" pitchFamily="34" charset="0"/>
                <a:cs typeface="Arial MT"/>
              </a:rPr>
              <a:t>and</a:t>
            </a:r>
            <a:r>
              <a:rPr sz="2400" spc="-70" dirty="0">
                <a:latin typeface="Trebuchet MS" panose="020B0603020202020204" pitchFamily="34" charset="0"/>
                <a:cs typeface="Arial MT"/>
              </a:rPr>
              <a:t> </a:t>
            </a:r>
            <a:r>
              <a:rPr sz="2400" dirty="0">
                <a:latin typeface="Trebuchet MS" panose="020B0603020202020204" pitchFamily="34" charset="0"/>
                <a:cs typeface="Arial MT"/>
              </a:rPr>
              <a:t>rash</a:t>
            </a:r>
            <a:r>
              <a:rPr sz="2400" spc="-70" dirty="0">
                <a:latin typeface="Trebuchet MS" panose="020B0603020202020204" pitchFamily="34" charset="0"/>
                <a:cs typeface="Arial MT"/>
              </a:rPr>
              <a:t> </a:t>
            </a:r>
            <a:r>
              <a:rPr sz="2400" dirty="0">
                <a:latin typeface="Trebuchet MS" panose="020B0603020202020204" pitchFamily="34" charset="0"/>
                <a:cs typeface="Arial MT"/>
              </a:rPr>
              <a:t>driving</a:t>
            </a:r>
            <a:r>
              <a:rPr sz="2400" spc="-55" dirty="0">
                <a:latin typeface="Trebuchet MS" panose="020B0603020202020204" pitchFamily="34" charset="0"/>
                <a:cs typeface="Arial MT"/>
              </a:rPr>
              <a:t> </a:t>
            </a:r>
            <a:r>
              <a:rPr sz="2400" dirty="0">
                <a:latin typeface="Trebuchet MS" panose="020B0603020202020204" pitchFamily="34" charset="0"/>
                <a:cs typeface="Arial MT"/>
              </a:rPr>
              <a:t>from</a:t>
            </a:r>
            <a:r>
              <a:rPr sz="2400" spc="-90" dirty="0">
                <a:latin typeface="Trebuchet MS" panose="020B0603020202020204" pitchFamily="34" charset="0"/>
                <a:cs typeface="Arial MT"/>
              </a:rPr>
              <a:t> </a:t>
            </a:r>
            <a:r>
              <a:rPr sz="2400" spc="-20" dirty="0">
                <a:latin typeface="Trebuchet MS" panose="020B0603020202020204" pitchFamily="34" charset="0"/>
                <a:cs typeface="Arial MT"/>
              </a:rPr>
              <a:t>real-</a:t>
            </a:r>
            <a:r>
              <a:rPr sz="2400" dirty="0">
                <a:latin typeface="Trebuchet MS" panose="020B0603020202020204" pitchFamily="34" charset="0"/>
                <a:cs typeface="Arial MT"/>
              </a:rPr>
              <a:t>time</a:t>
            </a:r>
            <a:r>
              <a:rPr sz="2400" spc="-70" dirty="0">
                <a:latin typeface="Trebuchet MS" panose="020B0603020202020204" pitchFamily="34" charset="0"/>
                <a:cs typeface="Arial MT"/>
              </a:rPr>
              <a:t> </a:t>
            </a:r>
            <a:r>
              <a:rPr sz="2400" dirty="0">
                <a:latin typeface="Trebuchet MS" panose="020B0603020202020204" pitchFamily="34" charset="0"/>
                <a:cs typeface="Arial MT"/>
              </a:rPr>
              <a:t>data</a:t>
            </a:r>
            <a:r>
              <a:rPr sz="2400" spc="-70" dirty="0">
                <a:latin typeface="Trebuchet MS" panose="020B0603020202020204" pitchFamily="34" charset="0"/>
                <a:cs typeface="Arial MT"/>
              </a:rPr>
              <a:t> </a:t>
            </a:r>
            <a:r>
              <a:rPr sz="2400" spc="-25" dirty="0">
                <a:latin typeface="Trebuchet MS" panose="020B0603020202020204" pitchFamily="34" charset="0"/>
                <a:cs typeface="Arial MT"/>
              </a:rPr>
              <a:t>and </a:t>
            </a:r>
            <a:r>
              <a:rPr sz="2400" dirty="0">
                <a:latin typeface="Trebuchet MS" panose="020B0603020202020204" pitchFamily="34" charset="0"/>
                <a:cs typeface="Arial MT"/>
              </a:rPr>
              <a:t>provides</a:t>
            </a:r>
            <a:r>
              <a:rPr sz="2400" spc="-55" dirty="0">
                <a:latin typeface="Trebuchet MS" panose="020B0603020202020204" pitchFamily="34" charset="0"/>
                <a:cs typeface="Arial MT"/>
              </a:rPr>
              <a:t> </a:t>
            </a:r>
            <a:r>
              <a:rPr sz="2400" dirty="0">
                <a:latin typeface="Trebuchet MS" panose="020B0603020202020204" pitchFamily="34" charset="0"/>
                <a:cs typeface="Arial MT"/>
              </a:rPr>
              <a:t>early</a:t>
            </a:r>
            <a:r>
              <a:rPr sz="2400" spc="-50" dirty="0">
                <a:latin typeface="Trebuchet MS" panose="020B0603020202020204" pitchFamily="34" charset="0"/>
                <a:cs typeface="Arial MT"/>
              </a:rPr>
              <a:t> </a:t>
            </a:r>
            <a:r>
              <a:rPr sz="2400" dirty="0">
                <a:latin typeface="Trebuchet MS" panose="020B0603020202020204" pitchFamily="34" charset="0"/>
                <a:cs typeface="Arial MT"/>
              </a:rPr>
              <a:t>alerts</a:t>
            </a:r>
            <a:r>
              <a:rPr sz="2400" spc="-55" dirty="0">
                <a:latin typeface="Trebuchet MS" panose="020B0603020202020204" pitchFamily="34" charset="0"/>
                <a:cs typeface="Arial MT"/>
              </a:rPr>
              <a:t> </a:t>
            </a:r>
            <a:r>
              <a:rPr sz="2400" dirty="0">
                <a:latin typeface="Trebuchet MS" panose="020B0603020202020204" pitchFamily="34" charset="0"/>
                <a:cs typeface="Arial MT"/>
              </a:rPr>
              <a:t>to</a:t>
            </a:r>
            <a:r>
              <a:rPr sz="2400" spc="-70" dirty="0">
                <a:latin typeface="Trebuchet MS" panose="020B0603020202020204" pitchFamily="34" charset="0"/>
                <a:cs typeface="Arial MT"/>
              </a:rPr>
              <a:t> </a:t>
            </a:r>
            <a:r>
              <a:rPr sz="2400" dirty="0">
                <a:latin typeface="Trebuchet MS" panose="020B0603020202020204" pitchFamily="34" charset="0"/>
                <a:cs typeface="Arial MT"/>
              </a:rPr>
              <a:t>prevent</a:t>
            </a:r>
            <a:r>
              <a:rPr sz="2400" spc="-60" dirty="0">
                <a:latin typeface="Trebuchet MS" panose="020B0603020202020204" pitchFamily="34" charset="0"/>
                <a:cs typeface="Arial MT"/>
              </a:rPr>
              <a:t> </a:t>
            </a:r>
            <a:r>
              <a:rPr sz="2400" dirty="0">
                <a:latin typeface="Trebuchet MS" panose="020B0603020202020204" pitchFamily="34" charset="0"/>
                <a:cs typeface="Arial MT"/>
              </a:rPr>
              <a:t>accidents.</a:t>
            </a:r>
            <a:r>
              <a:rPr sz="2400" spc="-55" dirty="0">
                <a:latin typeface="Trebuchet MS" panose="020B0603020202020204" pitchFamily="34" charset="0"/>
                <a:cs typeface="Arial MT"/>
              </a:rPr>
              <a:t> </a:t>
            </a:r>
            <a:r>
              <a:rPr sz="2400" dirty="0">
                <a:latin typeface="Trebuchet MS" panose="020B0603020202020204" pitchFamily="34" charset="0"/>
                <a:cs typeface="Arial MT"/>
              </a:rPr>
              <a:t>It</a:t>
            </a:r>
            <a:r>
              <a:rPr sz="2400" spc="-70" dirty="0">
                <a:latin typeface="Trebuchet MS" panose="020B0603020202020204" pitchFamily="34" charset="0"/>
                <a:cs typeface="Arial MT"/>
              </a:rPr>
              <a:t> </a:t>
            </a:r>
            <a:r>
              <a:rPr sz="2400" dirty="0">
                <a:latin typeface="Trebuchet MS" panose="020B0603020202020204" pitchFamily="34" charset="0"/>
                <a:cs typeface="Arial MT"/>
              </a:rPr>
              <a:t>contributes</a:t>
            </a:r>
            <a:r>
              <a:rPr sz="2400" spc="-65" dirty="0">
                <a:latin typeface="Trebuchet MS" panose="020B0603020202020204" pitchFamily="34" charset="0"/>
                <a:cs typeface="Arial MT"/>
              </a:rPr>
              <a:t> </a:t>
            </a:r>
            <a:r>
              <a:rPr sz="2400" dirty="0">
                <a:latin typeface="Trebuchet MS" panose="020B0603020202020204" pitchFamily="34" charset="0"/>
                <a:cs typeface="Arial MT"/>
              </a:rPr>
              <a:t>to</a:t>
            </a:r>
            <a:r>
              <a:rPr sz="2400" spc="-70" dirty="0">
                <a:latin typeface="Trebuchet MS" panose="020B0603020202020204" pitchFamily="34" charset="0"/>
                <a:cs typeface="Arial MT"/>
              </a:rPr>
              <a:t> </a:t>
            </a:r>
            <a:r>
              <a:rPr sz="2400" spc="-10" dirty="0">
                <a:latin typeface="Trebuchet MS" panose="020B0603020202020204" pitchFamily="34" charset="0"/>
                <a:cs typeface="Arial MT"/>
              </a:rPr>
              <a:t>building safer,</a:t>
            </a:r>
            <a:r>
              <a:rPr sz="2400" spc="-110" dirty="0">
                <a:latin typeface="Trebuchet MS" panose="020B0603020202020204" pitchFamily="34" charset="0"/>
                <a:cs typeface="Arial MT"/>
              </a:rPr>
              <a:t> </a:t>
            </a:r>
            <a:r>
              <a:rPr sz="2400" spc="-10" dirty="0">
                <a:latin typeface="Trebuchet MS" panose="020B0603020202020204" pitchFamily="34" charset="0"/>
                <a:cs typeface="Arial MT"/>
              </a:rPr>
              <a:t>smarter,</a:t>
            </a:r>
            <a:r>
              <a:rPr sz="2400" spc="-110" dirty="0">
                <a:latin typeface="Trebuchet MS" panose="020B0603020202020204" pitchFamily="34" charset="0"/>
                <a:cs typeface="Arial MT"/>
              </a:rPr>
              <a:t> </a:t>
            </a:r>
            <a:r>
              <a:rPr sz="2400" dirty="0">
                <a:latin typeface="Trebuchet MS" panose="020B0603020202020204" pitchFamily="34" charset="0"/>
                <a:cs typeface="Arial MT"/>
              </a:rPr>
              <a:t>and</a:t>
            </a:r>
            <a:r>
              <a:rPr sz="2400" spc="-105" dirty="0">
                <a:latin typeface="Trebuchet MS" panose="020B0603020202020204" pitchFamily="34" charset="0"/>
                <a:cs typeface="Arial MT"/>
              </a:rPr>
              <a:t> </a:t>
            </a:r>
            <a:r>
              <a:rPr sz="2400" dirty="0">
                <a:latin typeface="Trebuchet MS" panose="020B0603020202020204" pitchFamily="34" charset="0"/>
                <a:cs typeface="Arial MT"/>
              </a:rPr>
              <a:t>more</a:t>
            </a:r>
            <a:r>
              <a:rPr sz="2400" spc="-95" dirty="0">
                <a:latin typeface="Trebuchet MS" panose="020B0603020202020204" pitchFamily="34" charset="0"/>
                <a:cs typeface="Arial MT"/>
              </a:rPr>
              <a:t> </a:t>
            </a:r>
            <a:r>
              <a:rPr sz="2400" dirty="0">
                <a:latin typeface="Trebuchet MS" panose="020B0603020202020204" pitchFamily="34" charset="0"/>
                <a:cs typeface="Arial MT"/>
              </a:rPr>
              <a:t>reliable</a:t>
            </a:r>
            <a:r>
              <a:rPr sz="2400" spc="-65" dirty="0">
                <a:latin typeface="Trebuchet MS" panose="020B0603020202020204" pitchFamily="34" charset="0"/>
                <a:cs typeface="Arial MT"/>
              </a:rPr>
              <a:t> </a:t>
            </a:r>
            <a:r>
              <a:rPr sz="2400" dirty="0">
                <a:latin typeface="Trebuchet MS" panose="020B0603020202020204" pitchFamily="34" charset="0"/>
                <a:cs typeface="Arial MT"/>
              </a:rPr>
              <a:t>transportation</a:t>
            </a:r>
            <a:r>
              <a:rPr sz="2400" spc="-95" dirty="0">
                <a:latin typeface="Trebuchet MS" panose="020B0603020202020204" pitchFamily="34" charset="0"/>
                <a:cs typeface="Arial MT"/>
              </a:rPr>
              <a:t> </a:t>
            </a:r>
            <a:r>
              <a:rPr sz="2400" spc="-10" dirty="0">
                <a:latin typeface="Trebuchet MS" panose="020B0603020202020204" pitchFamily="34" charset="0"/>
                <a:cs typeface="Arial MT"/>
              </a:rPr>
              <a:t>systems.</a:t>
            </a:r>
            <a:endParaRPr sz="2400" dirty="0">
              <a:latin typeface="Trebuchet MS" panose="020B0603020202020204" pitchFamily="34" charset="0"/>
              <a:cs typeface="Arial MT"/>
            </a:endParaRPr>
          </a:p>
        </p:txBody>
      </p:sp>
      <p:sp>
        <p:nvSpPr>
          <p:cNvPr id="4" name="object 4"/>
          <p:cNvSpPr txBox="1">
            <a:spLocks noGrp="1"/>
          </p:cNvSpPr>
          <p:nvPr>
            <p:ph type="title"/>
          </p:nvPr>
        </p:nvSpPr>
        <p:spPr>
          <a:prstGeom prst="rect">
            <a:avLst/>
          </a:prstGeom>
        </p:spPr>
        <p:txBody>
          <a:bodyPr vert="horz" wrap="square" lIns="0" tIns="12700" rIns="0" bIns="0" rtlCol="0">
            <a:spAutoFit/>
          </a:bodyPr>
          <a:lstStyle/>
          <a:p>
            <a:pPr marL="3509010">
              <a:lnSpc>
                <a:spcPct val="100000"/>
              </a:lnSpc>
              <a:spcBef>
                <a:spcPts val="100"/>
              </a:spcBef>
            </a:pPr>
            <a:r>
              <a:rPr spc="-10" dirty="0"/>
              <a:t>Abstract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3048000" y="1581213"/>
            <a:ext cx="7620000" cy="36830"/>
          </a:xfrm>
          <a:custGeom>
            <a:avLst/>
            <a:gdLst/>
            <a:ahLst/>
            <a:cxnLst/>
            <a:rect l="l" t="t" r="r" b="b"/>
            <a:pathLst>
              <a:path w="7620000" h="36830">
                <a:moveTo>
                  <a:pt x="7620000" y="0"/>
                </a:moveTo>
                <a:lnTo>
                  <a:pt x="0" y="0"/>
                </a:lnTo>
                <a:lnTo>
                  <a:pt x="0" y="36512"/>
                </a:lnTo>
                <a:lnTo>
                  <a:pt x="7620000" y="36512"/>
                </a:lnTo>
                <a:lnTo>
                  <a:pt x="7620000" y="0"/>
                </a:lnTo>
                <a:close/>
              </a:path>
            </a:pathLst>
          </a:custGeom>
          <a:solidFill>
            <a:srgbClr val="33CCCC"/>
          </a:solidFill>
        </p:spPr>
        <p:txBody>
          <a:bodyPr wrap="square" lIns="0" tIns="0" rIns="0" bIns="0" rtlCol="0"/>
          <a:lstStyle/>
          <a:p>
            <a:endParaRPr/>
          </a:p>
        </p:txBody>
      </p:sp>
      <p:sp>
        <p:nvSpPr>
          <p:cNvPr id="3" name="object 3"/>
          <p:cNvSpPr txBox="1"/>
          <p:nvPr/>
        </p:nvSpPr>
        <p:spPr>
          <a:xfrm>
            <a:off x="1549400" y="1185417"/>
            <a:ext cx="8719185" cy="3005951"/>
          </a:xfrm>
          <a:prstGeom prst="rect">
            <a:avLst/>
          </a:prstGeom>
        </p:spPr>
        <p:txBody>
          <a:bodyPr vert="horz" wrap="square" lIns="0" tIns="12700" rIns="0" bIns="0" rtlCol="0">
            <a:spAutoFit/>
          </a:bodyPr>
          <a:lstStyle/>
          <a:p>
            <a:pPr marR="5080" algn="r">
              <a:lnSpc>
                <a:spcPct val="100000"/>
              </a:lnSpc>
              <a:spcBef>
                <a:spcPts val="100"/>
              </a:spcBef>
            </a:pPr>
            <a:r>
              <a:rPr sz="2400" spc="-10" dirty="0">
                <a:solidFill>
                  <a:srgbClr val="FF0000"/>
                </a:solidFill>
                <a:latin typeface="Trebuchet MS" panose="020B0603020202020204" pitchFamily="34" charset="0"/>
                <a:cs typeface="Trebuchet MS"/>
              </a:rPr>
              <a:t>Scope</a:t>
            </a:r>
            <a:endParaRPr sz="2400" dirty="0">
              <a:latin typeface="Trebuchet MS" panose="020B0603020202020204" pitchFamily="34" charset="0"/>
              <a:cs typeface="Trebuchet MS"/>
            </a:endParaRPr>
          </a:p>
          <a:p>
            <a:pPr>
              <a:lnSpc>
                <a:spcPct val="100000"/>
              </a:lnSpc>
              <a:spcBef>
                <a:spcPts val="295"/>
              </a:spcBef>
            </a:pPr>
            <a:endParaRPr sz="2400" dirty="0">
              <a:latin typeface="Trebuchet MS" panose="020B0603020202020204" pitchFamily="34" charset="0"/>
              <a:cs typeface="Trebuchet MS"/>
            </a:endParaRPr>
          </a:p>
          <a:p>
            <a:pPr marL="12700" marR="5715" algn="just">
              <a:lnSpc>
                <a:spcPct val="99900"/>
              </a:lnSpc>
            </a:pPr>
            <a:r>
              <a:rPr sz="2400" dirty="0">
                <a:latin typeface="Trebuchet MS" panose="020B0603020202020204" pitchFamily="34" charset="0"/>
                <a:cs typeface="Arial MT"/>
              </a:rPr>
              <a:t>The</a:t>
            </a:r>
            <a:r>
              <a:rPr sz="2400" spc="225" dirty="0">
                <a:latin typeface="Trebuchet MS" panose="020B0603020202020204" pitchFamily="34" charset="0"/>
                <a:cs typeface="Arial MT"/>
              </a:rPr>
              <a:t> </a:t>
            </a:r>
            <a:r>
              <a:rPr sz="2400" dirty="0">
                <a:latin typeface="Trebuchet MS" panose="020B0603020202020204" pitchFamily="34" charset="0"/>
                <a:cs typeface="Arial MT"/>
              </a:rPr>
              <a:t>main</a:t>
            </a:r>
            <a:r>
              <a:rPr sz="2400" spc="235" dirty="0">
                <a:latin typeface="Trebuchet MS" panose="020B0603020202020204" pitchFamily="34" charset="0"/>
                <a:cs typeface="Arial MT"/>
              </a:rPr>
              <a:t> </a:t>
            </a:r>
            <a:r>
              <a:rPr sz="2400" dirty="0">
                <a:latin typeface="Trebuchet MS" panose="020B0603020202020204" pitchFamily="34" charset="0"/>
                <a:cs typeface="Arial MT"/>
              </a:rPr>
              <a:t>scope</a:t>
            </a:r>
            <a:r>
              <a:rPr sz="2400" spc="220" dirty="0">
                <a:latin typeface="Trebuchet MS" panose="020B0603020202020204" pitchFamily="34" charset="0"/>
                <a:cs typeface="Arial MT"/>
              </a:rPr>
              <a:t> </a:t>
            </a:r>
            <a:r>
              <a:rPr sz="2400" dirty="0">
                <a:latin typeface="Trebuchet MS" panose="020B0603020202020204" pitchFamily="34" charset="0"/>
                <a:cs typeface="Arial MT"/>
              </a:rPr>
              <a:t>of</a:t>
            </a:r>
            <a:r>
              <a:rPr sz="2400" spc="229" dirty="0">
                <a:latin typeface="Trebuchet MS" panose="020B0603020202020204" pitchFamily="34" charset="0"/>
                <a:cs typeface="Arial MT"/>
              </a:rPr>
              <a:t> </a:t>
            </a:r>
            <a:r>
              <a:rPr sz="2400" dirty="0">
                <a:latin typeface="Trebuchet MS" panose="020B0603020202020204" pitchFamily="34" charset="0"/>
                <a:cs typeface="Arial MT"/>
              </a:rPr>
              <a:t>this</a:t>
            </a:r>
            <a:r>
              <a:rPr sz="2400" spc="220" dirty="0">
                <a:latin typeface="Trebuchet MS" panose="020B0603020202020204" pitchFamily="34" charset="0"/>
                <a:cs typeface="Arial MT"/>
              </a:rPr>
              <a:t> </a:t>
            </a:r>
            <a:r>
              <a:rPr sz="2400" dirty="0">
                <a:latin typeface="Trebuchet MS" panose="020B0603020202020204" pitchFamily="34" charset="0"/>
                <a:cs typeface="Arial MT"/>
              </a:rPr>
              <a:t>project</a:t>
            </a:r>
            <a:r>
              <a:rPr sz="2400" spc="235" dirty="0">
                <a:latin typeface="Trebuchet MS" panose="020B0603020202020204" pitchFamily="34" charset="0"/>
                <a:cs typeface="Arial MT"/>
              </a:rPr>
              <a:t> </a:t>
            </a:r>
            <a:r>
              <a:rPr sz="2400" dirty="0">
                <a:latin typeface="Trebuchet MS" panose="020B0603020202020204" pitchFamily="34" charset="0"/>
                <a:cs typeface="Arial MT"/>
              </a:rPr>
              <a:t>is</a:t>
            </a:r>
            <a:r>
              <a:rPr sz="2400" spc="215" dirty="0">
                <a:latin typeface="Trebuchet MS" panose="020B0603020202020204" pitchFamily="34" charset="0"/>
                <a:cs typeface="Arial MT"/>
              </a:rPr>
              <a:t> </a:t>
            </a:r>
            <a:r>
              <a:rPr sz="2400" dirty="0">
                <a:latin typeface="Trebuchet MS" panose="020B0603020202020204" pitchFamily="34" charset="0"/>
                <a:cs typeface="Arial MT"/>
              </a:rPr>
              <a:t>to</a:t>
            </a:r>
            <a:r>
              <a:rPr sz="2400" spc="225" dirty="0">
                <a:latin typeface="Trebuchet MS" panose="020B0603020202020204" pitchFamily="34" charset="0"/>
                <a:cs typeface="Arial MT"/>
              </a:rPr>
              <a:t> </a:t>
            </a:r>
            <a:r>
              <a:rPr sz="2400" dirty="0">
                <a:latin typeface="Trebuchet MS" panose="020B0603020202020204" pitchFamily="34" charset="0"/>
                <a:cs typeface="Arial MT"/>
              </a:rPr>
              <a:t>detect</a:t>
            </a:r>
            <a:r>
              <a:rPr sz="2400" spc="220" dirty="0">
                <a:latin typeface="Trebuchet MS" panose="020B0603020202020204" pitchFamily="34" charset="0"/>
                <a:cs typeface="Arial MT"/>
              </a:rPr>
              <a:t> </a:t>
            </a:r>
            <a:r>
              <a:rPr sz="2400" dirty="0">
                <a:latin typeface="Trebuchet MS" panose="020B0603020202020204" pitchFamily="34" charset="0"/>
                <a:cs typeface="Arial MT"/>
              </a:rPr>
              <a:t>and</a:t>
            </a:r>
            <a:r>
              <a:rPr sz="2400" spc="225" dirty="0">
                <a:latin typeface="Trebuchet MS" panose="020B0603020202020204" pitchFamily="34" charset="0"/>
                <a:cs typeface="Arial MT"/>
              </a:rPr>
              <a:t> </a:t>
            </a:r>
            <a:r>
              <a:rPr sz="2400" dirty="0">
                <a:latin typeface="Trebuchet MS" panose="020B0603020202020204" pitchFamily="34" charset="0"/>
                <a:cs typeface="Arial MT"/>
              </a:rPr>
              <a:t>prevent</a:t>
            </a:r>
            <a:r>
              <a:rPr sz="2400" spc="225" dirty="0">
                <a:latin typeface="Trebuchet MS" panose="020B0603020202020204" pitchFamily="34" charset="0"/>
                <a:cs typeface="Arial MT"/>
              </a:rPr>
              <a:t> </a:t>
            </a:r>
            <a:r>
              <a:rPr sz="2400" spc="-10" dirty="0">
                <a:latin typeface="Trebuchet MS" panose="020B0603020202020204" pitchFamily="34" charset="0"/>
                <a:cs typeface="Arial MT"/>
              </a:rPr>
              <a:t>unsafe </a:t>
            </a:r>
            <a:r>
              <a:rPr sz="2400" dirty="0">
                <a:latin typeface="Trebuchet MS" panose="020B0603020202020204" pitchFamily="34" charset="0"/>
                <a:cs typeface="Arial MT"/>
              </a:rPr>
              <a:t>driving</a:t>
            </a:r>
            <a:r>
              <a:rPr sz="2400" spc="335" dirty="0">
                <a:latin typeface="Trebuchet MS" panose="020B0603020202020204" pitchFamily="34" charset="0"/>
                <a:cs typeface="Arial MT"/>
              </a:rPr>
              <a:t> </a:t>
            </a:r>
            <a:r>
              <a:rPr sz="2400" dirty="0">
                <a:latin typeface="Trebuchet MS" panose="020B0603020202020204" pitchFamily="34" charset="0"/>
                <a:cs typeface="Arial MT"/>
              </a:rPr>
              <a:t>behaviors</a:t>
            </a:r>
            <a:r>
              <a:rPr sz="2400" spc="340" dirty="0">
                <a:latin typeface="Trebuchet MS" panose="020B0603020202020204" pitchFamily="34" charset="0"/>
                <a:cs typeface="Arial MT"/>
              </a:rPr>
              <a:t> </a:t>
            </a:r>
            <a:r>
              <a:rPr sz="2400" dirty="0">
                <a:latin typeface="Trebuchet MS" panose="020B0603020202020204" pitchFamily="34" charset="0"/>
                <a:cs typeface="Arial MT"/>
              </a:rPr>
              <a:t>in</a:t>
            </a:r>
            <a:r>
              <a:rPr sz="2400" spc="325" dirty="0">
                <a:latin typeface="Trebuchet MS" panose="020B0603020202020204" pitchFamily="34" charset="0"/>
                <a:cs typeface="Arial MT"/>
              </a:rPr>
              <a:t> </a:t>
            </a:r>
            <a:r>
              <a:rPr sz="2400" dirty="0">
                <a:latin typeface="Trebuchet MS" panose="020B0603020202020204" pitchFamily="34" charset="0"/>
                <a:cs typeface="Arial MT"/>
              </a:rPr>
              <a:t>real</a:t>
            </a:r>
            <a:r>
              <a:rPr sz="2400" spc="330" dirty="0">
                <a:latin typeface="Trebuchet MS" panose="020B0603020202020204" pitchFamily="34" charset="0"/>
                <a:cs typeface="Arial MT"/>
              </a:rPr>
              <a:t> </a:t>
            </a:r>
            <a:r>
              <a:rPr sz="2400" dirty="0">
                <a:latin typeface="Trebuchet MS" panose="020B0603020202020204" pitchFamily="34" charset="0"/>
                <a:cs typeface="Arial MT"/>
              </a:rPr>
              <a:t>time</a:t>
            </a:r>
            <a:r>
              <a:rPr sz="2400" spc="330" dirty="0">
                <a:latin typeface="Trebuchet MS" panose="020B0603020202020204" pitchFamily="34" charset="0"/>
                <a:cs typeface="Arial MT"/>
              </a:rPr>
              <a:t> </a:t>
            </a:r>
            <a:r>
              <a:rPr sz="2400" dirty="0">
                <a:latin typeface="Trebuchet MS" panose="020B0603020202020204" pitchFamily="34" charset="0"/>
                <a:cs typeface="Arial MT"/>
              </a:rPr>
              <a:t>using</a:t>
            </a:r>
            <a:r>
              <a:rPr sz="2400" spc="330" dirty="0">
                <a:latin typeface="Trebuchet MS" panose="020B0603020202020204" pitchFamily="34" charset="0"/>
                <a:cs typeface="Arial MT"/>
              </a:rPr>
              <a:t> </a:t>
            </a:r>
            <a:r>
              <a:rPr sz="2400" dirty="0">
                <a:latin typeface="Trebuchet MS" panose="020B0603020202020204" pitchFamily="34" charset="0"/>
                <a:cs typeface="Arial MT"/>
              </a:rPr>
              <a:t>deep</a:t>
            </a:r>
            <a:r>
              <a:rPr sz="2400" spc="330" dirty="0">
                <a:latin typeface="Trebuchet MS" panose="020B0603020202020204" pitchFamily="34" charset="0"/>
                <a:cs typeface="Arial MT"/>
              </a:rPr>
              <a:t> </a:t>
            </a:r>
            <a:r>
              <a:rPr sz="2400" dirty="0">
                <a:latin typeface="Trebuchet MS" panose="020B0603020202020204" pitchFamily="34" charset="0"/>
                <a:cs typeface="Arial MT"/>
              </a:rPr>
              <a:t>learning</a:t>
            </a:r>
            <a:r>
              <a:rPr sz="2400" spc="335" dirty="0">
                <a:latin typeface="Trebuchet MS" panose="020B0603020202020204" pitchFamily="34" charset="0"/>
                <a:cs typeface="Arial MT"/>
              </a:rPr>
              <a:t> </a:t>
            </a:r>
            <a:r>
              <a:rPr sz="2400" spc="-10" dirty="0">
                <a:latin typeface="Trebuchet MS" panose="020B0603020202020204" pitchFamily="34" charset="0"/>
                <a:cs typeface="Arial MT"/>
              </a:rPr>
              <a:t>techniques. </a:t>
            </a:r>
            <a:r>
              <a:rPr sz="2400" dirty="0">
                <a:latin typeface="Trebuchet MS" panose="020B0603020202020204" pitchFamily="34" charset="0"/>
                <a:cs typeface="Arial MT"/>
              </a:rPr>
              <a:t>By</a:t>
            </a:r>
            <a:r>
              <a:rPr sz="2400" spc="10" dirty="0">
                <a:latin typeface="Trebuchet MS" panose="020B0603020202020204" pitchFamily="34" charset="0"/>
                <a:cs typeface="Arial MT"/>
              </a:rPr>
              <a:t>  </a:t>
            </a:r>
            <a:r>
              <a:rPr sz="2400" dirty="0">
                <a:latin typeface="Trebuchet MS" panose="020B0603020202020204" pitchFamily="34" charset="0"/>
                <a:cs typeface="Arial MT"/>
              </a:rPr>
              <a:t>analyzing</a:t>
            </a:r>
            <a:r>
              <a:rPr sz="2400" spc="15" dirty="0">
                <a:latin typeface="Trebuchet MS" panose="020B0603020202020204" pitchFamily="34" charset="0"/>
                <a:cs typeface="Arial MT"/>
              </a:rPr>
              <a:t>  </a:t>
            </a:r>
            <a:r>
              <a:rPr sz="2400" dirty="0">
                <a:latin typeface="Trebuchet MS" panose="020B0603020202020204" pitchFamily="34" charset="0"/>
                <a:cs typeface="Arial MT"/>
              </a:rPr>
              <a:t>driver</a:t>
            </a:r>
            <a:r>
              <a:rPr sz="2400" spc="15" dirty="0">
                <a:latin typeface="Trebuchet MS" panose="020B0603020202020204" pitchFamily="34" charset="0"/>
                <a:cs typeface="Arial MT"/>
              </a:rPr>
              <a:t>  </a:t>
            </a:r>
            <a:r>
              <a:rPr sz="2400" dirty="0">
                <a:latin typeface="Trebuchet MS" panose="020B0603020202020204" pitchFamily="34" charset="0"/>
                <a:cs typeface="Arial MT"/>
              </a:rPr>
              <a:t>actions</a:t>
            </a:r>
            <a:r>
              <a:rPr sz="2400" spc="15" dirty="0">
                <a:latin typeface="Trebuchet MS" panose="020B0603020202020204" pitchFamily="34" charset="0"/>
                <a:cs typeface="Arial MT"/>
              </a:rPr>
              <a:t>  </a:t>
            </a:r>
            <a:r>
              <a:rPr sz="2400" dirty="0">
                <a:latin typeface="Trebuchet MS" panose="020B0603020202020204" pitchFamily="34" charset="0"/>
                <a:cs typeface="Arial MT"/>
              </a:rPr>
              <a:t>and</a:t>
            </a:r>
            <a:r>
              <a:rPr sz="2400" spc="15" dirty="0">
                <a:latin typeface="Trebuchet MS" panose="020B0603020202020204" pitchFamily="34" charset="0"/>
                <a:cs typeface="Arial MT"/>
              </a:rPr>
              <a:t>  </a:t>
            </a:r>
            <a:r>
              <a:rPr sz="2400" dirty="0">
                <a:latin typeface="Trebuchet MS" panose="020B0603020202020204" pitchFamily="34" charset="0"/>
                <a:cs typeface="Arial MT"/>
              </a:rPr>
              <a:t>generating</a:t>
            </a:r>
            <a:r>
              <a:rPr sz="2400" spc="10" dirty="0">
                <a:latin typeface="Trebuchet MS" panose="020B0603020202020204" pitchFamily="34" charset="0"/>
                <a:cs typeface="Arial MT"/>
              </a:rPr>
              <a:t>  </a:t>
            </a:r>
            <a:r>
              <a:rPr sz="2400" dirty="0">
                <a:latin typeface="Trebuchet MS" panose="020B0603020202020204" pitchFamily="34" charset="0"/>
                <a:cs typeface="Arial MT"/>
              </a:rPr>
              <a:t>early</a:t>
            </a:r>
            <a:r>
              <a:rPr sz="2400" spc="15" dirty="0">
                <a:latin typeface="Trebuchet MS" panose="020B0603020202020204" pitchFamily="34" charset="0"/>
                <a:cs typeface="Arial MT"/>
              </a:rPr>
              <a:t>  </a:t>
            </a:r>
            <a:r>
              <a:rPr sz="2400" dirty="0">
                <a:latin typeface="Trebuchet MS" panose="020B0603020202020204" pitchFamily="34" charset="0"/>
                <a:cs typeface="Arial MT"/>
              </a:rPr>
              <a:t>alerts,</a:t>
            </a:r>
            <a:r>
              <a:rPr sz="2400" spc="15" dirty="0">
                <a:latin typeface="Trebuchet MS" panose="020B0603020202020204" pitchFamily="34" charset="0"/>
                <a:cs typeface="Arial MT"/>
              </a:rPr>
              <a:t>  </a:t>
            </a:r>
            <a:r>
              <a:rPr sz="2400" spc="-25" dirty="0">
                <a:latin typeface="Trebuchet MS" panose="020B0603020202020204" pitchFamily="34" charset="0"/>
                <a:cs typeface="Arial MT"/>
              </a:rPr>
              <a:t>the </a:t>
            </a:r>
            <a:r>
              <a:rPr sz="2400" dirty="0">
                <a:latin typeface="Trebuchet MS" panose="020B0603020202020204" pitchFamily="34" charset="0"/>
                <a:cs typeface="Arial MT"/>
              </a:rPr>
              <a:t>system</a:t>
            </a:r>
            <a:r>
              <a:rPr sz="2400" spc="325" dirty="0">
                <a:latin typeface="Trebuchet MS" panose="020B0603020202020204" pitchFamily="34" charset="0"/>
                <a:cs typeface="Arial MT"/>
              </a:rPr>
              <a:t> </a:t>
            </a:r>
            <a:r>
              <a:rPr sz="2400" dirty="0">
                <a:latin typeface="Trebuchet MS" panose="020B0603020202020204" pitchFamily="34" charset="0"/>
                <a:cs typeface="Arial MT"/>
              </a:rPr>
              <a:t>aims</a:t>
            </a:r>
            <a:r>
              <a:rPr sz="2400" spc="325" dirty="0">
                <a:latin typeface="Trebuchet MS" panose="020B0603020202020204" pitchFamily="34" charset="0"/>
                <a:cs typeface="Arial MT"/>
              </a:rPr>
              <a:t> </a:t>
            </a:r>
            <a:r>
              <a:rPr sz="2400" dirty="0">
                <a:latin typeface="Trebuchet MS" panose="020B0603020202020204" pitchFamily="34" charset="0"/>
                <a:cs typeface="Arial MT"/>
              </a:rPr>
              <a:t>to</a:t>
            </a:r>
            <a:r>
              <a:rPr sz="2400" spc="325" dirty="0">
                <a:latin typeface="Trebuchet MS" panose="020B0603020202020204" pitchFamily="34" charset="0"/>
                <a:cs typeface="Arial MT"/>
              </a:rPr>
              <a:t> </a:t>
            </a:r>
            <a:r>
              <a:rPr sz="2400" dirty="0">
                <a:latin typeface="Trebuchet MS" panose="020B0603020202020204" pitchFamily="34" charset="0"/>
                <a:cs typeface="Arial MT"/>
              </a:rPr>
              <a:t>reduce</a:t>
            </a:r>
            <a:r>
              <a:rPr sz="2400" spc="335" dirty="0">
                <a:latin typeface="Trebuchet MS" panose="020B0603020202020204" pitchFamily="34" charset="0"/>
                <a:cs typeface="Arial MT"/>
              </a:rPr>
              <a:t> </a:t>
            </a:r>
            <a:r>
              <a:rPr sz="2400" dirty="0">
                <a:latin typeface="Trebuchet MS" panose="020B0603020202020204" pitchFamily="34" charset="0"/>
                <a:cs typeface="Arial MT"/>
              </a:rPr>
              <a:t>accidents</a:t>
            </a:r>
            <a:r>
              <a:rPr sz="2400" spc="335" dirty="0">
                <a:latin typeface="Trebuchet MS" panose="020B0603020202020204" pitchFamily="34" charset="0"/>
                <a:cs typeface="Arial MT"/>
              </a:rPr>
              <a:t> </a:t>
            </a:r>
            <a:r>
              <a:rPr sz="2400" dirty="0">
                <a:latin typeface="Trebuchet MS" panose="020B0603020202020204" pitchFamily="34" charset="0"/>
                <a:cs typeface="Arial MT"/>
              </a:rPr>
              <a:t>caused</a:t>
            </a:r>
            <a:r>
              <a:rPr sz="2400" spc="330" dirty="0">
                <a:latin typeface="Trebuchet MS" panose="020B0603020202020204" pitchFamily="34" charset="0"/>
                <a:cs typeface="Arial MT"/>
              </a:rPr>
              <a:t> </a:t>
            </a:r>
            <a:r>
              <a:rPr sz="2400" dirty="0">
                <a:latin typeface="Trebuchet MS" panose="020B0603020202020204" pitchFamily="34" charset="0"/>
                <a:cs typeface="Arial MT"/>
              </a:rPr>
              <a:t>by</a:t>
            </a:r>
            <a:r>
              <a:rPr sz="2400" spc="330" dirty="0">
                <a:latin typeface="Trebuchet MS" panose="020B0603020202020204" pitchFamily="34" charset="0"/>
                <a:cs typeface="Arial MT"/>
              </a:rPr>
              <a:t> </a:t>
            </a:r>
            <a:r>
              <a:rPr sz="2400" dirty="0">
                <a:latin typeface="Trebuchet MS" panose="020B0603020202020204" pitchFamily="34" charset="0"/>
                <a:cs typeface="Arial MT"/>
              </a:rPr>
              <a:t>human</a:t>
            </a:r>
            <a:r>
              <a:rPr sz="2400" spc="335" dirty="0">
                <a:latin typeface="Trebuchet MS" panose="020B0603020202020204" pitchFamily="34" charset="0"/>
                <a:cs typeface="Arial MT"/>
              </a:rPr>
              <a:t> </a:t>
            </a:r>
            <a:r>
              <a:rPr sz="2400" dirty="0">
                <a:latin typeface="Trebuchet MS" panose="020B0603020202020204" pitchFamily="34" charset="0"/>
                <a:cs typeface="Arial MT"/>
              </a:rPr>
              <a:t>error</a:t>
            </a:r>
            <a:r>
              <a:rPr sz="2400" spc="340" dirty="0">
                <a:latin typeface="Trebuchet MS" panose="020B0603020202020204" pitchFamily="34" charset="0"/>
                <a:cs typeface="Arial MT"/>
              </a:rPr>
              <a:t> </a:t>
            </a:r>
            <a:r>
              <a:rPr sz="2400" spc="-25" dirty="0">
                <a:latin typeface="Trebuchet MS" panose="020B0603020202020204" pitchFamily="34" charset="0"/>
                <a:cs typeface="Arial MT"/>
              </a:rPr>
              <a:t>and </a:t>
            </a:r>
            <a:r>
              <a:rPr sz="2400" dirty="0">
                <a:latin typeface="Trebuchet MS" panose="020B0603020202020204" pitchFamily="34" charset="0"/>
                <a:cs typeface="Arial MT"/>
              </a:rPr>
              <a:t>promote</a:t>
            </a:r>
            <a:r>
              <a:rPr sz="2400" spc="-95" dirty="0">
                <a:latin typeface="Trebuchet MS" panose="020B0603020202020204" pitchFamily="34" charset="0"/>
                <a:cs typeface="Arial MT"/>
              </a:rPr>
              <a:t> </a:t>
            </a:r>
            <a:r>
              <a:rPr sz="2400" spc="-10" dirty="0">
                <a:latin typeface="Trebuchet MS" panose="020B0603020202020204" pitchFamily="34" charset="0"/>
                <a:cs typeface="Arial MT"/>
              </a:rPr>
              <a:t>safer,</a:t>
            </a:r>
            <a:r>
              <a:rPr sz="2400" spc="-110" dirty="0">
                <a:latin typeface="Trebuchet MS" panose="020B0603020202020204" pitchFamily="34" charset="0"/>
                <a:cs typeface="Arial MT"/>
              </a:rPr>
              <a:t> </a:t>
            </a:r>
            <a:r>
              <a:rPr sz="2400" dirty="0">
                <a:latin typeface="Trebuchet MS" panose="020B0603020202020204" pitchFamily="34" charset="0"/>
                <a:cs typeface="Arial MT"/>
              </a:rPr>
              <a:t>smarter</a:t>
            </a:r>
            <a:r>
              <a:rPr sz="2400" spc="-100" dirty="0">
                <a:latin typeface="Trebuchet MS" panose="020B0603020202020204" pitchFamily="34" charset="0"/>
                <a:cs typeface="Arial MT"/>
              </a:rPr>
              <a:t> </a:t>
            </a:r>
            <a:r>
              <a:rPr sz="2400" dirty="0">
                <a:latin typeface="Trebuchet MS" panose="020B0603020202020204" pitchFamily="34" charset="0"/>
                <a:cs typeface="Arial MT"/>
              </a:rPr>
              <a:t>transportation</a:t>
            </a:r>
            <a:r>
              <a:rPr sz="2400" spc="-90" dirty="0">
                <a:latin typeface="Trebuchet MS" panose="020B0603020202020204" pitchFamily="34" charset="0"/>
                <a:cs typeface="Arial MT"/>
              </a:rPr>
              <a:t> </a:t>
            </a:r>
            <a:r>
              <a:rPr sz="2400" spc="-10" dirty="0">
                <a:latin typeface="Trebuchet MS" panose="020B0603020202020204" pitchFamily="34" charset="0"/>
                <a:cs typeface="Arial MT"/>
              </a:rPr>
              <a:t>systems.</a:t>
            </a:r>
            <a:endParaRPr sz="2400" dirty="0">
              <a:latin typeface="Trebuchet MS" panose="020B0603020202020204" pitchFamily="34" charset="0"/>
              <a:cs typeface="Arial MT"/>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2927604" y="1010348"/>
            <a:ext cx="7620000" cy="36830"/>
          </a:xfrm>
          <a:custGeom>
            <a:avLst/>
            <a:gdLst/>
            <a:ahLst/>
            <a:cxnLst/>
            <a:rect l="l" t="t" r="r" b="b"/>
            <a:pathLst>
              <a:path w="7620000" h="36830">
                <a:moveTo>
                  <a:pt x="7620000" y="0"/>
                </a:moveTo>
                <a:lnTo>
                  <a:pt x="0" y="0"/>
                </a:lnTo>
                <a:lnTo>
                  <a:pt x="0" y="36512"/>
                </a:lnTo>
                <a:lnTo>
                  <a:pt x="7620000" y="36512"/>
                </a:lnTo>
                <a:lnTo>
                  <a:pt x="7620000" y="0"/>
                </a:lnTo>
                <a:close/>
              </a:path>
            </a:pathLst>
          </a:custGeom>
          <a:solidFill>
            <a:srgbClr val="33CCCC"/>
          </a:solidFill>
        </p:spPr>
        <p:txBody>
          <a:bodyPr wrap="square" lIns="0" tIns="0" rIns="0" bIns="0" rtlCol="0"/>
          <a:lstStyle/>
          <a:p>
            <a:endParaRPr/>
          </a:p>
        </p:txBody>
      </p:sp>
      <p:sp>
        <p:nvSpPr>
          <p:cNvPr id="3" name="object 3"/>
          <p:cNvSpPr txBox="1"/>
          <p:nvPr/>
        </p:nvSpPr>
        <p:spPr>
          <a:xfrm>
            <a:off x="927735" y="609600"/>
            <a:ext cx="10807065" cy="5301451"/>
          </a:xfrm>
          <a:prstGeom prst="rect">
            <a:avLst/>
          </a:prstGeom>
        </p:spPr>
        <p:txBody>
          <a:bodyPr vert="horz" wrap="square" lIns="0" tIns="12700" rIns="0" bIns="0" rtlCol="0">
            <a:spAutoFit/>
          </a:bodyPr>
          <a:lstStyle/>
          <a:p>
            <a:pPr marL="5570220">
              <a:lnSpc>
                <a:spcPct val="100000"/>
              </a:lnSpc>
              <a:spcBef>
                <a:spcPts val="100"/>
              </a:spcBef>
            </a:pPr>
            <a:r>
              <a:rPr sz="2400" dirty="0">
                <a:solidFill>
                  <a:srgbClr val="FF0000"/>
                </a:solidFill>
                <a:latin typeface="Trebuchet MS"/>
                <a:cs typeface="Trebuchet MS"/>
              </a:rPr>
              <a:t>Suggestions</a:t>
            </a:r>
            <a:r>
              <a:rPr sz="2400" spc="-50" dirty="0">
                <a:solidFill>
                  <a:srgbClr val="FF0000"/>
                </a:solidFill>
                <a:latin typeface="Trebuchet MS"/>
                <a:cs typeface="Trebuchet MS"/>
              </a:rPr>
              <a:t> </a:t>
            </a:r>
            <a:r>
              <a:rPr sz="2400" dirty="0">
                <a:solidFill>
                  <a:srgbClr val="FF0000"/>
                </a:solidFill>
                <a:latin typeface="Trebuchet MS"/>
                <a:cs typeface="Trebuchet MS"/>
              </a:rPr>
              <a:t>from</a:t>
            </a:r>
            <a:r>
              <a:rPr sz="2400" spc="-75" dirty="0">
                <a:solidFill>
                  <a:srgbClr val="FF0000"/>
                </a:solidFill>
                <a:latin typeface="Trebuchet MS"/>
                <a:cs typeface="Trebuchet MS"/>
              </a:rPr>
              <a:t> </a:t>
            </a:r>
            <a:r>
              <a:rPr sz="2400" spc="-10" dirty="0">
                <a:solidFill>
                  <a:srgbClr val="FF0000"/>
                </a:solidFill>
                <a:latin typeface="Trebuchet MS"/>
                <a:cs typeface="Trebuchet MS"/>
              </a:rPr>
              <a:t>Review</a:t>
            </a:r>
            <a:r>
              <a:rPr sz="2400" spc="-50" dirty="0">
                <a:solidFill>
                  <a:srgbClr val="FF0000"/>
                </a:solidFill>
                <a:latin typeface="Trebuchet MS"/>
                <a:cs typeface="Trebuchet MS"/>
              </a:rPr>
              <a:t> </a:t>
            </a:r>
            <a:r>
              <a:rPr sz="2400" dirty="0">
                <a:solidFill>
                  <a:srgbClr val="FF0000"/>
                </a:solidFill>
                <a:latin typeface="Trebuchet MS"/>
                <a:cs typeface="Trebuchet MS"/>
              </a:rPr>
              <a:t>-</a:t>
            </a:r>
            <a:r>
              <a:rPr sz="2400" spc="-70" dirty="0">
                <a:solidFill>
                  <a:srgbClr val="FF0000"/>
                </a:solidFill>
                <a:latin typeface="Trebuchet MS"/>
                <a:cs typeface="Trebuchet MS"/>
              </a:rPr>
              <a:t> </a:t>
            </a:r>
            <a:r>
              <a:rPr sz="2400" spc="-50" dirty="0">
                <a:solidFill>
                  <a:srgbClr val="FF0000"/>
                </a:solidFill>
                <a:latin typeface="Trebuchet MS"/>
                <a:cs typeface="Trebuchet MS"/>
              </a:rPr>
              <a:t>1</a:t>
            </a:r>
            <a:endParaRPr sz="2400" dirty="0">
              <a:latin typeface="Trebuchet MS"/>
              <a:cs typeface="Trebuchet MS"/>
            </a:endParaRPr>
          </a:p>
          <a:p>
            <a:pPr>
              <a:lnSpc>
                <a:spcPct val="100000"/>
              </a:lnSpc>
              <a:spcBef>
                <a:spcPts val="715"/>
              </a:spcBef>
            </a:pPr>
            <a:endParaRPr sz="2400" dirty="0">
              <a:latin typeface="Trebuchet MS"/>
              <a:cs typeface="Trebuchet MS"/>
            </a:endParaRPr>
          </a:p>
          <a:p>
            <a:pPr marL="12700">
              <a:lnSpc>
                <a:spcPct val="100000"/>
              </a:lnSpc>
            </a:pPr>
            <a:r>
              <a:rPr sz="2400" b="1" dirty="0">
                <a:latin typeface="Trebuchet MS" panose="020B0603020202020204" pitchFamily="34" charset="0"/>
                <a:cs typeface="Arial"/>
              </a:rPr>
              <a:t>Key</a:t>
            </a:r>
            <a:r>
              <a:rPr sz="2400" b="1" spc="-35" dirty="0">
                <a:latin typeface="Trebuchet MS" panose="020B0603020202020204" pitchFamily="34" charset="0"/>
                <a:cs typeface="Arial"/>
              </a:rPr>
              <a:t> </a:t>
            </a:r>
            <a:r>
              <a:rPr sz="2400" b="1" dirty="0">
                <a:latin typeface="Trebuchet MS" panose="020B0603020202020204" pitchFamily="34" charset="0"/>
                <a:cs typeface="Arial"/>
              </a:rPr>
              <a:t>suggestions</a:t>
            </a:r>
            <a:r>
              <a:rPr sz="2400" b="1" spc="-55" dirty="0">
                <a:latin typeface="Trebuchet MS" panose="020B0603020202020204" pitchFamily="34" charset="0"/>
                <a:cs typeface="Arial"/>
              </a:rPr>
              <a:t> </a:t>
            </a:r>
            <a:r>
              <a:rPr sz="2400" b="1" dirty="0">
                <a:latin typeface="Trebuchet MS" panose="020B0603020202020204" pitchFamily="34" charset="0"/>
                <a:cs typeface="Arial"/>
              </a:rPr>
              <a:t>and</a:t>
            </a:r>
            <a:r>
              <a:rPr sz="2400" b="1" spc="-45" dirty="0">
                <a:latin typeface="Trebuchet MS" panose="020B0603020202020204" pitchFamily="34" charset="0"/>
                <a:cs typeface="Arial"/>
              </a:rPr>
              <a:t> </a:t>
            </a:r>
            <a:r>
              <a:rPr sz="2400" b="1" dirty="0">
                <a:latin typeface="Trebuchet MS" panose="020B0603020202020204" pitchFamily="34" charset="0"/>
                <a:cs typeface="Arial"/>
              </a:rPr>
              <a:t>remarks</a:t>
            </a:r>
            <a:r>
              <a:rPr sz="2400" b="1" spc="-25" dirty="0">
                <a:latin typeface="Trebuchet MS" panose="020B0603020202020204" pitchFamily="34" charset="0"/>
                <a:cs typeface="Arial"/>
              </a:rPr>
              <a:t> </a:t>
            </a:r>
            <a:r>
              <a:rPr sz="2400" b="1" dirty="0">
                <a:latin typeface="Trebuchet MS" panose="020B0603020202020204" pitchFamily="34" charset="0"/>
                <a:cs typeface="Arial"/>
              </a:rPr>
              <a:t>by</a:t>
            </a:r>
            <a:r>
              <a:rPr sz="2400" b="1" spc="-45" dirty="0">
                <a:latin typeface="Trebuchet MS" panose="020B0603020202020204" pitchFamily="34" charset="0"/>
                <a:cs typeface="Arial"/>
              </a:rPr>
              <a:t> </a:t>
            </a:r>
            <a:r>
              <a:rPr sz="2400" b="1" dirty="0">
                <a:latin typeface="Trebuchet MS" panose="020B0603020202020204" pitchFamily="34" charset="0"/>
                <a:cs typeface="Arial"/>
              </a:rPr>
              <a:t>the</a:t>
            </a:r>
            <a:r>
              <a:rPr sz="2400" b="1" spc="-55" dirty="0">
                <a:latin typeface="Trebuchet MS" panose="020B0603020202020204" pitchFamily="34" charset="0"/>
                <a:cs typeface="Arial"/>
              </a:rPr>
              <a:t> </a:t>
            </a:r>
            <a:r>
              <a:rPr sz="2400" b="1" dirty="0">
                <a:latin typeface="Trebuchet MS" panose="020B0603020202020204" pitchFamily="34" charset="0"/>
                <a:cs typeface="Arial"/>
              </a:rPr>
              <a:t>panel</a:t>
            </a:r>
            <a:r>
              <a:rPr sz="2400" b="1" spc="-45" dirty="0">
                <a:latin typeface="Trebuchet MS" panose="020B0603020202020204" pitchFamily="34" charset="0"/>
                <a:cs typeface="Arial"/>
              </a:rPr>
              <a:t> </a:t>
            </a:r>
            <a:r>
              <a:rPr sz="2400" b="1" spc="-10" dirty="0">
                <a:latin typeface="Trebuchet MS" panose="020B0603020202020204" pitchFamily="34" charset="0"/>
                <a:cs typeface="Arial"/>
              </a:rPr>
              <a:t>members:</a:t>
            </a:r>
            <a:endParaRPr sz="2400" dirty="0">
              <a:latin typeface="Trebuchet MS" panose="020B0603020202020204" pitchFamily="34" charset="0"/>
              <a:cs typeface="Arial"/>
            </a:endParaRPr>
          </a:p>
          <a:p>
            <a:pPr>
              <a:lnSpc>
                <a:spcPct val="100000"/>
              </a:lnSpc>
              <a:spcBef>
                <a:spcPts val="1275"/>
              </a:spcBef>
            </a:pPr>
            <a:endParaRPr sz="2400" dirty="0">
              <a:latin typeface="Trebuchet MS" panose="020B0603020202020204" pitchFamily="34" charset="0"/>
              <a:cs typeface="Arial"/>
            </a:endParaRPr>
          </a:p>
          <a:p>
            <a:pPr marL="353060" marR="5715" indent="-340360" algn="just">
              <a:lnSpc>
                <a:spcPct val="100000"/>
              </a:lnSpc>
              <a:buChar char="•"/>
              <a:tabLst>
                <a:tab pos="355600" algn="l"/>
              </a:tabLst>
            </a:pPr>
            <a:r>
              <a:rPr sz="2400" dirty="0">
                <a:latin typeface="Trebuchet MS" panose="020B0603020202020204" pitchFamily="34" charset="0"/>
                <a:cs typeface="Arial MT"/>
              </a:rPr>
              <a:t>The</a:t>
            </a:r>
            <a:r>
              <a:rPr sz="2400" spc="135" dirty="0">
                <a:latin typeface="Trebuchet MS" panose="020B0603020202020204" pitchFamily="34" charset="0"/>
                <a:cs typeface="Arial MT"/>
              </a:rPr>
              <a:t> </a:t>
            </a:r>
            <a:r>
              <a:rPr sz="2400" dirty="0">
                <a:latin typeface="Trebuchet MS" panose="020B0603020202020204" pitchFamily="34" charset="0"/>
                <a:cs typeface="Arial MT"/>
              </a:rPr>
              <a:t>panel</a:t>
            </a:r>
            <a:r>
              <a:rPr sz="2400" spc="130" dirty="0">
                <a:latin typeface="Trebuchet MS" panose="020B0603020202020204" pitchFamily="34" charset="0"/>
                <a:cs typeface="Arial MT"/>
              </a:rPr>
              <a:t> </a:t>
            </a:r>
            <a:r>
              <a:rPr sz="2400" dirty="0">
                <a:latin typeface="Trebuchet MS" panose="020B0603020202020204" pitchFamily="34" charset="0"/>
                <a:cs typeface="Arial MT"/>
              </a:rPr>
              <a:t>advised</a:t>
            </a:r>
            <a:r>
              <a:rPr sz="2400" spc="140" dirty="0">
                <a:latin typeface="Trebuchet MS" panose="020B0603020202020204" pitchFamily="34" charset="0"/>
                <a:cs typeface="Arial MT"/>
              </a:rPr>
              <a:t> </a:t>
            </a:r>
            <a:r>
              <a:rPr sz="2400" dirty="0">
                <a:latin typeface="Trebuchet MS" panose="020B0603020202020204" pitchFamily="34" charset="0"/>
                <a:cs typeface="Arial MT"/>
              </a:rPr>
              <a:t>us</a:t>
            </a:r>
            <a:r>
              <a:rPr sz="2400" spc="125" dirty="0">
                <a:latin typeface="Trebuchet MS" panose="020B0603020202020204" pitchFamily="34" charset="0"/>
                <a:cs typeface="Arial MT"/>
              </a:rPr>
              <a:t> </a:t>
            </a:r>
            <a:r>
              <a:rPr sz="2400" dirty="0">
                <a:latin typeface="Trebuchet MS" panose="020B0603020202020204" pitchFamily="34" charset="0"/>
                <a:cs typeface="Arial MT"/>
              </a:rPr>
              <a:t>to</a:t>
            </a:r>
            <a:r>
              <a:rPr sz="2400" spc="135" dirty="0">
                <a:latin typeface="Trebuchet MS" panose="020B0603020202020204" pitchFamily="34" charset="0"/>
                <a:cs typeface="Arial MT"/>
              </a:rPr>
              <a:t> </a:t>
            </a:r>
            <a:r>
              <a:rPr sz="2400" b="1" dirty="0">
                <a:latin typeface="Trebuchet MS" panose="020B0603020202020204" pitchFamily="34" charset="0"/>
                <a:cs typeface="Arial"/>
              </a:rPr>
              <a:t>find</a:t>
            </a:r>
            <a:r>
              <a:rPr sz="2400" b="1" spc="120" dirty="0">
                <a:latin typeface="Trebuchet MS" panose="020B0603020202020204" pitchFamily="34" charset="0"/>
                <a:cs typeface="Arial"/>
              </a:rPr>
              <a:t> </a:t>
            </a:r>
            <a:r>
              <a:rPr sz="2400" b="1" dirty="0">
                <a:latin typeface="Trebuchet MS" panose="020B0603020202020204" pitchFamily="34" charset="0"/>
                <a:cs typeface="Arial"/>
              </a:rPr>
              <a:t>a</a:t>
            </a:r>
            <a:r>
              <a:rPr sz="2400" b="1" spc="114" dirty="0">
                <a:latin typeface="Trebuchet MS" panose="020B0603020202020204" pitchFamily="34" charset="0"/>
                <a:cs typeface="Arial"/>
              </a:rPr>
              <a:t> </a:t>
            </a:r>
            <a:r>
              <a:rPr sz="2400" b="1" dirty="0">
                <a:latin typeface="Trebuchet MS" panose="020B0603020202020204" pitchFamily="34" charset="0"/>
                <a:cs typeface="Arial"/>
              </a:rPr>
              <a:t>suitable</a:t>
            </a:r>
            <a:r>
              <a:rPr sz="2400" b="1" spc="135" dirty="0">
                <a:latin typeface="Trebuchet MS" panose="020B0603020202020204" pitchFamily="34" charset="0"/>
                <a:cs typeface="Arial"/>
              </a:rPr>
              <a:t> </a:t>
            </a:r>
            <a:r>
              <a:rPr sz="2400" b="1" dirty="0">
                <a:latin typeface="Trebuchet MS" panose="020B0603020202020204" pitchFamily="34" charset="0"/>
                <a:cs typeface="Arial"/>
              </a:rPr>
              <a:t>dataset</a:t>
            </a:r>
            <a:r>
              <a:rPr sz="2400" b="1" spc="135" dirty="0">
                <a:latin typeface="Trebuchet MS" panose="020B0603020202020204" pitchFamily="34" charset="0"/>
                <a:cs typeface="Arial"/>
              </a:rPr>
              <a:t> </a:t>
            </a:r>
            <a:r>
              <a:rPr sz="2400" dirty="0">
                <a:latin typeface="Trebuchet MS" panose="020B0603020202020204" pitchFamily="34" charset="0"/>
                <a:cs typeface="Arial MT"/>
              </a:rPr>
              <a:t>related</a:t>
            </a:r>
            <a:r>
              <a:rPr sz="2400" spc="135" dirty="0">
                <a:latin typeface="Trebuchet MS" panose="020B0603020202020204" pitchFamily="34" charset="0"/>
                <a:cs typeface="Arial MT"/>
              </a:rPr>
              <a:t> </a:t>
            </a:r>
            <a:r>
              <a:rPr sz="2400" dirty="0">
                <a:latin typeface="Trebuchet MS" panose="020B0603020202020204" pitchFamily="34" charset="0"/>
                <a:cs typeface="Arial MT"/>
              </a:rPr>
              <a:t>to</a:t>
            </a:r>
            <a:r>
              <a:rPr sz="2400" spc="135" dirty="0">
                <a:latin typeface="Trebuchet MS" panose="020B0603020202020204" pitchFamily="34" charset="0"/>
                <a:cs typeface="Arial MT"/>
              </a:rPr>
              <a:t> </a:t>
            </a:r>
            <a:r>
              <a:rPr sz="2400" b="1" dirty="0">
                <a:latin typeface="Trebuchet MS" panose="020B0603020202020204" pitchFamily="34" charset="0"/>
                <a:cs typeface="Arial"/>
              </a:rPr>
              <a:t>driver</a:t>
            </a:r>
            <a:r>
              <a:rPr sz="2400" b="1" spc="140" dirty="0">
                <a:latin typeface="Trebuchet MS" panose="020B0603020202020204" pitchFamily="34" charset="0"/>
                <a:cs typeface="Arial"/>
              </a:rPr>
              <a:t> </a:t>
            </a:r>
            <a:r>
              <a:rPr sz="2400" b="1" spc="-10" dirty="0">
                <a:latin typeface="Trebuchet MS" panose="020B0603020202020204" pitchFamily="34" charset="0"/>
                <a:cs typeface="Arial"/>
              </a:rPr>
              <a:t>behavior 	</a:t>
            </a:r>
            <a:r>
              <a:rPr sz="2400" b="1" dirty="0">
                <a:latin typeface="Trebuchet MS" panose="020B0603020202020204" pitchFamily="34" charset="0"/>
                <a:cs typeface="Arial"/>
              </a:rPr>
              <a:t>anomalies</a:t>
            </a:r>
            <a:r>
              <a:rPr sz="2400" b="1" spc="-65" dirty="0">
                <a:latin typeface="Trebuchet MS" panose="020B0603020202020204" pitchFamily="34" charset="0"/>
                <a:cs typeface="Arial"/>
              </a:rPr>
              <a:t> </a:t>
            </a:r>
            <a:r>
              <a:rPr sz="2400" dirty="0">
                <a:latin typeface="Trebuchet MS" panose="020B0603020202020204" pitchFamily="34" charset="0"/>
                <a:cs typeface="Arial MT"/>
              </a:rPr>
              <a:t>for</a:t>
            </a:r>
            <a:r>
              <a:rPr sz="2400" spc="-50" dirty="0">
                <a:latin typeface="Trebuchet MS" panose="020B0603020202020204" pitchFamily="34" charset="0"/>
                <a:cs typeface="Arial MT"/>
              </a:rPr>
              <a:t> </a:t>
            </a:r>
            <a:r>
              <a:rPr sz="2400" dirty="0">
                <a:latin typeface="Trebuchet MS" panose="020B0603020202020204" pitchFamily="34" charset="0"/>
                <a:cs typeface="Arial MT"/>
              </a:rPr>
              <a:t>effective</a:t>
            </a:r>
            <a:r>
              <a:rPr sz="2400" spc="-65" dirty="0">
                <a:latin typeface="Trebuchet MS" panose="020B0603020202020204" pitchFamily="34" charset="0"/>
                <a:cs typeface="Arial MT"/>
              </a:rPr>
              <a:t> </a:t>
            </a:r>
            <a:r>
              <a:rPr sz="2400" dirty="0">
                <a:latin typeface="Trebuchet MS" panose="020B0603020202020204" pitchFamily="34" charset="0"/>
                <a:cs typeface="Arial MT"/>
              </a:rPr>
              <a:t>model</a:t>
            </a:r>
            <a:r>
              <a:rPr sz="2400" spc="-45" dirty="0">
                <a:latin typeface="Trebuchet MS" panose="020B0603020202020204" pitchFamily="34" charset="0"/>
                <a:cs typeface="Arial MT"/>
              </a:rPr>
              <a:t> </a:t>
            </a:r>
            <a:r>
              <a:rPr sz="2400" spc="-10" dirty="0">
                <a:latin typeface="Trebuchet MS" panose="020B0603020202020204" pitchFamily="34" charset="0"/>
                <a:cs typeface="Arial MT"/>
              </a:rPr>
              <a:t>training.</a:t>
            </a:r>
            <a:endParaRPr sz="2400" dirty="0">
              <a:latin typeface="Trebuchet MS" panose="020B0603020202020204" pitchFamily="34" charset="0"/>
              <a:cs typeface="Arial MT"/>
            </a:endParaRPr>
          </a:p>
          <a:p>
            <a:pPr marL="353060" marR="6350" indent="-340360" algn="just">
              <a:lnSpc>
                <a:spcPct val="100000"/>
              </a:lnSpc>
              <a:spcBef>
                <a:spcPts val="575"/>
              </a:spcBef>
              <a:buChar char="•"/>
              <a:tabLst>
                <a:tab pos="355600" algn="l"/>
              </a:tabLst>
            </a:pPr>
            <a:r>
              <a:rPr sz="2400" dirty="0">
                <a:latin typeface="Trebuchet MS" panose="020B0603020202020204" pitchFamily="34" charset="0"/>
                <a:cs typeface="Arial MT"/>
              </a:rPr>
              <a:t>They</a:t>
            </a:r>
            <a:r>
              <a:rPr sz="2400" spc="135" dirty="0">
                <a:latin typeface="Trebuchet MS" panose="020B0603020202020204" pitchFamily="34" charset="0"/>
                <a:cs typeface="Arial MT"/>
              </a:rPr>
              <a:t> </a:t>
            </a:r>
            <a:r>
              <a:rPr sz="2400" dirty="0">
                <a:latin typeface="Trebuchet MS" panose="020B0603020202020204" pitchFamily="34" charset="0"/>
                <a:cs typeface="Arial MT"/>
              </a:rPr>
              <a:t>suggested</a:t>
            </a:r>
            <a:r>
              <a:rPr sz="2400" spc="135" dirty="0">
                <a:latin typeface="Trebuchet MS" panose="020B0603020202020204" pitchFamily="34" charset="0"/>
                <a:cs typeface="Arial MT"/>
              </a:rPr>
              <a:t> </a:t>
            </a:r>
            <a:r>
              <a:rPr sz="2400" dirty="0">
                <a:latin typeface="Trebuchet MS" panose="020B0603020202020204" pitchFamily="34" charset="0"/>
                <a:cs typeface="Arial MT"/>
              </a:rPr>
              <a:t>adopting</a:t>
            </a:r>
            <a:r>
              <a:rPr sz="2400" spc="140" dirty="0">
                <a:latin typeface="Trebuchet MS" panose="020B0603020202020204" pitchFamily="34" charset="0"/>
                <a:cs typeface="Arial MT"/>
              </a:rPr>
              <a:t> </a:t>
            </a:r>
            <a:r>
              <a:rPr sz="2400" dirty="0">
                <a:latin typeface="Trebuchet MS" panose="020B0603020202020204" pitchFamily="34" charset="0"/>
                <a:cs typeface="Arial MT"/>
              </a:rPr>
              <a:t>a</a:t>
            </a:r>
            <a:r>
              <a:rPr sz="2400" spc="130" dirty="0">
                <a:latin typeface="Trebuchet MS" panose="020B0603020202020204" pitchFamily="34" charset="0"/>
                <a:cs typeface="Arial MT"/>
              </a:rPr>
              <a:t> </a:t>
            </a:r>
            <a:r>
              <a:rPr sz="2400" b="1" dirty="0">
                <a:latin typeface="Trebuchet MS" panose="020B0603020202020204" pitchFamily="34" charset="0"/>
                <a:cs typeface="Arial"/>
              </a:rPr>
              <a:t>deep</a:t>
            </a:r>
            <a:r>
              <a:rPr sz="2400" b="1" spc="130" dirty="0">
                <a:latin typeface="Trebuchet MS" panose="020B0603020202020204" pitchFamily="34" charset="0"/>
                <a:cs typeface="Arial"/>
              </a:rPr>
              <a:t> </a:t>
            </a:r>
            <a:r>
              <a:rPr sz="2400" b="1" dirty="0">
                <a:latin typeface="Trebuchet MS" panose="020B0603020202020204" pitchFamily="34" charset="0"/>
                <a:cs typeface="Arial"/>
              </a:rPr>
              <a:t>learning</a:t>
            </a:r>
            <a:r>
              <a:rPr sz="2400" b="1" spc="130" dirty="0">
                <a:latin typeface="Trebuchet MS" panose="020B0603020202020204" pitchFamily="34" charset="0"/>
                <a:cs typeface="Arial"/>
              </a:rPr>
              <a:t> </a:t>
            </a:r>
            <a:r>
              <a:rPr sz="2400" b="1" dirty="0">
                <a:latin typeface="Trebuchet MS" panose="020B0603020202020204" pitchFamily="34" charset="0"/>
                <a:cs typeface="Arial"/>
              </a:rPr>
              <a:t>approach</a:t>
            </a:r>
            <a:r>
              <a:rPr sz="2400" b="1" spc="120" dirty="0">
                <a:latin typeface="Trebuchet MS" panose="020B0603020202020204" pitchFamily="34" charset="0"/>
                <a:cs typeface="Arial"/>
              </a:rPr>
              <a:t> </a:t>
            </a:r>
            <a:r>
              <a:rPr sz="2400" dirty="0">
                <a:latin typeface="Trebuchet MS" panose="020B0603020202020204" pitchFamily="34" charset="0"/>
                <a:cs typeface="Arial MT"/>
              </a:rPr>
              <a:t>for</a:t>
            </a:r>
            <a:r>
              <a:rPr sz="2400" spc="145" dirty="0">
                <a:latin typeface="Trebuchet MS" panose="020B0603020202020204" pitchFamily="34" charset="0"/>
                <a:cs typeface="Arial MT"/>
              </a:rPr>
              <a:t> </a:t>
            </a:r>
            <a:r>
              <a:rPr sz="2400" dirty="0">
                <a:latin typeface="Trebuchet MS" panose="020B0603020202020204" pitchFamily="34" charset="0"/>
                <a:cs typeface="Arial MT"/>
              </a:rPr>
              <a:t>accurate</a:t>
            </a:r>
            <a:r>
              <a:rPr sz="2400" spc="140" dirty="0">
                <a:latin typeface="Trebuchet MS" panose="020B0603020202020204" pitchFamily="34" charset="0"/>
                <a:cs typeface="Arial MT"/>
              </a:rPr>
              <a:t> </a:t>
            </a:r>
            <a:r>
              <a:rPr sz="2400" spc="-10" dirty="0">
                <a:latin typeface="Trebuchet MS" panose="020B0603020202020204" pitchFamily="34" charset="0"/>
                <a:cs typeface="Arial MT"/>
              </a:rPr>
              <a:t>detection 	</a:t>
            </a:r>
            <a:r>
              <a:rPr sz="2400" dirty="0">
                <a:latin typeface="Trebuchet MS" panose="020B0603020202020204" pitchFamily="34" charset="0"/>
                <a:cs typeface="Arial MT"/>
              </a:rPr>
              <a:t>of</a:t>
            </a:r>
            <a:r>
              <a:rPr sz="2400" spc="-85" dirty="0">
                <a:latin typeface="Trebuchet MS" panose="020B0603020202020204" pitchFamily="34" charset="0"/>
                <a:cs typeface="Arial MT"/>
              </a:rPr>
              <a:t> </a:t>
            </a:r>
            <a:r>
              <a:rPr sz="2400" dirty="0">
                <a:latin typeface="Trebuchet MS" panose="020B0603020202020204" pitchFamily="34" charset="0"/>
                <a:cs typeface="Arial MT"/>
              </a:rPr>
              <a:t>abnormal</a:t>
            </a:r>
            <a:r>
              <a:rPr sz="2400" spc="-55" dirty="0">
                <a:latin typeface="Trebuchet MS" panose="020B0603020202020204" pitchFamily="34" charset="0"/>
                <a:cs typeface="Arial MT"/>
              </a:rPr>
              <a:t> </a:t>
            </a:r>
            <a:r>
              <a:rPr sz="2400" dirty="0">
                <a:latin typeface="Trebuchet MS" panose="020B0603020202020204" pitchFamily="34" charset="0"/>
                <a:cs typeface="Arial MT"/>
              </a:rPr>
              <a:t>driver</a:t>
            </a:r>
            <a:r>
              <a:rPr sz="2400" spc="-70" dirty="0">
                <a:latin typeface="Trebuchet MS" panose="020B0603020202020204" pitchFamily="34" charset="0"/>
                <a:cs typeface="Arial MT"/>
              </a:rPr>
              <a:t> </a:t>
            </a:r>
            <a:r>
              <a:rPr sz="2400" spc="-10" dirty="0">
                <a:latin typeface="Trebuchet MS" panose="020B0603020202020204" pitchFamily="34" charset="0"/>
                <a:cs typeface="Arial MT"/>
              </a:rPr>
              <a:t>behaviors.</a:t>
            </a:r>
            <a:endParaRPr sz="2400" dirty="0">
              <a:latin typeface="Trebuchet MS" panose="020B0603020202020204" pitchFamily="34" charset="0"/>
              <a:cs typeface="Arial MT"/>
            </a:endParaRPr>
          </a:p>
          <a:p>
            <a:pPr marL="353060" marR="5080" indent="-340360" algn="just">
              <a:lnSpc>
                <a:spcPct val="100000"/>
              </a:lnSpc>
              <a:spcBef>
                <a:spcPts val="580"/>
              </a:spcBef>
              <a:buChar char="•"/>
              <a:tabLst>
                <a:tab pos="355600" algn="l"/>
              </a:tabLst>
            </a:pPr>
            <a:r>
              <a:rPr sz="2400" dirty="0">
                <a:latin typeface="Trebuchet MS" panose="020B0603020202020204" pitchFamily="34" charset="0"/>
                <a:cs typeface="Arial MT"/>
              </a:rPr>
              <a:t>The</a:t>
            </a:r>
            <a:r>
              <a:rPr sz="2400" spc="-50" dirty="0">
                <a:latin typeface="Trebuchet MS" panose="020B0603020202020204" pitchFamily="34" charset="0"/>
                <a:cs typeface="Arial MT"/>
              </a:rPr>
              <a:t> </a:t>
            </a:r>
            <a:r>
              <a:rPr sz="2400" dirty="0">
                <a:latin typeface="Trebuchet MS" panose="020B0603020202020204" pitchFamily="34" charset="0"/>
                <a:cs typeface="Arial MT"/>
              </a:rPr>
              <a:t>members</a:t>
            </a:r>
            <a:r>
              <a:rPr sz="2400" spc="-55" dirty="0">
                <a:latin typeface="Trebuchet MS" panose="020B0603020202020204" pitchFamily="34" charset="0"/>
                <a:cs typeface="Arial MT"/>
              </a:rPr>
              <a:t> </a:t>
            </a:r>
            <a:r>
              <a:rPr sz="2400" dirty="0">
                <a:latin typeface="Trebuchet MS" panose="020B0603020202020204" pitchFamily="34" charset="0"/>
                <a:cs typeface="Arial MT"/>
              </a:rPr>
              <a:t>recommended</a:t>
            </a:r>
            <a:r>
              <a:rPr sz="2400" spc="-45" dirty="0">
                <a:latin typeface="Trebuchet MS" panose="020B0603020202020204" pitchFamily="34" charset="0"/>
                <a:cs typeface="Arial MT"/>
              </a:rPr>
              <a:t> </a:t>
            </a:r>
            <a:r>
              <a:rPr sz="2400" dirty="0">
                <a:latin typeface="Trebuchet MS" panose="020B0603020202020204" pitchFamily="34" charset="0"/>
                <a:cs typeface="Arial MT"/>
              </a:rPr>
              <a:t>exploring</a:t>
            </a:r>
            <a:r>
              <a:rPr sz="2400" spc="-45" dirty="0">
                <a:latin typeface="Trebuchet MS" panose="020B0603020202020204" pitchFamily="34" charset="0"/>
                <a:cs typeface="Arial MT"/>
              </a:rPr>
              <a:t> </a:t>
            </a:r>
            <a:r>
              <a:rPr sz="2400" b="1" dirty="0">
                <a:latin typeface="Trebuchet MS" panose="020B0603020202020204" pitchFamily="34" charset="0"/>
                <a:cs typeface="Arial"/>
              </a:rPr>
              <a:t>deep</a:t>
            </a:r>
            <a:r>
              <a:rPr sz="2400" b="1" spc="-65" dirty="0">
                <a:latin typeface="Trebuchet MS" panose="020B0603020202020204" pitchFamily="34" charset="0"/>
                <a:cs typeface="Arial"/>
              </a:rPr>
              <a:t> </a:t>
            </a:r>
            <a:r>
              <a:rPr sz="2400" b="1" dirty="0">
                <a:latin typeface="Trebuchet MS" panose="020B0603020202020204" pitchFamily="34" charset="0"/>
                <a:cs typeface="Arial"/>
              </a:rPr>
              <a:t>learning</a:t>
            </a:r>
            <a:r>
              <a:rPr sz="2400" b="1" spc="-60" dirty="0">
                <a:latin typeface="Trebuchet MS" panose="020B0603020202020204" pitchFamily="34" charset="0"/>
                <a:cs typeface="Arial"/>
              </a:rPr>
              <a:t> </a:t>
            </a:r>
            <a:r>
              <a:rPr sz="2400" b="1" dirty="0">
                <a:latin typeface="Trebuchet MS" panose="020B0603020202020204" pitchFamily="34" charset="0"/>
                <a:cs typeface="Arial"/>
              </a:rPr>
              <a:t>models</a:t>
            </a:r>
            <a:r>
              <a:rPr sz="2400" b="1" spc="-50" dirty="0">
                <a:latin typeface="Trebuchet MS" panose="020B0603020202020204" pitchFamily="34" charset="0"/>
                <a:cs typeface="Arial"/>
              </a:rPr>
              <a:t> </a:t>
            </a:r>
            <a:r>
              <a:rPr sz="2400" dirty="0">
                <a:latin typeface="Trebuchet MS" panose="020B0603020202020204" pitchFamily="34" charset="0"/>
                <a:cs typeface="Arial MT"/>
              </a:rPr>
              <a:t>such</a:t>
            </a:r>
            <a:r>
              <a:rPr sz="2400" spc="-50" dirty="0">
                <a:latin typeface="Trebuchet MS" panose="020B0603020202020204" pitchFamily="34" charset="0"/>
                <a:cs typeface="Arial MT"/>
              </a:rPr>
              <a:t> </a:t>
            </a:r>
            <a:r>
              <a:rPr sz="2400" dirty="0">
                <a:latin typeface="Trebuchet MS" panose="020B0603020202020204" pitchFamily="34" charset="0"/>
                <a:cs typeface="Arial MT"/>
              </a:rPr>
              <a:t>as</a:t>
            </a:r>
            <a:r>
              <a:rPr sz="2400" spc="-50" dirty="0">
                <a:latin typeface="Trebuchet MS" panose="020B0603020202020204" pitchFamily="34" charset="0"/>
                <a:cs typeface="Arial MT"/>
              </a:rPr>
              <a:t> </a:t>
            </a:r>
            <a:r>
              <a:rPr sz="2400" b="1" spc="-20" dirty="0">
                <a:latin typeface="Trebuchet MS" panose="020B0603020202020204" pitchFamily="34" charset="0"/>
                <a:cs typeface="Arial"/>
              </a:rPr>
              <a:t>CNN, 	</a:t>
            </a:r>
            <a:r>
              <a:rPr sz="2400" b="1" dirty="0">
                <a:latin typeface="Trebuchet MS" panose="020B0603020202020204" pitchFamily="34" charset="0"/>
                <a:cs typeface="Arial"/>
              </a:rPr>
              <a:t>Autoencoders,</a:t>
            </a:r>
            <a:r>
              <a:rPr sz="2400" b="1" spc="-50" dirty="0">
                <a:latin typeface="Trebuchet MS" panose="020B0603020202020204" pitchFamily="34" charset="0"/>
                <a:cs typeface="Arial"/>
              </a:rPr>
              <a:t> </a:t>
            </a:r>
            <a:r>
              <a:rPr sz="2400" b="1" dirty="0">
                <a:latin typeface="Trebuchet MS" panose="020B0603020202020204" pitchFamily="34" charset="0"/>
                <a:cs typeface="Arial"/>
              </a:rPr>
              <a:t>LSTM,</a:t>
            </a:r>
            <a:r>
              <a:rPr sz="2400" b="1" spc="-55" dirty="0">
                <a:latin typeface="Trebuchet MS" panose="020B0603020202020204" pitchFamily="34" charset="0"/>
                <a:cs typeface="Arial"/>
              </a:rPr>
              <a:t> </a:t>
            </a:r>
            <a:r>
              <a:rPr sz="2400" b="1" dirty="0">
                <a:latin typeface="Trebuchet MS" panose="020B0603020202020204" pitchFamily="34" charset="0"/>
                <a:cs typeface="Arial"/>
              </a:rPr>
              <a:t>and</a:t>
            </a:r>
            <a:r>
              <a:rPr sz="2400" b="1" spc="-130" dirty="0">
                <a:latin typeface="Trebuchet MS" panose="020B0603020202020204" pitchFamily="34" charset="0"/>
                <a:cs typeface="Arial"/>
              </a:rPr>
              <a:t> </a:t>
            </a:r>
            <a:r>
              <a:rPr sz="2400" b="1" spc="-25" dirty="0">
                <a:latin typeface="Trebuchet MS" panose="020B0603020202020204" pitchFamily="34" charset="0"/>
                <a:cs typeface="Arial"/>
              </a:rPr>
              <a:t>ADA</a:t>
            </a:r>
            <a:r>
              <a:rPr lang="en-IN" sz="2400" b="1" spc="-25" dirty="0">
                <a:latin typeface="Trebuchet MS" panose="020B0603020202020204" pitchFamily="34" charset="0"/>
                <a:cs typeface="Arial"/>
              </a:rPr>
              <a:t>.</a:t>
            </a:r>
            <a:endParaRPr sz="2400" dirty="0">
              <a:latin typeface="Trebuchet MS" panose="020B0603020202020204" pitchFamily="34" charset="0"/>
              <a:cs typeface="Arial"/>
            </a:endParaRPr>
          </a:p>
          <a:p>
            <a:pPr marL="353060" marR="6985" indent="-340360" algn="just">
              <a:lnSpc>
                <a:spcPct val="100000"/>
              </a:lnSpc>
              <a:spcBef>
                <a:spcPts val="575"/>
              </a:spcBef>
              <a:buChar char="•"/>
              <a:tabLst>
                <a:tab pos="355600" algn="l"/>
              </a:tabLst>
            </a:pPr>
            <a:r>
              <a:rPr lang="en-IN" sz="2400" dirty="0">
                <a:latin typeface="Trebuchet MS" panose="020B0603020202020204" pitchFamily="34" charset="0"/>
                <a:cs typeface="Arial MT"/>
              </a:rPr>
              <a:t>Init</a:t>
            </a:r>
            <a:r>
              <a:rPr sz="2400" dirty="0" err="1">
                <a:latin typeface="Trebuchet MS" panose="020B0603020202020204" pitchFamily="34" charset="0"/>
                <a:cs typeface="Arial MT"/>
              </a:rPr>
              <a:t>ially</a:t>
            </a:r>
            <a:r>
              <a:rPr sz="2400" dirty="0">
                <a:latin typeface="Trebuchet MS" panose="020B0603020202020204" pitchFamily="34" charset="0"/>
                <a:cs typeface="Arial MT"/>
              </a:rPr>
              <a:t>,</a:t>
            </a:r>
            <a:r>
              <a:rPr sz="2400" spc="155" dirty="0">
                <a:latin typeface="Trebuchet MS" panose="020B0603020202020204" pitchFamily="34" charset="0"/>
                <a:cs typeface="Arial MT"/>
              </a:rPr>
              <a:t> </a:t>
            </a:r>
            <a:r>
              <a:rPr sz="2400" dirty="0">
                <a:latin typeface="Trebuchet MS" panose="020B0603020202020204" pitchFamily="34" charset="0"/>
                <a:cs typeface="Arial MT"/>
              </a:rPr>
              <a:t>we</a:t>
            </a:r>
            <a:r>
              <a:rPr sz="2400" spc="150" dirty="0">
                <a:latin typeface="Trebuchet MS" panose="020B0603020202020204" pitchFamily="34" charset="0"/>
                <a:cs typeface="Arial MT"/>
              </a:rPr>
              <a:t> </a:t>
            </a:r>
            <a:r>
              <a:rPr sz="2400" dirty="0">
                <a:latin typeface="Trebuchet MS" panose="020B0603020202020204" pitchFamily="34" charset="0"/>
                <a:cs typeface="Arial MT"/>
              </a:rPr>
              <a:t>planned</a:t>
            </a:r>
            <a:r>
              <a:rPr sz="2400" spc="150" dirty="0">
                <a:latin typeface="Trebuchet MS" panose="020B0603020202020204" pitchFamily="34" charset="0"/>
                <a:cs typeface="Arial MT"/>
              </a:rPr>
              <a:t> </a:t>
            </a:r>
            <a:r>
              <a:rPr sz="2400" dirty="0">
                <a:latin typeface="Trebuchet MS" panose="020B0603020202020204" pitchFamily="34" charset="0"/>
                <a:cs typeface="Arial MT"/>
              </a:rPr>
              <a:t>to</a:t>
            </a:r>
            <a:r>
              <a:rPr sz="2400" spc="150" dirty="0">
                <a:latin typeface="Trebuchet MS" panose="020B0603020202020204" pitchFamily="34" charset="0"/>
                <a:cs typeface="Arial MT"/>
              </a:rPr>
              <a:t> </a:t>
            </a:r>
            <a:r>
              <a:rPr sz="2400" dirty="0">
                <a:latin typeface="Trebuchet MS" panose="020B0603020202020204" pitchFamily="34" charset="0"/>
                <a:cs typeface="Arial MT"/>
              </a:rPr>
              <a:t>use</a:t>
            </a:r>
            <a:r>
              <a:rPr sz="2400" spc="150" dirty="0">
                <a:latin typeface="Trebuchet MS" panose="020B0603020202020204" pitchFamily="34" charset="0"/>
                <a:cs typeface="Arial MT"/>
              </a:rPr>
              <a:t> </a:t>
            </a:r>
            <a:r>
              <a:rPr sz="2400" b="1" dirty="0">
                <a:latin typeface="Trebuchet MS" panose="020B0603020202020204" pitchFamily="34" charset="0"/>
                <a:cs typeface="Arial"/>
              </a:rPr>
              <a:t>V2V/V2I</a:t>
            </a:r>
            <a:r>
              <a:rPr sz="2400" b="1" spc="155" dirty="0">
                <a:latin typeface="Trebuchet MS" panose="020B0603020202020204" pitchFamily="34" charset="0"/>
                <a:cs typeface="Arial"/>
              </a:rPr>
              <a:t> </a:t>
            </a:r>
            <a:r>
              <a:rPr sz="2400" b="1" dirty="0">
                <a:latin typeface="Trebuchet MS" panose="020B0603020202020204" pitchFamily="34" charset="0"/>
                <a:cs typeface="Arial"/>
              </a:rPr>
              <a:t>communication</a:t>
            </a:r>
            <a:r>
              <a:rPr sz="2400" b="1" spc="125" dirty="0">
                <a:latin typeface="Trebuchet MS" panose="020B0603020202020204" pitchFamily="34" charset="0"/>
                <a:cs typeface="Arial"/>
              </a:rPr>
              <a:t> </a:t>
            </a:r>
            <a:r>
              <a:rPr sz="2400" dirty="0">
                <a:latin typeface="Trebuchet MS" panose="020B0603020202020204" pitchFamily="34" charset="0"/>
                <a:cs typeface="Arial MT"/>
              </a:rPr>
              <a:t>to</a:t>
            </a:r>
            <a:r>
              <a:rPr sz="2400" spc="150" dirty="0">
                <a:latin typeface="Trebuchet MS" panose="020B0603020202020204" pitchFamily="34" charset="0"/>
                <a:cs typeface="Arial MT"/>
              </a:rPr>
              <a:t> </a:t>
            </a:r>
            <a:r>
              <a:rPr sz="2400" dirty="0">
                <a:latin typeface="Trebuchet MS" panose="020B0603020202020204" pitchFamily="34" charset="0"/>
                <a:cs typeface="Arial MT"/>
              </a:rPr>
              <a:t>alert</a:t>
            </a:r>
            <a:r>
              <a:rPr sz="2400" spc="160" dirty="0">
                <a:latin typeface="Trebuchet MS" panose="020B0603020202020204" pitchFamily="34" charset="0"/>
                <a:cs typeface="Arial MT"/>
              </a:rPr>
              <a:t> </a:t>
            </a:r>
            <a:r>
              <a:rPr sz="2400" dirty="0">
                <a:latin typeface="Trebuchet MS" panose="020B0603020202020204" pitchFamily="34" charset="0"/>
                <a:cs typeface="Arial MT"/>
              </a:rPr>
              <a:t>traffic</a:t>
            </a:r>
            <a:r>
              <a:rPr sz="2400" spc="155" dirty="0">
                <a:latin typeface="Trebuchet MS" panose="020B0603020202020204" pitchFamily="34" charset="0"/>
                <a:cs typeface="Arial MT"/>
              </a:rPr>
              <a:t> </a:t>
            </a:r>
            <a:r>
              <a:rPr sz="2400" spc="-10" dirty="0">
                <a:latin typeface="Trebuchet MS" panose="020B0603020202020204" pitchFamily="34" charset="0"/>
                <a:cs typeface="Arial MT"/>
              </a:rPr>
              <a:t>authorities </a:t>
            </a:r>
            <a:r>
              <a:rPr sz="2400" dirty="0">
                <a:latin typeface="Trebuchet MS" panose="020B0603020202020204" pitchFamily="34" charset="0"/>
                <a:cs typeface="Arial MT"/>
              </a:rPr>
              <a:t>during</a:t>
            </a:r>
            <a:r>
              <a:rPr sz="2400" spc="395" dirty="0">
                <a:latin typeface="Trebuchet MS" panose="020B0603020202020204" pitchFamily="34" charset="0"/>
                <a:cs typeface="Arial MT"/>
              </a:rPr>
              <a:t> </a:t>
            </a:r>
            <a:r>
              <a:rPr sz="2400" dirty="0">
                <a:latin typeface="Trebuchet MS" panose="020B0603020202020204" pitchFamily="34" charset="0"/>
                <a:cs typeface="Arial MT"/>
              </a:rPr>
              <a:t>anomalies,</a:t>
            </a:r>
            <a:r>
              <a:rPr sz="2400" spc="400" dirty="0">
                <a:latin typeface="Trebuchet MS" panose="020B0603020202020204" pitchFamily="34" charset="0"/>
                <a:cs typeface="Arial MT"/>
              </a:rPr>
              <a:t> </a:t>
            </a:r>
            <a:r>
              <a:rPr sz="2400" dirty="0">
                <a:latin typeface="Trebuchet MS" panose="020B0603020202020204" pitchFamily="34" charset="0"/>
                <a:cs typeface="Arial MT"/>
              </a:rPr>
              <a:t>but</a:t>
            </a:r>
            <a:r>
              <a:rPr sz="2400" spc="375" dirty="0">
                <a:latin typeface="Trebuchet MS" panose="020B0603020202020204" pitchFamily="34" charset="0"/>
                <a:cs typeface="Arial MT"/>
              </a:rPr>
              <a:t> </a:t>
            </a:r>
            <a:r>
              <a:rPr sz="2400" dirty="0">
                <a:latin typeface="Trebuchet MS" panose="020B0603020202020204" pitchFamily="34" charset="0"/>
                <a:cs typeface="Arial MT"/>
              </a:rPr>
              <a:t>the</a:t>
            </a:r>
            <a:r>
              <a:rPr sz="2400" spc="400" dirty="0">
                <a:latin typeface="Trebuchet MS" panose="020B0603020202020204" pitchFamily="34" charset="0"/>
                <a:cs typeface="Arial MT"/>
              </a:rPr>
              <a:t> </a:t>
            </a:r>
            <a:r>
              <a:rPr sz="2400" dirty="0">
                <a:latin typeface="Trebuchet MS" panose="020B0603020202020204" pitchFamily="34" charset="0"/>
                <a:cs typeface="Arial MT"/>
              </a:rPr>
              <a:t>panel</a:t>
            </a:r>
            <a:r>
              <a:rPr sz="2400" spc="400" dirty="0">
                <a:latin typeface="Trebuchet MS" panose="020B0603020202020204" pitchFamily="34" charset="0"/>
                <a:cs typeface="Arial MT"/>
              </a:rPr>
              <a:t> </a:t>
            </a:r>
            <a:r>
              <a:rPr sz="2400" dirty="0">
                <a:latin typeface="Trebuchet MS" panose="020B0603020202020204" pitchFamily="34" charset="0"/>
                <a:cs typeface="Arial MT"/>
              </a:rPr>
              <a:t>advised</a:t>
            </a:r>
            <a:r>
              <a:rPr sz="2400" spc="395" dirty="0">
                <a:latin typeface="Trebuchet MS" panose="020B0603020202020204" pitchFamily="34" charset="0"/>
                <a:cs typeface="Arial MT"/>
              </a:rPr>
              <a:t> </a:t>
            </a:r>
            <a:r>
              <a:rPr sz="2400" dirty="0">
                <a:latin typeface="Trebuchet MS" panose="020B0603020202020204" pitchFamily="34" charset="0"/>
                <a:cs typeface="Arial MT"/>
              </a:rPr>
              <a:t>it’s</a:t>
            </a:r>
            <a:r>
              <a:rPr sz="2400" spc="400" dirty="0">
                <a:latin typeface="Trebuchet MS" panose="020B0603020202020204" pitchFamily="34" charset="0"/>
                <a:cs typeface="Arial MT"/>
              </a:rPr>
              <a:t> </a:t>
            </a:r>
            <a:r>
              <a:rPr sz="2400" b="1" dirty="0">
                <a:latin typeface="Trebuchet MS" panose="020B0603020202020204" pitchFamily="34" charset="0"/>
                <a:cs typeface="Arial"/>
              </a:rPr>
              <a:t>not</a:t>
            </a:r>
            <a:r>
              <a:rPr sz="2400" b="1" spc="385" dirty="0">
                <a:latin typeface="Trebuchet MS" panose="020B0603020202020204" pitchFamily="34" charset="0"/>
                <a:cs typeface="Arial"/>
              </a:rPr>
              <a:t> </a:t>
            </a:r>
            <a:r>
              <a:rPr sz="2400" b="1" dirty="0">
                <a:latin typeface="Trebuchet MS" panose="020B0603020202020204" pitchFamily="34" charset="0"/>
                <a:cs typeface="Arial"/>
              </a:rPr>
              <a:t>feasible</a:t>
            </a:r>
            <a:r>
              <a:rPr sz="2400" b="1" spc="390" dirty="0">
                <a:latin typeface="Trebuchet MS" panose="020B0603020202020204" pitchFamily="34" charset="0"/>
                <a:cs typeface="Arial"/>
              </a:rPr>
              <a:t> </a:t>
            </a:r>
            <a:r>
              <a:rPr sz="2400" b="1" dirty="0">
                <a:latin typeface="Trebuchet MS" panose="020B0603020202020204" pitchFamily="34" charset="0"/>
                <a:cs typeface="Arial"/>
              </a:rPr>
              <a:t>for</a:t>
            </a:r>
            <a:r>
              <a:rPr sz="2400" b="1" spc="395" dirty="0">
                <a:latin typeface="Trebuchet MS" panose="020B0603020202020204" pitchFamily="34" charset="0"/>
                <a:cs typeface="Arial"/>
              </a:rPr>
              <a:t> </a:t>
            </a:r>
            <a:r>
              <a:rPr sz="2400" b="1" dirty="0">
                <a:latin typeface="Trebuchet MS" panose="020B0603020202020204" pitchFamily="34" charset="0"/>
                <a:cs typeface="Arial"/>
              </a:rPr>
              <a:t>the</a:t>
            </a:r>
            <a:r>
              <a:rPr sz="2400" b="1" spc="390" dirty="0">
                <a:latin typeface="Trebuchet MS" panose="020B0603020202020204" pitchFamily="34" charset="0"/>
                <a:cs typeface="Arial"/>
              </a:rPr>
              <a:t> </a:t>
            </a:r>
            <a:r>
              <a:rPr sz="2400" b="1" spc="-10" dirty="0">
                <a:latin typeface="Trebuchet MS" panose="020B0603020202020204" pitchFamily="34" charset="0"/>
                <a:cs typeface="Arial"/>
              </a:rPr>
              <a:t>current</a:t>
            </a:r>
            <a:r>
              <a:rPr lang="en-IN" sz="2400" b="1" spc="-10" dirty="0">
                <a:latin typeface="Trebuchet MS" panose="020B0603020202020204" pitchFamily="34" charset="0"/>
                <a:cs typeface="Arial"/>
              </a:rPr>
              <a:t> </a:t>
            </a:r>
            <a:r>
              <a:rPr sz="2400" b="1" spc="-10" dirty="0">
                <a:latin typeface="Trebuchet MS" panose="020B0603020202020204" pitchFamily="34" charset="0"/>
                <a:cs typeface="Arial"/>
              </a:rPr>
              <a:t>scope</a:t>
            </a:r>
            <a:r>
              <a:rPr lang="en-IN" sz="2400" b="1" spc="-10" dirty="0">
                <a:latin typeface="Trebuchet MS" panose="020B0603020202020204" pitchFamily="34" charset="0"/>
                <a:cs typeface="Arial"/>
              </a:rPr>
              <a:t>.</a:t>
            </a:r>
            <a:endParaRPr sz="2400" dirty="0">
              <a:latin typeface="Trebuchet MS" panose="020B0603020202020204" pitchFamily="34" charset="0"/>
              <a:cs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2927604" y="1010348"/>
            <a:ext cx="7620000" cy="36830"/>
          </a:xfrm>
          <a:custGeom>
            <a:avLst/>
            <a:gdLst/>
            <a:ahLst/>
            <a:cxnLst/>
            <a:rect l="l" t="t" r="r" b="b"/>
            <a:pathLst>
              <a:path w="7620000" h="36830">
                <a:moveTo>
                  <a:pt x="7620000" y="0"/>
                </a:moveTo>
                <a:lnTo>
                  <a:pt x="0" y="0"/>
                </a:lnTo>
                <a:lnTo>
                  <a:pt x="0" y="36512"/>
                </a:lnTo>
                <a:lnTo>
                  <a:pt x="7620000" y="36512"/>
                </a:lnTo>
                <a:lnTo>
                  <a:pt x="7620000" y="0"/>
                </a:lnTo>
                <a:close/>
              </a:path>
            </a:pathLst>
          </a:custGeom>
          <a:solidFill>
            <a:srgbClr val="33CCCC"/>
          </a:solidFill>
        </p:spPr>
        <p:txBody>
          <a:bodyPr wrap="square" lIns="0" tIns="0" rIns="0" bIns="0" rtlCol="0"/>
          <a:lstStyle/>
          <a:p>
            <a:endParaRPr/>
          </a:p>
        </p:txBody>
      </p:sp>
      <p:sp>
        <p:nvSpPr>
          <p:cNvPr id="3" name="object 3"/>
          <p:cNvSpPr txBox="1"/>
          <p:nvPr/>
        </p:nvSpPr>
        <p:spPr>
          <a:xfrm>
            <a:off x="613054" y="1383538"/>
            <a:ext cx="10808335" cy="4473019"/>
          </a:xfrm>
          <a:prstGeom prst="rect">
            <a:avLst/>
          </a:prstGeom>
        </p:spPr>
        <p:txBody>
          <a:bodyPr vert="horz" wrap="square" lIns="0" tIns="12700" rIns="0" bIns="0" rtlCol="0">
            <a:spAutoFit/>
          </a:bodyPr>
          <a:lstStyle/>
          <a:p>
            <a:pPr marL="12700">
              <a:lnSpc>
                <a:spcPct val="100000"/>
              </a:lnSpc>
              <a:spcBef>
                <a:spcPts val="100"/>
              </a:spcBef>
            </a:pPr>
            <a:r>
              <a:rPr sz="2400" b="1" spc="-10" dirty="0">
                <a:latin typeface="Trebuchet MS" panose="020B0603020202020204" pitchFamily="34" charset="0"/>
                <a:cs typeface="Arial"/>
              </a:rPr>
              <a:t>Implementation:</a:t>
            </a:r>
            <a:endParaRPr sz="2400" dirty="0">
              <a:latin typeface="Trebuchet MS" panose="020B0603020202020204" pitchFamily="34" charset="0"/>
              <a:cs typeface="Arial"/>
            </a:endParaRPr>
          </a:p>
          <a:p>
            <a:pPr>
              <a:lnSpc>
                <a:spcPct val="100000"/>
              </a:lnSpc>
              <a:spcBef>
                <a:spcPts val="1275"/>
              </a:spcBef>
            </a:pPr>
            <a:endParaRPr sz="2400" dirty="0">
              <a:latin typeface="Trebuchet MS" panose="020B0603020202020204" pitchFamily="34" charset="0"/>
              <a:cs typeface="Arial"/>
            </a:endParaRPr>
          </a:p>
          <a:p>
            <a:pPr marL="354965" indent="-342265">
              <a:lnSpc>
                <a:spcPct val="100000"/>
              </a:lnSpc>
              <a:buChar char="•"/>
              <a:tabLst>
                <a:tab pos="354965" algn="l"/>
              </a:tabLst>
            </a:pPr>
            <a:r>
              <a:rPr sz="2400" dirty="0">
                <a:latin typeface="Trebuchet MS" panose="020B0603020202020204" pitchFamily="34" charset="0"/>
                <a:cs typeface="Arial MT"/>
              </a:rPr>
              <a:t>We</a:t>
            </a:r>
            <a:r>
              <a:rPr sz="2400" spc="140" dirty="0">
                <a:latin typeface="Trebuchet MS" panose="020B0603020202020204" pitchFamily="34" charset="0"/>
                <a:cs typeface="Arial MT"/>
              </a:rPr>
              <a:t> </a:t>
            </a:r>
            <a:r>
              <a:rPr sz="2400" dirty="0">
                <a:latin typeface="Trebuchet MS" panose="020B0603020202020204" pitchFamily="34" charset="0"/>
                <a:cs typeface="Arial MT"/>
              </a:rPr>
              <a:t>have</a:t>
            </a:r>
            <a:r>
              <a:rPr sz="2400" spc="145" dirty="0">
                <a:latin typeface="Trebuchet MS" panose="020B0603020202020204" pitchFamily="34" charset="0"/>
                <a:cs typeface="Arial MT"/>
              </a:rPr>
              <a:t> </a:t>
            </a:r>
            <a:r>
              <a:rPr sz="2400" b="1" dirty="0">
                <a:latin typeface="Trebuchet MS" panose="020B0603020202020204" pitchFamily="34" charset="0"/>
                <a:cs typeface="Arial"/>
              </a:rPr>
              <a:t>identified</a:t>
            </a:r>
            <a:r>
              <a:rPr sz="2400" b="1" spc="125" dirty="0">
                <a:latin typeface="Trebuchet MS" panose="020B0603020202020204" pitchFamily="34" charset="0"/>
                <a:cs typeface="Arial"/>
              </a:rPr>
              <a:t> </a:t>
            </a:r>
            <a:r>
              <a:rPr sz="2400" b="1" dirty="0">
                <a:latin typeface="Trebuchet MS" panose="020B0603020202020204" pitchFamily="34" charset="0"/>
                <a:cs typeface="Arial"/>
              </a:rPr>
              <a:t>and</a:t>
            </a:r>
            <a:r>
              <a:rPr sz="2400" b="1" spc="150" dirty="0">
                <a:latin typeface="Trebuchet MS" panose="020B0603020202020204" pitchFamily="34" charset="0"/>
                <a:cs typeface="Arial"/>
              </a:rPr>
              <a:t> </a:t>
            </a:r>
            <a:r>
              <a:rPr sz="2400" b="1" dirty="0">
                <a:latin typeface="Trebuchet MS" panose="020B0603020202020204" pitchFamily="34" charset="0"/>
                <a:cs typeface="Arial"/>
              </a:rPr>
              <a:t>collected</a:t>
            </a:r>
            <a:r>
              <a:rPr sz="2400" b="1" spc="145" dirty="0">
                <a:latin typeface="Trebuchet MS" panose="020B0603020202020204" pitchFamily="34" charset="0"/>
                <a:cs typeface="Arial"/>
              </a:rPr>
              <a:t> </a:t>
            </a:r>
            <a:r>
              <a:rPr sz="2400" b="1" dirty="0">
                <a:latin typeface="Trebuchet MS" panose="020B0603020202020204" pitchFamily="34" charset="0"/>
                <a:cs typeface="Arial"/>
              </a:rPr>
              <a:t>datasets</a:t>
            </a:r>
            <a:r>
              <a:rPr sz="2400" b="1" spc="145" dirty="0">
                <a:latin typeface="Trebuchet MS" panose="020B0603020202020204" pitchFamily="34" charset="0"/>
                <a:cs typeface="Arial"/>
              </a:rPr>
              <a:t> </a:t>
            </a:r>
            <a:r>
              <a:rPr sz="2400" dirty="0">
                <a:latin typeface="Trebuchet MS" panose="020B0603020202020204" pitchFamily="34" charset="0"/>
                <a:cs typeface="Arial MT"/>
              </a:rPr>
              <a:t>representing</a:t>
            </a:r>
            <a:r>
              <a:rPr sz="2400" spc="145" dirty="0">
                <a:latin typeface="Trebuchet MS" panose="020B0603020202020204" pitchFamily="34" charset="0"/>
                <a:cs typeface="Arial MT"/>
              </a:rPr>
              <a:t> </a:t>
            </a:r>
            <a:r>
              <a:rPr sz="2400" dirty="0">
                <a:latin typeface="Trebuchet MS" panose="020B0603020202020204" pitchFamily="34" charset="0"/>
                <a:cs typeface="Arial MT"/>
              </a:rPr>
              <a:t>driver</a:t>
            </a:r>
            <a:r>
              <a:rPr sz="2400" spc="150" dirty="0">
                <a:latin typeface="Trebuchet MS" panose="020B0603020202020204" pitchFamily="34" charset="0"/>
                <a:cs typeface="Arial MT"/>
              </a:rPr>
              <a:t> </a:t>
            </a:r>
            <a:r>
              <a:rPr sz="2400" dirty="0">
                <a:latin typeface="Trebuchet MS" panose="020B0603020202020204" pitchFamily="34" charset="0"/>
                <a:cs typeface="Arial MT"/>
              </a:rPr>
              <a:t>behavior</a:t>
            </a:r>
            <a:r>
              <a:rPr sz="2400" spc="150" dirty="0">
                <a:latin typeface="Trebuchet MS" panose="020B0603020202020204" pitchFamily="34" charset="0"/>
                <a:cs typeface="Arial MT"/>
              </a:rPr>
              <a:t> </a:t>
            </a:r>
            <a:r>
              <a:rPr sz="2400" spc="-25" dirty="0">
                <a:latin typeface="Trebuchet MS" panose="020B0603020202020204" pitchFamily="34" charset="0"/>
                <a:cs typeface="Arial MT"/>
              </a:rPr>
              <a:t>in</a:t>
            </a:r>
            <a:endParaRPr sz="2400" dirty="0">
              <a:latin typeface="Trebuchet MS" panose="020B0603020202020204" pitchFamily="34" charset="0"/>
              <a:cs typeface="Arial MT"/>
            </a:endParaRPr>
          </a:p>
          <a:p>
            <a:pPr marL="355600">
              <a:lnSpc>
                <a:spcPct val="100000"/>
              </a:lnSpc>
            </a:pPr>
            <a:r>
              <a:rPr sz="2400" b="1" dirty="0">
                <a:latin typeface="Trebuchet MS" panose="020B0603020202020204" pitchFamily="34" charset="0"/>
                <a:cs typeface="Arial"/>
              </a:rPr>
              <a:t>daylight</a:t>
            </a:r>
            <a:r>
              <a:rPr sz="2400" b="1" spc="-20" dirty="0">
                <a:latin typeface="Trebuchet MS" panose="020B0603020202020204" pitchFamily="34" charset="0"/>
                <a:cs typeface="Arial"/>
              </a:rPr>
              <a:t> </a:t>
            </a:r>
            <a:r>
              <a:rPr sz="2400" b="1" dirty="0">
                <a:latin typeface="Trebuchet MS" panose="020B0603020202020204" pitchFamily="34" charset="0"/>
                <a:cs typeface="Arial"/>
              </a:rPr>
              <a:t>and</a:t>
            </a:r>
            <a:r>
              <a:rPr sz="2400" b="1" spc="-40" dirty="0">
                <a:latin typeface="Trebuchet MS" panose="020B0603020202020204" pitchFamily="34" charset="0"/>
                <a:cs typeface="Arial"/>
              </a:rPr>
              <a:t> </a:t>
            </a:r>
            <a:r>
              <a:rPr sz="2400" b="1" dirty="0">
                <a:latin typeface="Trebuchet MS" panose="020B0603020202020204" pitchFamily="34" charset="0"/>
                <a:cs typeface="Arial"/>
              </a:rPr>
              <a:t>night</a:t>
            </a:r>
            <a:r>
              <a:rPr sz="2400" b="1" spc="-40" dirty="0">
                <a:latin typeface="Trebuchet MS" panose="020B0603020202020204" pitchFamily="34" charset="0"/>
                <a:cs typeface="Arial"/>
              </a:rPr>
              <a:t> </a:t>
            </a:r>
            <a:r>
              <a:rPr sz="2400" b="1" dirty="0">
                <a:latin typeface="Trebuchet MS" panose="020B0603020202020204" pitchFamily="34" charset="0"/>
                <a:cs typeface="Arial"/>
              </a:rPr>
              <a:t>(IR)</a:t>
            </a:r>
            <a:r>
              <a:rPr sz="2400" b="1" spc="-35" dirty="0">
                <a:latin typeface="Trebuchet MS" panose="020B0603020202020204" pitchFamily="34" charset="0"/>
                <a:cs typeface="Arial"/>
              </a:rPr>
              <a:t> </a:t>
            </a:r>
            <a:r>
              <a:rPr sz="2400" b="1" spc="-10" dirty="0">
                <a:latin typeface="Trebuchet MS" panose="020B0603020202020204" pitchFamily="34" charset="0"/>
                <a:cs typeface="Arial"/>
              </a:rPr>
              <a:t>conditions</a:t>
            </a:r>
            <a:r>
              <a:rPr sz="2400" spc="-10" dirty="0">
                <a:latin typeface="Trebuchet MS" panose="020B0603020202020204" pitchFamily="34" charset="0"/>
                <a:cs typeface="Arial MT"/>
              </a:rPr>
              <a:t>.</a:t>
            </a:r>
            <a:endParaRPr sz="2400" dirty="0">
              <a:latin typeface="Trebuchet MS" panose="020B0603020202020204" pitchFamily="34" charset="0"/>
              <a:cs typeface="Arial MT"/>
            </a:endParaRPr>
          </a:p>
          <a:p>
            <a:pPr marL="353060" marR="8890" indent="-340360" algn="just">
              <a:lnSpc>
                <a:spcPct val="100000"/>
              </a:lnSpc>
              <a:spcBef>
                <a:spcPts val="575"/>
              </a:spcBef>
              <a:buChar char="•"/>
              <a:tabLst>
                <a:tab pos="355600" algn="l"/>
              </a:tabLst>
            </a:pPr>
            <a:r>
              <a:rPr sz="2400" dirty="0">
                <a:latin typeface="Trebuchet MS" panose="020B0603020202020204" pitchFamily="34" charset="0"/>
                <a:cs typeface="Arial MT"/>
              </a:rPr>
              <a:t>The</a:t>
            </a:r>
            <a:r>
              <a:rPr sz="2400" spc="254" dirty="0">
                <a:latin typeface="Trebuchet MS" panose="020B0603020202020204" pitchFamily="34" charset="0"/>
                <a:cs typeface="Arial MT"/>
              </a:rPr>
              <a:t> </a:t>
            </a:r>
            <a:r>
              <a:rPr sz="2400" dirty="0">
                <a:latin typeface="Trebuchet MS" panose="020B0603020202020204" pitchFamily="34" charset="0"/>
                <a:cs typeface="Arial MT"/>
              </a:rPr>
              <a:t>system</a:t>
            </a:r>
            <a:r>
              <a:rPr sz="2400" spc="260" dirty="0">
                <a:latin typeface="Trebuchet MS" panose="020B0603020202020204" pitchFamily="34" charset="0"/>
                <a:cs typeface="Arial MT"/>
              </a:rPr>
              <a:t> </a:t>
            </a:r>
            <a:r>
              <a:rPr sz="2400" dirty="0">
                <a:latin typeface="Trebuchet MS" panose="020B0603020202020204" pitchFamily="34" charset="0"/>
                <a:cs typeface="Arial MT"/>
              </a:rPr>
              <a:t>is</a:t>
            </a:r>
            <a:r>
              <a:rPr sz="2400" spc="254" dirty="0">
                <a:latin typeface="Trebuchet MS" panose="020B0603020202020204" pitchFamily="34" charset="0"/>
                <a:cs typeface="Arial MT"/>
              </a:rPr>
              <a:t> </a:t>
            </a:r>
            <a:r>
              <a:rPr sz="2400" dirty="0">
                <a:latin typeface="Trebuchet MS" panose="020B0603020202020204" pitchFamily="34" charset="0"/>
                <a:cs typeface="Arial MT"/>
              </a:rPr>
              <a:t>being</a:t>
            </a:r>
            <a:r>
              <a:rPr sz="2400" spc="265" dirty="0">
                <a:latin typeface="Trebuchet MS" panose="020B0603020202020204" pitchFamily="34" charset="0"/>
                <a:cs typeface="Arial MT"/>
              </a:rPr>
              <a:t> </a:t>
            </a:r>
            <a:r>
              <a:rPr sz="2400" dirty="0">
                <a:latin typeface="Trebuchet MS" panose="020B0603020202020204" pitchFamily="34" charset="0"/>
                <a:cs typeface="Arial MT"/>
              </a:rPr>
              <a:t>developed</a:t>
            </a:r>
            <a:r>
              <a:rPr sz="2400" spc="260" dirty="0">
                <a:latin typeface="Trebuchet MS" panose="020B0603020202020204" pitchFamily="34" charset="0"/>
                <a:cs typeface="Arial MT"/>
              </a:rPr>
              <a:t> </a:t>
            </a:r>
            <a:r>
              <a:rPr sz="2400" dirty="0">
                <a:latin typeface="Trebuchet MS" panose="020B0603020202020204" pitchFamily="34" charset="0"/>
                <a:cs typeface="Arial MT"/>
              </a:rPr>
              <a:t>using</a:t>
            </a:r>
            <a:r>
              <a:rPr sz="2400" spc="250" dirty="0">
                <a:latin typeface="Trebuchet MS" panose="020B0603020202020204" pitchFamily="34" charset="0"/>
                <a:cs typeface="Arial MT"/>
              </a:rPr>
              <a:t> </a:t>
            </a:r>
            <a:r>
              <a:rPr sz="2400" b="1" dirty="0">
                <a:latin typeface="Trebuchet MS" panose="020B0603020202020204" pitchFamily="34" charset="0"/>
                <a:cs typeface="Arial"/>
              </a:rPr>
              <a:t>deep</a:t>
            </a:r>
            <a:r>
              <a:rPr sz="2400" b="1" spc="245" dirty="0">
                <a:latin typeface="Trebuchet MS" panose="020B0603020202020204" pitchFamily="34" charset="0"/>
                <a:cs typeface="Arial"/>
              </a:rPr>
              <a:t> </a:t>
            </a:r>
            <a:r>
              <a:rPr sz="2400" b="1" dirty="0">
                <a:latin typeface="Trebuchet MS" panose="020B0603020202020204" pitchFamily="34" charset="0"/>
                <a:cs typeface="Arial"/>
              </a:rPr>
              <a:t>learning</a:t>
            </a:r>
            <a:r>
              <a:rPr sz="2400" b="1" spc="245" dirty="0">
                <a:latin typeface="Trebuchet MS" panose="020B0603020202020204" pitchFamily="34" charset="0"/>
                <a:cs typeface="Arial"/>
              </a:rPr>
              <a:t> </a:t>
            </a:r>
            <a:r>
              <a:rPr sz="2400" b="1" dirty="0">
                <a:latin typeface="Trebuchet MS" panose="020B0603020202020204" pitchFamily="34" charset="0"/>
                <a:cs typeface="Arial"/>
              </a:rPr>
              <a:t>techniques</a:t>
            </a:r>
            <a:r>
              <a:rPr sz="2400" dirty="0">
                <a:latin typeface="Trebuchet MS" panose="020B0603020202020204" pitchFamily="34" charset="0"/>
                <a:cs typeface="Arial MT"/>
              </a:rPr>
              <a:t>,</a:t>
            </a:r>
            <a:r>
              <a:rPr sz="2400" spc="254" dirty="0">
                <a:latin typeface="Trebuchet MS" panose="020B0603020202020204" pitchFamily="34" charset="0"/>
                <a:cs typeface="Arial MT"/>
              </a:rPr>
              <a:t> </a:t>
            </a:r>
            <a:r>
              <a:rPr sz="2400" spc="-10" dirty="0">
                <a:latin typeface="Trebuchet MS" panose="020B0603020202020204" pitchFamily="34" charset="0"/>
                <a:cs typeface="Arial MT"/>
              </a:rPr>
              <a:t>focusing 	</a:t>
            </a:r>
            <a:r>
              <a:rPr sz="2400" dirty="0">
                <a:latin typeface="Trebuchet MS" panose="020B0603020202020204" pitchFamily="34" charset="0"/>
                <a:cs typeface="Arial MT"/>
              </a:rPr>
              <a:t>on</a:t>
            </a:r>
            <a:r>
              <a:rPr sz="2400" spc="-40" dirty="0">
                <a:latin typeface="Trebuchet MS" panose="020B0603020202020204" pitchFamily="34" charset="0"/>
                <a:cs typeface="Arial MT"/>
              </a:rPr>
              <a:t> </a:t>
            </a:r>
            <a:r>
              <a:rPr sz="2400" b="1" dirty="0">
                <a:latin typeface="Trebuchet MS" panose="020B0603020202020204" pitchFamily="34" charset="0"/>
                <a:cs typeface="Arial"/>
              </a:rPr>
              <a:t>CNN</a:t>
            </a:r>
            <a:r>
              <a:rPr sz="2400" b="1" spc="-15" dirty="0">
                <a:latin typeface="Trebuchet MS" panose="020B0603020202020204" pitchFamily="34" charset="0"/>
                <a:cs typeface="Arial"/>
              </a:rPr>
              <a:t> </a:t>
            </a:r>
            <a:r>
              <a:rPr sz="2400" b="1" dirty="0">
                <a:latin typeface="Trebuchet MS" panose="020B0603020202020204" pitchFamily="34" charset="0"/>
                <a:cs typeface="Arial"/>
              </a:rPr>
              <a:t>and</a:t>
            </a:r>
            <a:r>
              <a:rPr sz="2400" b="1" spc="-50" dirty="0">
                <a:latin typeface="Trebuchet MS" panose="020B0603020202020204" pitchFamily="34" charset="0"/>
                <a:cs typeface="Arial"/>
              </a:rPr>
              <a:t> </a:t>
            </a:r>
            <a:r>
              <a:rPr sz="2400" b="1" dirty="0">
                <a:latin typeface="Trebuchet MS" panose="020B0603020202020204" pitchFamily="34" charset="0"/>
                <a:cs typeface="Arial"/>
              </a:rPr>
              <a:t>LSTM</a:t>
            </a:r>
            <a:r>
              <a:rPr sz="2400" b="1" spc="-50" dirty="0">
                <a:latin typeface="Trebuchet MS" panose="020B0603020202020204" pitchFamily="34" charset="0"/>
                <a:cs typeface="Arial"/>
              </a:rPr>
              <a:t> </a:t>
            </a:r>
            <a:r>
              <a:rPr sz="2400" b="1" dirty="0">
                <a:latin typeface="Trebuchet MS" panose="020B0603020202020204" pitchFamily="34" charset="0"/>
                <a:cs typeface="Arial"/>
              </a:rPr>
              <a:t>models</a:t>
            </a:r>
            <a:r>
              <a:rPr sz="2400" b="1" spc="-45" dirty="0">
                <a:latin typeface="Trebuchet MS" panose="020B0603020202020204" pitchFamily="34" charset="0"/>
                <a:cs typeface="Arial"/>
              </a:rPr>
              <a:t> </a:t>
            </a:r>
            <a:r>
              <a:rPr sz="2400" dirty="0">
                <a:latin typeface="Trebuchet MS" panose="020B0603020202020204" pitchFamily="34" charset="0"/>
                <a:cs typeface="Arial MT"/>
              </a:rPr>
              <a:t>for</a:t>
            </a:r>
            <a:r>
              <a:rPr sz="2400" spc="-40" dirty="0">
                <a:latin typeface="Trebuchet MS" panose="020B0603020202020204" pitchFamily="34" charset="0"/>
                <a:cs typeface="Arial MT"/>
              </a:rPr>
              <a:t> </a:t>
            </a:r>
            <a:r>
              <a:rPr sz="2400" dirty="0">
                <a:latin typeface="Trebuchet MS" panose="020B0603020202020204" pitchFamily="34" charset="0"/>
                <a:cs typeface="Arial MT"/>
              </a:rPr>
              <a:t>anomaly</a:t>
            </a:r>
            <a:r>
              <a:rPr sz="2400" spc="-25" dirty="0">
                <a:latin typeface="Trebuchet MS" panose="020B0603020202020204" pitchFamily="34" charset="0"/>
                <a:cs typeface="Arial MT"/>
              </a:rPr>
              <a:t> </a:t>
            </a:r>
            <a:r>
              <a:rPr sz="2400" spc="-10" dirty="0">
                <a:latin typeface="Trebuchet MS" panose="020B0603020202020204" pitchFamily="34" charset="0"/>
                <a:cs typeface="Arial MT"/>
              </a:rPr>
              <a:t>detection.</a:t>
            </a:r>
            <a:endParaRPr sz="2400" dirty="0">
              <a:latin typeface="Trebuchet MS" panose="020B0603020202020204" pitchFamily="34" charset="0"/>
              <a:cs typeface="Arial MT"/>
            </a:endParaRPr>
          </a:p>
          <a:p>
            <a:pPr marL="353060" marR="6350" indent="-340360" algn="just">
              <a:lnSpc>
                <a:spcPct val="100000"/>
              </a:lnSpc>
              <a:spcBef>
                <a:spcPts val="580"/>
              </a:spcBef>
              <a:buChar char="•"/>
              <a:tabLst>
                <a:tab pos="355600" algn="l"/>
              </a:tabLst>
            </a:pPr>
            <a:r>
              <a:rPr sz="2400" dirty="0">
                <a:latin typeface="Trebuchet MS" panose="020B0603020202020204" pitchFamily="34" charset="0"/>
                <a:cs typeface="Arial MT"/>
              </a:rPr>
              <a:t>The</a:t>
            </a:r>
            <a:r>
              <a:rPr sz="2400" spc="-50" dirty="0">
                <a:latin typeface="Trebuchet MS" panose="020B0603020202020204" pitchFamily="34" charset="0"/>
                <a:cs typeface="Arial MT"/>
              </a:rPr>
              <a:t> </a:t>
            </a:r>
            <a:r>
              <a:rPr sz="2400" dirty="0">
                <a:latin typeface="Trebuchet MS" panose="020B0603020202020204" pitchFamily="34" charset="0"/>
                <a:cs typeface="Arial MT"/>
              </a:rPr>
              <a:t>members</a:t>
            </a:r>
            <a:r>
              <a:rPr sz="2400" spc="-55" dirty="0">
                <a:latin typeface="Trebuchet MS" panose="020B0603020202020204" pitchFamily="34" charset="0"/>
                <a:cs typeface="Arial MT"/>
              </a:rPr>
              <a:t> </a:t>
            </a:r>
            <a:r>
              <a:rPr sz="2400" dirty="0">
                <a:latin typeface="Trebuchet MS" panose="020B0603020202020204" pitchFamily="34" charset="0"/>
                <a:cs typeface="Arial MT"/>
              </a:rPr>
              <a:t>recommended</a:t>
            </a:r>
            <a:r>
              <a:rPr sz="2400" spc="-45" dirty="0">
                <a:latin typeface="Trebuchet MS" panose="020B0603020202020204" pitchFamily="34" charset="0"/>
                <a:cs typeface="Arial MT"/>
              </a:rPr>
              <a:t> </a:t>
            </a:r>
            <a:r>
              <a:rPr sz="2400" dirty="0">
                <a:latin typeface="Trebuchet MS" panose="020B0603020202020204" pitchFamily="34" charset="0"/>
                <a:cs typeface="Arial MT"/>
              </a:rPr>
              <a:t>exploring</a:t>
            </a:r>
            <a:r>
              <a:rPr sz="2400" spc="-45" dirty="0">
                <a:latin typeface="Trebuchet MS" panose="020B0603020202020204" pitchFamily="34" charset="0"/>
                <a:cs typeface="Arial MT"/>
              </a:rPr>
              <a:t> </a:t>
            </a:r>
            <a:r>
              <a:rPr sz="2400" b="1" dirty="0">
                <a:latin typeface="Trebuchet MS" panose="020B0603020202020204" pitchFamily="34" charset="0"/>
                <a:cs typeface="Arial"/>
              </a:rPr>
              <a:t>deep</a:t>
            </a:r>
            <a:r>
              <a:rPr sz="2400" b="1" spc="-65" dirty="0">
                <a:latin typeface="Trebuchet MS" panose="020B0603020202020204" pitchFamily="34" charset="0"/>
                <a:cs typeface="Arial"/>
              </a:rPr>
              <a:t> </a:t>
            </a:r>
            <a:r>
              <a:rPr sz="2400" b="1" dirty="0">
                <a:latin typeface="Trebuchet MS" panose="020B0603020202020204" pitchFamily="34" charset="0"/>
                <a:cs typeface="Arial"/>
              </a:rPr>
              <a:t>learning</a:t>
            </a:r>
            <a:r>
              <a:rPr sz="2400" b="1" spc="-60" dirty="0">
                <a:latin typeface="Trebuchet MS" panose="020B0603020202020204" pitchFamily="34" charset="0"/>
                <a:cs typeface="Arial"/>
              </a:rPr>
              <a:t> </a:t>
            </a:r>
            <a:r>
              <a:rPr sz="2400" b="1" dirty="0">
                <a:latin typeface="Trebuchet MS" panose="020B0603020202020204" pitchFamily="34" charset="0"/>
                <a:cs typeface="Arial"/>
              </a:rPr>
              <a:t>models</a:t>
            </a:r>
            <a:r>
              <a:rPr sz="2400" b="1" spc="-50" dirty="0">
                <a:latin typeface="Trebuchet MS" panose="020B0603020202020204" pitchFamily="34" charset="0"/>
                <a:cs typeface="Arial"/>
              </a:rPr>
              <a:t> </a:t>
            </a:r>
            <a:r>
              <a:rPr sz="2400" dirty="0">
                <a:latin typeface="Trebuchet MS" panose="020B0603020202020204" pitchFamily="34" charset="0"/>
                <a:cs typeface="Arial MT"/>
              </a:rPr>
              <a:t>such</a:t>
            </a:r>
            <a:r>
              <a:rPr sz="2400" spc="-50" dirty="0">
                <a:latin typeface="Trebuchet MS" panose="020B0603020202020204" pitchFamily="34" charset="0"/>
                <a:cs typeface="Arial MT"/>
              </a:rPr>
              <a:t> </a:t>
            </a:r>
            <a:r>
              <a:rPr sz="2400" dirty="0">
                <a:latin typeface="Trebuchet MS" panose="020B0603020202020204" pitchFamily="34" charset="0"/>
                <a:cs typeface="Arial MT"/>
              </a:rPr>
              <a:t>as</a:t>
            </a:r>
            <a:r>
              <a:rPr sz="2400" spc="-50" dirty="0">
                <a:latin typeface="Trebuchet MS" panose="020B0603020202020204" pitchFamily="34" charset="0"/>
                <a:cs typeface="Arial MT"/>
              </a:rPr>
              <a:t> </a:t>
            </a:r>
            <a:r>
              <a:rPr sz="2400" b="1" spc="-20" dirty="0">
                <a:latin typeface="Trebuchet MS" panose="020B0603020202020204" pitchFamily="34" charset="0"/>
                <a:cs typeface="Arial"/>
              </a:rPr>
              <a:t>CNN, 	</a:t>
            </a:r>
            <a:r>
              <a:rPr sz="2400" b="1" dirty="0">
                <a:latin typeface="Trebuchet MS" panose="020B0603020202020204" pitchFamily="34" charset="0"/>
                <a:cs typeface="Arial"/>
              </a:rPr>
              <a:t>Autoencoders,</a:t>
            </a:r>
            <a:r>
              <a:rPr sz="2400" b="1" spc="-50" dirty="0">
                <a:latin typeface="Trebuchet MS" panose="020B0603020202020204" pitchFamily="34" charset="0"/>
                <a:cs typeface="Arial"/>
              </a:rPr>
              <a:t> </a:t>
            </a:r>
            <a:r>
              <a:rPr sz="2400" b="1" dirty="0">
                <a:latin typeface="Trebuchet MS" panose="020B0603020202020204" pitchFamily="34" charset="0"/>
                <a:cs typeface="Arial"/>
              </a:rPr>
              <a:t>LSTM,</a:t>
            </a:r>
            <a:r>
              <a:rPr sz="2400" b="1" spc="-55" dirty="0">
                <a:latin typeface="Trebuchet MS" panose="020B0603020202020204" pitchFamily="34" charset="0"/>
                <a:cs typeface="Arial"/>
              </a:rPr>
              <a:t> </a:t>
            </a:r>
            <a:r>
              <a:rPr sz="2400" b="1" dirty="0">
                <a:latin typeface="Trebuchet MS" panose="020B0603020202020204" pitchFamily="34" charset="0"/>
                <a:cs typeface="Arial"/>
              </a:rPr>
              <a:t>and</a:t>
            </a:r>
            <a:r>
              <a:rPr sz="2400" b="1" spc="-130" dirty="0">
                <a:latin typeface="Trebuchet MS" panose="020B0603020202020204" pitchFamily="34" charset="0"/>
                <a:cs typeface="Arial"/>
              </a:rPr>
              <a:t> </a:t>
            </a:r>
            <a:r>
              <a:rPr sz="2400" b="1" spc="-25" dirty="0">
                <a:latin typeface="Trebuchet MS" panose="020B0603020202020204" pitchFamily="34" charset="0"/>
                <a:cs typeface="Arial"/>
              </a:rPr>
              <a:t>ADA</a:t>
            </a:r>
            <a:endParaRPr sz="2400" dirty="0">
              <a:latin typeface="Trebuchet MS" panose="020B0603020202020204" pitchFamily="34" charset="0"/>
              <a:cs typeface="Arial"/>
            </a:endParaRPr>
          </a:p>
          <a:p>
            <a:pPr marL="353060" marR="5080" indent="-340360" algn="just">
              <a:lnSpc>
                <a:spcPct val="100000"/>
              </a:lnSpc>
              <a:spcBef>
                <a:spcPts val="575"/>
              </a:spcBef>
              <a:buChar char="•"/>
              <a:tabLst>
                <a:tab pos="355600" algn="l"/>
              </a:tabLst>
            </a:pPr>
            <a:r>
              <a:rPr sz="2400" dirty="0">
                <a:latin typeface="Trebuchet MS" panose="020B0603020202020204" pitchFamily="34" charset="0"/>
                <a:cs typeface="Arial MT"/>
              </a:rPr>
              <a:t>Based</a:t>
            </a:r>
            <a:r>
              <a:rPr sz="2400" spc="105" dirty="0">
                <a:latin typeface="Trebuchet MS" panose="020B0603020202020204" pitchFamily="34" charset="0"/>
                <a:cs typeface="Arial MT"/>
              </a:rPr>
              <a:t> </a:t>
            </a:r>
            <a:r>
              <a:rPr sz="2400" dirty="0">
                <a:latin typeface="Trebuchet MS" panose="020B0603020202020204" pitchFamily="34" charset="0"/>
                <a:cs typeface="Arial MT"/>
              </a:rPr>
              <a:t>on</a:t>
            </a:r>
            <a:r>
              <a:rPr sz="2400" spc="105" dirty="0">
                <a:latin typeface="Trebuchet MS" panose="020B0603020202020204" pitchFamily="34" charset="0"/>
                <a:cs typeface="Arial MT"/>
              </a:rPr>
              <a:t> </a:t>
            </a:r>
            <a:r>
              <a:rPr sz="2400" dirty="0">
                <a:latin typeface="Trebuchet MS" panose="020B0603020202020204" pitchFamily="34" charset="0"/>
                <a:cs typeface="Arial MT"/>
              </a:rPr>
              <a:t>the</a:t>
            </a:r>
            <a:r>
              <a:rPr sz="2400" spc="105" dirty="0">
                <a:latin typeface="Trebuchet MS" panose="020B0603020202020204" pitchFamily="34" charset="0"/>
                <a:cs typeface="Arial MT"/>
              </a:rPr>
              <a:t> </a:t>
            </a:r>
            <a:r>
              <a:rPr sz="2400" dirty="0">
                <a:latin typeface="Trebuchet MS" panose="020B0603020202020204" pitchFamily="34" charset="0"/>
                <a:cs typeface="Arial MT"/>
              </a:rPr>
              <a:t>panel’s</a:t>
            </a:r>
            <a:r>
              <a:rPr sz="2400" spc="110" dirty="0">
                <a:latin typeface="Trebuchet MS" panose="020B0603020202020204" pitchFamily="34" charset="0"/>
                <a:cs typeface="Arial MT"/>
              </a:rPr>
              <a:t> </a:t>
            </a:r>
            <a:r>
              <a:rPr sz="2400" dirty="0">
                <a:latin typeface="Trebuchet MS" panose="020B0603020202020204" pitchFamily="34" charset="0"/>
                <a:cs typeface="Arial MT"/>
              </a:rPr>
              <a:t>suggestion,</a:t>
            </a:r>
            <a:r>
              <a:rPr sz="2400" spc="90" dirty="0">
                <a:latin typeface="Trebuchet MS" panose="020B0603020202020204" pitchFamily="34" charset="0"/>
                <a:cs typeface="Arial MT"/>
              </a:rPr>
              <a:t> </a:t>
            </a:r>
            <a:r>
              <a:rPr sz="2400" dirty="0">
                <a:latin typeface="Trebuchet MS" panose="020B0603020202020204" pitchFamily="34" charset="0"/>
                <a:cs typeface="Arial MT"/>
              </a:rPr>
              <a:t>the</a:t>
            </a:r>
            <a:r>
              <a:rPr sz="2400" spc="105" dirty="0">
                <a:latin typeface="Trebuchet MS" panose="020B0603020202020204" pitchFamily="34" charset="0"/>
                <a:cs typeface="Arial MT"/>
              </a:rPr>
              <a:t> </a:t>
            </a:r>
            <a:r>
              <a:rPr sz="2400" b="1" dirty="0">
                <a:latin typeface="Trebuchet MS" panose="020B0603020202020204" pitchFamily="34" charset="0"/>
                <a:cs typeface="Arial"/>
              </a:rPr>
              <a:t>V2V/V2I</a:t>
            </a:r>
            <a:r>
              <a:rPr sz="2400" b="1" spc="110" dirty="0">
                <a:latin typeface="Trebuchet MS" panose="020B0603020202020204" pitchFamily="34" charset="0"/>
                <a:cs typeface="Arial"/>
              </a:rPr>
              <a:t> </a:t>
            </a:r>
            <a:r>
              <a:rPr sz="2400" b="1" dirty="0">
                <a:latin typeface="Trebuchet MS" panose="020B0603020202020204" pitchFamily="34" charset="0"/>
                <a:cs typeface="Arial"/>
              </a:rPr>
              <a:t>communication</a:t>
            </a:r>
            <a:r>
              <a:rPr sz="2400" b="1" spc="90" dirty="0">
                <a:latin typeface="Trebuchet MS" panose="020B0603020202020204" pitchFamily="34" charset="0"/>
                <a:cs typeface="Arial"/>
              </a:rPr>
              <a:t> </a:t>
            </a:r>
            <a:r>
              <a:rPr sz="2400" b="1" dirty="0">
                <a:latin typeface="Trebuchet MS" panose="020B0603020202020204" pitchFamily="34" charset="0"/>
                <a:cs typeface="Arial"/>
              </a:rPr>
              <a:t>feature</a:t>
            </a:r>
            <a:r>
              <a:rPr sz="2400" b="1" spc="105" dirty="0">
                <a:latin typeface="Trebuchet MS" panose="020B0603020202020204" pitchFamily="34" charset="0"/>
                <a:cs typeface="Arial"/>
              </a:rPr>
              <a:t> </a:t>
            </a:r>
            <a:r>
              <a:rPr sz="2400" b="1" spc="-25" dirty="0">
                <a:latin typeface="Trebuchet MS" panose="020B0603020202020204" pitchFamily="34" charset="0"/>
                <a:cs typeface="Arial"/>
              </a:rPr>
              <a:t>has 	</a:t>
            </a:r>
            <a:r>
              <a:rPr sz="2400" b="1" dirty="0">
                <a:latin typeface="Trebuchet MS" panose="020B0603020202020204" pitchFamily="34" charset="0"/>
                <a:cs typeface="Arial"/>
              </a:rPr>
              <a:t>been</a:t>
            </a:r>
            <a:r>
              <a:rPr sz="2400" b="1" spc="229" dirty="0">
                <a:latin typeface="Trebuchet MS" panose="020B0603020202020204" pitchFamily="34" charset="0"/>
                <a:cs typeface="Arial"/>
              </a:rPr>
              <a:t> </a:t>
            </a:r>
            <a:r>
              <a:rPr sz="2400" b="1" dirty="0">
                <a:latin typeface="Trebuchet MS" panose="020B0603020202020204" pitchFamily="34" charset="0"/>
                <a:cs typeface="Arial"/>
              </a:rPr>
              <a:t>excluded</a:t>
            </a:r>
            <a:r>
              <a:rPr sz="2400" dirty="0">
                <a:latin typeface="Trebuchet MS" panose="020B0603020202020204" pitchFamily="34" charset="0"/>
                <a:cs typeface="Arial MT"/>
              </a:rPr>
              <a:t>,</a:t>
            </a:r>
            <a:r>
              <a:rPr sz="2400" spc="240" dirty="0">
                <a:latin typeface="Trebuchet MS" panose="020B0603020202020204" pitchFamily="34" charset="0"/>
                <a:cs typeface="Arial MT"/>
              </a:rPr>
              <a:t> </a:t>
            </a:r>
            <a:r>
              <a:rPr sz="2400" dirty="0">
                <a:latin typeface="Trebuchet MS" panose="020B0603020202020204" pitchFamily="34" charset="0"/>
                <a:cs typeface="Arial MT"/>
              </a:rPr>
              <a:t>and</a:t>
            </a:r>
            <a:r>
              <a:rPr sz="2400" spc="235" dirty="0">
                <a:latin typeface="Trebuchet MS" panose="020B0603020202020204" pitchFamily="34" charset="0"/>
                <a:cs typeface="Arial MT"/>
              </a:rPr>
              <a:t> </a:t>
            </a:r>
            <a:r>
              <a:rPr sz="2400" dirty="0">
                <a:latin typeface="Trebuchet MS" panose="020B0603020202020204" pitchFamily="34" charset="0"/>
                <a:cs typeface="Arial MT"/>
              </a:rPr>
              <a:t>the</a:t>
            </a:r>
            <a:r>
              <a:rPr sz="2400" spc="235" dirty="0">
                <a:latin typeface="Trebuchet MS" panose="020B0603020202020204" pitchFamily="34" charset="0"/>
                <a:cs typeface="Arial MT"/>
              </a:rPr>
              <a:t> </a:t>
            </a:r>
            <a:r>
              <a:rPr sz="2400" dirty="0">
                <a:latin typeface="Trebuchet MS" panose="020B0603020202020204" pitchFamily="34" charset="0"/>
                <a:cs typeface="Arial MT"/>
              </a:rPr>
              <a:t>system</a:t>
            </a:r>
            <a:r>
              <a:rPr sz="2400" spc="229" dirty="0">
                <a:latin typeface="Trebuchet MS" panose="020B0603020202020204" pitchFamily="34" charset="0"/>
                <a:cs typeface="Arial MT"/>
              </a:rPr>
              <a:t> </a:t>
            </a:r>
            <a:r>
              <a:rPr sz="2400" dirty="0">
                <a:latin typeface="Trebuchet MS" panose="020B0603020202020204" pitchFamily="34" charset="0"/>
                <a:cs typeface="Arial MT"/>
              </a:rPr>
              <a:t>now</a:t>
            </a:r>
            <a:r>
              <a:rPr sz="2400" spc="229" dirty="0">
                <a:latin typeface="Trebuchet MS" panose="020B0603020202020204" pitchFamily="34" charset="0"/>
                <a:cs typeface="Arial MT"/>
              </a:rPr>
              <a:t> </a:t>
            </a:r>
            <a:r>
              <a:rPr sz="2400" dirty="0">
                <a:latin typeface="Trebuchet MS" panose="020B0603020202020204" pitchFamily="34" charset="0"/>
                <a:cs typeface="Arial MT"/>
              </a:rPr>
              <a:t>focuses</a:t>
            </a:r>
            <a:r>
              <a:rPr sz="2400" spc="229" dirty="0">
                <a:latin typeface="Trebuchet MS" panose="020B0603020202020204" pitchFamily="34" charset="0"/>
                <a:cs typeface="Arial MT"/>
              </a:rPr>
              <a:t> </a:t>
            </a:r>
            <a:r>
              <a:rPr sz="2400" dirty="0">
                <a:latin typeface="Trebuchet MS" panose="020B0603020202020204" pitchFamily="34" charset="0"/>
                <a:cs typeface="Arial MT"/>
              </a:rPr>
              <a:t>solely</a:t>
            </a:r>
            <a:r>
              <a:rPr sz="2400" spc="235" dirty="0">
                <a:latin typeface="Trebuchet MS" panose="020B0603020202020204" pitchFamily="34" charset="0"/>
                <a:cs typeface="Arial MT"/>
              </a:rPr>
              <a:t> </a:t>
            </a:r>
            <a:r>
              <a:rPr sz="2400" dirty="0">
                <a:latin typeface="Trebuchet MS" panose="020B0603020202020204" pitchFamily="34" charset="0"/>
                <a:cs typeface="Arial MT"/>
              </a:rPr>
              <a:t>on</a:t>
            </a:r>
            <a:r>
              <a:rPr sz="2400" spc="229" dirty="0">
                <a:latin typeface="Trebuchet MS" panose="020B0603020202020204" pitchFamily="34" charset="0"/>
                <a:cs typeface="Arial MT"/>
              </a:rPr>
              <a:t> </a:t>
            </a:r>
            <a:r>
              <a:rPr sz="2400" b="1" spc="-20" dirty="0">
                <a:latin typeface="Trebuchet MS" panose="020B0603020202020204" pitchFamily="34" charset="0"/>
                <a:cs typeface="Arial"/>
              </a:rPr>
              <a:t>real-</a:t>
            </a:r>
            <a:r>
              <a:rPr sz="2400" b="1" dirty="0">
                <a:latin typeface="Trebuchet MS" panose="020B0603020202020204" pitchFamily="34" charset="0"/>
                <a:cs typeface="Arial"/>
              </a:rPr>
              <a:t>time</a:t>
            </a:r>
            <a:r>
              <a:rPr sz="2400" b="1" spc="225" dirty="0">
                <a:latin typeface="Trebuchet MS" panose="020B0603020202020204" pitchFamily="34" charset="0"/>
                <a:cs typeface="Arial"/>
              </a:rPr>
              <a:t> </a:t>
            </a:r>
            <a:r>
              <a:rPr sz="2400" b="1" spc="-10" dirty="0">
                <a:latin typeface="Trebuchet MS" panose="020B0603020202020204" pitchFamily="34" charset="0"/>
                <a:cs typeface="Arial"/>
              </a:rPr>
              <a:t>anomaly 	</a:t>
            </a:r>
            <a:r>
              <a:rPr sz="2400" b="1" dirty="0">
                <a:latin typeface="Trebuchet MS" panose="020B0603020202020204" pitchFamily="34" charset="0"/>
                <a:cs typeface="Arial"/>
              </a:rPr>
              <a:t>detection</a:t>
            </a:r>
            <a:r>
              <a:rPr sz="2400" b="1" spc="-55" dirty="0">
                <a:latin typeface="Trebuchet MS" panose="020B0603020202020204" pitchFamily="34" charset="0"/>
                <a:cs typeface="Arial"/>
              </a:rPr>
              <a:t> </a:t>
            </a:r>
            <a:r>
              <a:rPr sz="2400" dirty="0">
                <a:latin typeface="Trebuchet MS" panose="020B0603020202020204" pitchFamily="34" charset="0"/>
                <a:cs typeface="Arial MT"/>
              </a:rPr>
              <a:t>within</a:t>
            </a:r>
            <a:r>
              <a:rPr sz="2400" spc="-35" dirty="0">
                <a:latin typeface="Trebuchet MS" panose="020B0603020202020204" pitchFamily="34" charset="0"/>
                <a:cs typeface="Arial MT"/>
              </a:rPr>
              <a:t> </a:t>
            </a:r>
            <a:r>
              <a:rPr sz="2400" dirty="0">
                <a:latin typeface="Trebuchet MS" panose="020B0603020202020204" pitchFamily="34" charset="0"/>
                <a:cs typeface="Arial MT"/>
              </a:rPr>
              <a:t>the</a:t>
            </a:r>
            <a:r>
              <a:rPr sz="2400" spc="-40" dirty="0">
                <a:latin typeface="Trebuchet MS" panose="020B0603020202020204" pitchFamily="34" charset="0"/>
                <a:cs typeface="Arial MT"/>
              </a:rPr>
              <a:t> </a:t>
            </a:r>
            <a:r>
              <a:rPr sz="2400" spc="-10" dirty="0">
                <a:latin typeface="Trebuchet MS" panose="020B0603020202020204" pitchFamily="34" charset="0"/>
                <a:cs typeface="Arial MT"/>
              </a:rPr>
              <a:t>vehicle.</a:t>
            </a:r>
            <a:endParaRPr sz="2400" dirty="0">
              <a:latin typeface="Trebuchet MS" panose="020B0603020202020204" pitchFamily="34" charset="0"/>
              <a:cs typeface="Arial MT"/>
            </a:endParaRPr>
          </a:p>
        </p:txBody>
      </p:sp>
      <p:sp>
        <p:nvSpPr>
          <p:cNvPr id="4" name="object 4"/>
          <p:cNvSpPr txBox="1">
            <a:spLocks noGrp="1"/>
          </p:cNvSpPr>
          <p:nvPr>
            <p:ph type="title"/>
          </p:nvPr>
        </p:nvSpPr>
        <p:spPr>
          <a:xfrm>
            <a:off x="6171057" y="572770"/>
            <a:ext cx="3846829" cy="391160"/>
          </a:xfrm>
          <a:prstGeom prst="rect">
            <a:avLst/>
          </a:prstGeom>
        </p:spPr>
        <p:txBody>
          <a:bodyPr vert="horz" wrap="square" lIns="0" tIns="12700" rIns="0" bIns="0" rtlCol="0">
            <a:spAutoFit/>
          </a:bodyPr>
          <a:lstStyle/>
          <a:p>
            <a:pPr marL="12700">
              <a:lnSpc>
                <a:spcPct val="100000"/>
              </a:lnSpc>
              <a:spcBef>
                <a:spcPts val="100"/>
              </a:spcBef>
            </a:pPr>
            <a:r>
              <a:rPr dirty="0"/>
              <a:t>Suggestions</a:t>
            </a:r>
            <a:r>
              <a:rPr spc="-50" dirty="0"/>
              <a:t> </a:t>
            </a:r>
            <a:r>
              <a:rPr dirty="0"/>
              <a:t>from</a:t>
            </a:r>
            <a:r>
              <a:rPr spc="-75" dirty="0"/>
              <a:t> </a:t>
            </a:r>
            <a:r>
              <a:rPr spc="-10" dirty="0"/>
              <a:t>Review</a:t>
            </a:r>
            <a:r>
              <a:rPr spc="-50" dirty="0"/>
              <a:t> </a:t>
            </a:r>
            <a:r>
              <a:rPr dirty="0"/>
              <a:t>-</a:t>
            </a:r>
            <a:r>
              <a:rPr spc="-70" dirty="0"/>
              <a:t> </a:t>
            </a:r>
            <a:r>
              <a:rPr spc="-50" dirty="0"/>
              <a:t>1</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2648711" y="884110"/>
            <a:ext cx="7620000" cy="36830"/>
          </a:xfrm>
          <a:custGeom>
            <a:avLst/>
            <a:gdLst/>
            <a:ahLst/>
            <a:cxnLst/>
            <a:rect l="l" t="t" r="r" b="b"/>
            <a:pathLst>
              <a:path w="7620000" h="36830">
                <a:moveTo>
                  <a:pt x="7620000" y="0"/>
                </a:moveTo>
                <a:lnTo>
                  <a:pt x="0" y="0"/>
                </a:lnTo>
                <a:lnTo>
                  <a:pt x="0" y="36512"/>
                </a:lnTo>
                <a:lnTo>
                  <a:pt x="7620000" y="36512"/>
                </a:lnTo>
                <a:lnTo>
                  <a:pt x="7620000" y="0"/>
                </a:lnTo>
                <a:close/>
              </a:path>
            </a:pathLst>
          </a:custGeom>
          <a:solidFill>
            <a:srgbClr val="33CCCC"/>
          </a:solidFill>
        </p:spPr>
        <p:txBody>
          <a:bodyPr wrap="square" lIns="0" tIns="0" rIns="0" bIns="0" rtlCol="0"/>
          <a:lstStyle/>
          <a:p>
            <a:endParaRPr/>
          </a:p>
        </p:txBody>
      </p:sp>
      <p:sp>
        <p:nvSpPr>
          <p:cNvPr id="3" name="object 3"/>
          <p:cNvSpPr txBox="1">
            <a:spLocks noGrp="1"/>
          </p:cNvSpPr>
          <p:nvPr>
            <p:ph type="title"/>
          </p:nvPr>
        </p:nvSpPr>
        <p:spPr>
          <a:xfrm>
            <a:off x="8701278" y="482549"/>
            <a:ext cx="1488440" cy="391795"/>
          </a:xfrm>
          <a:prstGeom prst="rect">
            <a:avLst/>
          </a:prstGeom>
        </p:spPr>
        <p:txBody>
          <a:bodyPr vert="horz" wrap="square" lIns="0" tIns="12700" rIns="0" bIns="0" rtlCol="0">
            <a:spAutoFit/>
          </a:bodyPr>
          <a:lstStyle/>
          <a:p>
            <a:pPr marL="12700">
              <a:lnSpc>
                <a:spcPct val="100000"/>
              </a:lnSpc>
              <a:spcBef>
                <a:spcPts val="100"/>
              </a:spcBef>
            </a:pPr>
            <a:r>
              <a:rPr spc="-10" dirty="0"/>
              <a:t>Challenges</a:t>
            </a:r>
          </a:p>
        </p:txBody>
      </p:sp>
      <p:sp>
        <p:nvSpPr>
          <p:cNvPr id="4" name="object 4"/>
          <p:cNvSpPr txBox="1"/>
          <p:nvPr/>
        </p:nvSpPr>
        <p:spPr>
          <a:xfrm>
            <a:off x="1341246" y="1371600"/>
            <a:ext cx="8927465" cy="4785926"/>
          </a:xfrm>
          <a:prstGeom prst="rect">
            <a:avLst/>
          </a:prstGeom>
        </p:spPr>
        <p:txBody>
          <a:bodyPr vert="horz" wrap="square" lIns="0" tIns="12700" rIns="0" bIns="0" rtlCol="0">
            <a:spAutoFit/>
          </a:bodyPr>
          <a:lstStyle/>
          <a:p>
            <a:pPr marL="299085" indent="-286385">
              <a:lnSpc>
                <a:spcPct val="100000"/>
              </a:lnSpc>
              <a:spcBef>
                <a:spcPts val="100"/>
              </a:spcBef>
              <a:buFont typeface="Arial MT"/>
              <a:buChar char="•"/>
              <a:tabLst>
                <a:tab pos="299085" algn="l"/>
              </a:tabLst>
            </a:pPr>
            <a:r>
              <a:rPr sz="1800" b="1" dirty="0">
                <a:latin typeface="Trebuchet MS" panose="020B0603020202020204" pitchFamily="34" charset="0"/>
                <a:cs typeface="Arial"/>
              </a:rPr>
              <a:t>False</a:t>
            </a:r>
            <a:r>
              <a:rPr sz="1800" b="1" spc="-55" dirty="0">
                <a:latin typeface="Trebuchet MS" panose="020B0603020202020204" pitchFamily="34" charset="0"/>
                <a:cs typeface="Arial"/>
              </a:rPr>
              <a:t> </a:t>
            </a:r>
            <a:r>
              <a:rPr sz="1800" b="1" dirty="0">
                <a:latin typeface="Trebuchet MS" panose="020B0603020202020204" pitchFamily="34" charset="0"/>
                <a:cs typeface="Arial"/>
              </a:rPr>
              <a:t>Positives</a:t>
            </a:r>
            <a:r>
              <a:rPr sz="1800" b="1" spc="-15" dirty="0">
                <a:latin typeface="Trebuchet MS" panose="020B0603020202020204" pitchFamily="34" charset="0"/>
                <a:cs typeface="Arial"/>
              </a:rPr>
              <a:t> </a:t>
            </a:r>
            <a:r>
              <a:rPr sz="1800" b="1" dirty="0">
                <a:latin typeface="Trebuchet MS" panose="020B0603020202020204" pitchFamily="34" charset="0"/>
                <a:cs typeface="Arial"/>
              </a:rPr>
              <a:t>in</a:t>
            </a:r>
            <a:r>
              <a:rPr sz="1800" b="1" spc="-110" dirty="0">
                <a:latin typeface="Trebuchet MS" panose="020B0603020202020204" pitchFamily="34" charset="0"/>
                <a:cs typeface="Arial"/>
              </a:rPr>
              <a:t> </a:t>
            </a:r>
            <a:r>
              <a:rPr sz="1800" b="1" dirty="0">
                <a:latin typeface="Trebuchet MS" panose="020B0603020202020204" pitchFamily="34" charset="0"/>
                <a:cs typeface="Arial"/>
              </a:rPr>
              <a:t>Anomaly</a:t>
            </a:r>
            <a:r>
              <a:rPr sz="1800" b="1" spc="-70" dirty="0">
                <a:latin typeface="Trebuchet MS" panose="020B0603020202020204" pitchFamily="34" charset="0"/>
                <a:cs typeface="Arial"/>
              </a:rPr>
              <a:t> </a:t>
            </a:r>
            <a:r>
              <a:rPr sz="1800" b="1" dirty="0">
                <a:latin typeface="Trebuchet MS" panose="020B0603020202020204" pitchFamily="34" charset="0"/>
                <a:cs typeface="Arial"/>
              </a:rPr>
              <a:t>Alerts</a:t>
            </a:r>
            <a:r>
              <a:rPr sz="1800" b="1" spc="25" dirty="0">
                <a:latin typeface="Trebuchet MS" panose="020B0603020202020204" pitchFamily="34" charset="0"/>
                <a:cs typeface="Arial"/>
              </a:rPr>
              <a:t> </a:t>
            </a:r>
            <a:r>
              <a:rPr sz="1800" dirty="0">
                <a:latin typeface="Trebuchet MS" panose="020B0603020202020204" pitchFamily="34" charset="0"/>
                <a:cs typeface="Arial MT"/>
              </a:rPr>
              <a:t>–</a:t>
            </a:r>
            <a:r>
              <a:rPr sz="1800" spc="-45" dirty="0">
                <a:latin typeface="Trebuchet MS" panose="020B0603020202020204" pitchFamily="34" charset="0"/>
                <a:cs typeface="Arial MT"/>
              </a:rPr>
              <a:t> </a:t>
            </a:r>
            <a:r>
              <a:rPr sz="1800" dirty="0">
                <a:latin typeface="Trebuchet MS" panose="020B0603020202020204" pitchFamily="34" charset="0"/>
                <a:cs typeface="Arial MT"/>
              </a:rPr>
              <a:t>Models</a:t>
            </a:r>
            <a:r>
              <a:rPr sz="1800" spc="-35" dirty="0">
                <a:latin typeface="Trebuchet MS" panose="020B0603020202020204" pitchFamily="34" charset="0"/>
                <a:cs typeface="Arial MT"/>
              </a:rPr>
              <a:t> </a:t>
            </a:r>
            <a:r>
              <a:rPr sz="1800" dirty="0">
                <a:latin typeface="Trebuchet MS" panose="020B0603020202020204" pitchFamily="34" charset="0"/>
                <a:cs typeface="Arial MT"/>
              </a:rPr>
              <a:t>may</a:t>
            </a:r>
            <a:r>
              <a:rPr sz="1800" spc="-40" dirty="0">
                <a:latin typeface="Trebuchet MS" panose="020B0603020202020204" pitchFamily="34" charset="0"/>
                <a:cs typeface="Arial MT"/>
              </a:rPr>
              <a:t> </a:t>
            </a:r>
            <a:r>
              <a:rPr sz="1800" dirty="0">
                <a:latin typeface="Trebuchet MS" panose="020B0603020202020204" pitchFamily="34" charset="0"/>
                <a:cs typeface="Arial MT"/>
              </a:rPr>
              <a:t>misclassify</a:t>
            </a:r>
            <a:r>
              <a:rPr sz="1800" spc="-35" dirty="0">
                <a:latin typeface="Trebuchet MS" panose="020B0603020202020204" pitchFamily="34" charset="0"/>
                <a:cs typeface="Arial MT"/>
              </a:rPr>
              <a:t> </a:t>
            </a:r>
            <a:r>
              <a:rPr sz="1800" dirty="0">
                <a:latin typeface="Trebuchet MS" panose="020B0603020202020204" pitchFamily="34" charset="0"/>
                <a:cs typeface="Arial MT"/>
              </a:rPr>
              <a:t>safe</a:t>
            </a:r>
            <a:r>
              <a:rPr sz="1800" spc="-40" dirty="0">
                <a:latin typeface="Trebuchet MS" panose="020B0603020202020204" pitchFamily="34" charset="0"/>
                <a:cs typeface="Arial MT"/>
              </a:rPr>
              <a:t> </a:t>
            </a:r>
            <a:r>
              <a:rPr sz="1800" dirty="0">
                <a:latin typeface="Trebuchet MS" panose="020B0603020202020204" pitchFamily="34" charset="0"/>
                <a:cs typeface="Arial MT"/>
              </a:rPr>
              <a:t>gestures</a:t>
            </a:r>
            <a:r>
              <a:rPr sz="1800" spc="-30" dirty="0">
                <a:latin typeface="Trebuchet MS" panose="020B0603020202020204" pitchFamily="34" charset="0"/>
                <a:cs typeface="Arial MT"/>
              </a:rPr>
              <a:t> </a:t>
            </a:r>
            <a:r>
              <a:rPr sz="1800" spc="-10" dirty="0">
                <a:latin typeface="Trebuchet MS" panose="020B0603020202020204" pitchFamily="34" charset="0"/>
                <a:cs typeface="Arial MT"/>
              </a:rPr>
              <a:t>(like</a:t>
            </a:r>
            <a:endParaRPr sz="1800" dirty="0">
              <a:latin typeface="Trebuchet MS" panose="020B0603020202020204" pitchFamily="34" charset="0"/>
              <a:cs typeface="Arial MT"/>
            </a:endParaRPr>
          </a:p>
          <a:p>
            <a:pPr marL="299085">
              <a:lnSpc>
                <a:spcPct val="100000"/>
              </a:lnSpc>
              <a:spcBef>
                <a:spcPts val="5"/>
              </a:spcBef>
            </a:pPr>
            <a:r>
              <a:rPr sz="1800" dirty="0">
                <a:latin typeface="Trebuchet MS" panose="020B0603020202020204" pitchFamily="34" charset="0"/>
                <a:cs typeface="Arial MT"/>
              </a:rPr>
              <a:t>adjusting</a:t>
            </a:r>
            <a:r>
              <a:rPr sz="1800" spc="-35" dirty="0">
                <a:latin typeface="Trebuchet MS" panose="020B0603020202020204" pitchFamily="34" charset="0"/>
                <a:cs typeface="Arial MT"/>
              </a:rPr>
              <a:t> </a:t>
            </a:r>
            <a:r>
              <a:rPr sz="1800" dirty="0">
                <a:latin typeface="Trebuchet MS" panose="020B0603020202020204" pitchFamily="34" charset="0"/>
                <a:cs typeface="Arial MT"/>
              </a:rPr>
              <a:t>glasses)</a:t>
            </a:r>
            <a:r>
              <a:rPr sz="1800" spc="-30" dirty="0">
                <a:latin typeface="Trebuchet MS" panose="020B0603020202020204" pitchFamily="34" charset="0"/>
                <a:cs typeface="Arial MT"/>
              </a:rPr>
              <a:t> </a:t>
            </a:r>
            <a:r>
              <a:rPr sz="1800" dirty="0">
                <a:latin typeface="Trebuchet MS" panose="020B0603020202020204" pitchFamily="34" charset="0"/>
                <a:cs typeface="Arial MT"/>
              </a:rPr>
              <a:t>as</a:t>
            </a:r>
            <a:r>
              <a:rPr sz="1800" spc="-35" dirty="0">
                <a:latin typeface="Trebuchet MS" panose="020B0603020202020204" pitchFamily="34" charset="0"/>
                <a:cs typeface="Arial MT"/>
              </a:rPr>
              <a:t> </a:t>
            </a:r>
            <a:r>
              <a:rPr sz="1800" dirty="0">
                <a:latin typeface="Trebuchet MS" panose="020B0603020202020204" pitchFamily="34" charset="0"/>
                <a:cs typeface="Arial MT"/>
              </a:rPr>
              <a:t>anomalies,</a:t>
            </a:r>
            <a:r>
              <a:rPr sz="1800" spc="-25" dirty="0">
                <a:latin typeface="Trebuchet MS" panose="020B0603020202020204" pitchFamily="34" charset="0"/>
                <a:cs typeface="Arial MT"/>
              </a:rPr>
              <a:t> </a:t>
            </a:r>
            <a:r>
              <a:rPr sz="1800" dirty="0">
                <a:latin typeface="Trebuchet MS" panose="020B0603020202020204" pitchFamily="34" charset="0"/>
                <a:cs typeface="Arial MT"/>
              </a:rPr>
              <a:t>reducing</a:t>
            </a:r>
            <a:r>
              <a:rPr sz="1800" spc="-25" dirty="0">
                <a:latin typeface="Trebuchet MS" panose="020B0603020202020204" pitchFamily="34" charset="0"/>
                <a:cs typeface="Arial MT"/>
              </a:rPr>
              <a:t> </a:t>
            </a:r>
            <a:r>
              <a:rPr sz="1800" dirty="0">
                <a:latin typeface="Trebuchet MS" panose="020B0603020202020204" pitchFamily="34" charset="0"/>
                <a:cs typeface="Arial MT"/>
              </a:rPr>
              <a:t>driver</a:t>
            </a:r>
            <a:r>
              <a:rPr sz="1800" spc="-15" dirty="0">
                <a:latin typeface="Trebuchet MS" panose="020B0603020202020204" pitchFamily="34" charset="0"/>
                <a:cs typeface="Arial MT"/>
              </a:rPr>
              <a:t> </a:t>
            </a:r>
            <a:r>
              <a:rPr sz="1800" spc="-10" dirty="0">
                <a:latin typeface="Trebuchet MS" panose="020B0603020202020204" pitchFamily="34" charset="0"/>
                <a:cs typeface="Arial MT"/>
              </a:rPr>
              <a:t>trust</a:t>
            </a:r>
            <a:endParaRPr sz="1800" dirty="0">
              <a:latin typeface="Trebuchet MS" panose="020B0603020202020204" pitchFamily="34" charset="0"/>
              <a:cs typeface="Arial MT"/>
            </a:endParaRPr>
          </a:p>
          <a:p>
            <a:pPr>
              <a:lnSpc>
                <a:spcPct val="100000"/>
              </a:lnSpc>
              <a:spcBef>
                <a:spcPts val="90"/>
              </a:spcBef>
            </a:pPr>
            <a:endParaRPr sz="1800" dirty="0">
              <a:latin typeface="Trebuchet MS" panose="020B0603020202020204" pitchFamily="34" charset="0"/>
              <a:cs typeface="Arial MT"/>
            </a:endParaRPr>
          </a:p>
          <a:p>
            <a:pPr marL="299085" indent="-286385">
              <a:lnSpc>
                <a:spcPct val="100000"/>
              </a:lnSpc>
              <a:buFont typeface="Arial MT"/>
              <a:buChar char="•"/>
              <a:tabLst>
                <a:tab pos="299085" algn="l"/>
              </a:tabLst>
            </a:pPr>
            <a:r>
              <a:rPr sz="1800" b="1" dirty="0">
                <a:latin typeface="Trebuchet MS" panose="020B0603020202020204" pitchFamily="34" charset="0"/>
                <a:cs typeface="Arial"/>
              </a:rPr>
              <a:t>Low</a:t>
            </a:r>
            <a:r>
              <a:rPr sz="1800" b="1" spc="-45" dirty="0">
                <a:latin typeface="Trebuchet MS" panose="020B0603020202020204" pitchFamily="34" charset="0"/>
                <a:cs typeface="Arial"/>
              </a:rPr>
              <a:t> </a:t>
            </a:r>
            <a:r>
              <a:rPr sz="1800" b="1" dirty="0">
                <a:latin typeface="Trebuchet MS" panose="020B0603020202020204" pitchFamily="34" charset="0"/>
                <a:cs typeface="Arial"/>
              </a:rPr>
              <a:t>robustness</a:t>
            </a:r>
            <a:r>
              <a:rPr sz="1800" b="1" spc="-30" dirty="0">
                <a:latin typeface="Trebuchet MS" panose="020B0603020202020204" pitchFamily="34" charset="0"/>
                <a:cs typeface="Arial"/>
              </a:rPr>
              <a:t> </a:t>
            </a:r>
            <a:r>
              <a:rPr sz="1800" dirty="0">
                <a:latin typeface="Trebuchet MS" panose="020B0603020202020204" pitchFamily="34" charset="0"/>
                <a:cs typeface="Arial MT"/>
              </a:rPr>
              <a:t>–</a:t>
            </a:r>
            <a:r>
              <a:rPr sz="1800" spc="-40" dirty="0">
                <a:latin typeface="Trebuchet MS" panose="020B0603020202020204" pitchFamily="34" charset="0"/>
                <a:cs typeface="Arial MT"/>
              </a:rPr>
              <a:t> </a:t>
            </a:r>
            <a:r>
              <a:rPr sz="1800" dirty="0">
                <a:latin typeface="Trebuchet MS" panose="020B0603020202020204" pitchFamily="34" charset="0"/>
                <a:cs typeface="Arial MT"/>
              </a:rPr>
              <a:t>Models</a:t>
            </a:r>
            <a:r>
              <a:rPr sz="1800" spc="-20" dirty="0">
                <a:latin typeface="Trebuchet MS" panose="020B0603020202020204" pitchFamily="34" charset="0"/>
                <a:cs typeface="Arial MT"/>
              </a:rPr>
              <a:t> </a:t>
            </a:r>
            <a:r>
              <a:rPr sz="1800" dirty="0">
                <a:latin typeface="Trebuchet MS" panose="020B0603020202020204" pitchFamily="34" charset="0"/>
                <a:cs typeface="Arial MT"/>
              </a:rPr>
              <a:t>fail</a:t>
            </a:r>
            <a:r>
              <a:rPr sz="1800" spc="-40" dirty="0">
                <a:latin typeface="Trebuchet MS" panose="020B0603020202020204" pitchFamily="34" charset="0"/>
                <a:cs typeface="Arial MT"/>
              </a:rPr>
              <a:t> </a:t>
            </a:r>
            <a:r>
              <a:rPr sz="1800" dirty="0">
                <a:latin typeface="Trebuchet MS" panose="020B0603020202020204" pitchFamily="34" charset="0"/>
                <a:cs typeface="Arial MT"/>
              </a:rPr>
              <a:t>under</a:t>
            </a:r>
            <a:r>
              <a:rPr sz="1800" spc="-25" dirty="0">
                <a:latin typeface="Trebuchet MS" panose="020B0603020202020204" pitchFamily="34" charset="0"/>
                <a:cs typeface="Arial MT"/>
              </a:rPr>
              <a:t> </a:t>
            </a:r>
            <a:r>
              <a:rPr sz="1800" dirty="0">
                <a:latin typeface="Trebuchet MS" panose="020B0603020202020204" pitchFamily="34" charset="0"/>
                <a:cs typeface="Arial MT"/>
              </a:rPr>
              <a:t>poor</a:t>
            </a:r>
            <a:r>
              <a:rPr sz="1800" spc="-25" dirty="0">
                <a:latin typeface="Trebuchet MS" panose="020B0603020202020204" pitchFamily="34" charset="0"/>
                <a:cs typeface="Arial MT"/>
              </a:rPr>
              <a:t> </a:t>
            </a:r>
            <a:r>
              <a:rPr sz="1800" dirty="0">
                <a:latin typeface="Trebuchet MS" panose="020B0603020202020204" pitchFamily="34" charset="0"/>
                <a:cs typeface="Arial MT"/>
              </a:rPr>
              <a:t>lighting,</a:t>
            </a:r>
            <a:r>
              <a:rPr sz="1800" spc="-20" dirty="0">
                <a:latin typeface="Trebuchet MS" panose="020B0603020202020204" pitchFamily="34" charset="0"/>
                <a:cs typeface="Arial MT"/>
              </a:rPr>
              <a:t> </a:t>
            </a:r>
            <a:r>
              <a:rPr sz="1800" dirty="0">
                <a:latin typeface="Trebuchet MS" panose="020B0603020202020204" pitchFamily="34" charset="0"/>
                <a:cs typeface="Arial MT"/>
              </a:rPr>
              <a:t>occlusions,</a:t>
            </a:r>
            <a:r>
              <a:rPr sz="1800" spc="-15" dirty="0">
                <a:latin typeface="Trebuchet MS" panose="020B0603020202020204" pitchFamily="34" charset="0"/>
                <a:cs typeface="Arial MT"/>
              </a:rPr>
              <a:t> </a:t>
            </a:r>
            <a:r>
              <a:rPr sz="1800" dirty="0">
                <a:latin typeface="Trebuchet MS" panose="020B0603020202020204" pitchFamily="34" charset="0"/>
                <a:cs typeface="Arial MT"/>
              </a:rPr>
              <a:t>or</a:t>
            </a:r>
            <a:r>
              <a:rPr sz="1800" spc="-35" dirty="0">
                <a:latin typeface="Trebuchet MS" panose="020B0603020202020204" pitchFamily="34" charset="0"/>
                <a:cs typeface="Arial MT"/>
              </a:rPr>
              <a:t> </a:t>
            </a:r>
            <a:r>
              <a:rPr sz="1800" dirty="0">
                <a:latin typeface="Trebuchet MS" panose="020B0603020202020204" pitchFamily="34" charset="0"/>
                <a:cs typeface="Arial MT"/>
              </a:rPr>
              <a:t>camera</a:t>
            </a:r>
            <a:r>
              <a:rPr sz="1800" spc="-10" dirty="0">
                <a:latin typeface="Trebuchet MS" panose="020B0603020202020204" pitchFamily="34" charset="0"/>
                <a:cs typeface="Arial MT"/>
              </a:rPr>
              <a:t> vibration</a:t>
            </a:r>
            <a:endParaRPr sz="1800" dirty="0">
              <a:latin typeface="Trebuchet MS" panose="020B0603020202020204" pitchFamily="34" charset="0"/>
              <a:cs typeface="Arial MT"/>
            </a:endParaRPr>
          </a:p>
          <a:p>
            <a:pPr>
              <a:lnSpc>
                <a:spcPct val="100000"/>
              </a:lnSpc>
              <a:spcBef>
                <a:spcPts val="90"/>
              </a:spcBef>
              <a:buFont typeface="Arial MT"/>
              <a:buChar char="•"/>
            </a:pPr>
            <a:endParaRPr sz="1800" dirty="0">
              <a:latin typeface="Trebuchet MS" panose="020B0603020202020204" pitchFamily="34" charset="0"/>
              <a:cs typeface="Arial MT"/>
            </a:endParaRPr>
          </a:p>
          <a:p>
            <a:pPr marL="299085" marR="659130" indent="-287020">
              <a:lnSpc>
                <a:spcPct val="100000"/>
              </a:lnSpc>
              <a:buFont typeface="Arial MT"/>
              <a:buChar char="•"/>
              <a:tabLst>
                <a:tab pos="299085" algn="l"/>
              </a:tabLst>
            </a:pPr>
            <a:r>
              <a:rPr sz="1800" b="1" dirty="0">
                <a:latin typeface="Trebuchet MS" panose="020B0603020202020204" pitchFamily="34" charset="0"/>
                <a:cs typeface="Arial"/>
              </a:rPr>
              <a:t>Privacy</a:t>
            </a:r>
            <a:r>
              <a:rPr sz="1800" b="1" spc="5" dirty="0">
                <a:latin typeface="Trebuchet MS" panose="020B0603020202020204" pitchFamily="34" charset="0"/>
                <a:cs typeface="Arial"/>
              </a:rPr>
              <a:t> </a:t>
            </a:r>
            <a:r>
              <a:rPr sz="1800" b="1" dirty="0">
                <a:latin typeface="Trebuchet MS" panose="020B0603020202020204" pitchFamily="34" charset="0"/>
                <a:cs typeface="Arial"/>
              </a:rPr>
              <a:t>issues</a:t>
            </a:r>
            <a:r>
              <a:rPr sz="1800" b="1" spc="-30" dirty="0">
                <a:latin typeface="Trebuchet MS" panose="020B0603020202020204" pitchFamily="34" charset="0"/>
                <a:cs typeface="Arial"/>
              </a:rPr>
              <a:t> </a:t>
            </a:r>
            <a:r>
              <a:rPr sz="1800" dirty="0">
                <a:latin typeface="Trebuchet MS" panose="020B0603020202020204" pitchFamily="34" charset="0"/>
                <a:cs typeface="Arial MT"/>
              </a:rPr>
              <a:t>–</a:t>
            </a:r>
            <a:r>
              <a:rPr sz="1800" spc="-40" dirty="0">
                <a:latin typeface="Trebuchet MS" panose="020B0603020202020204" pitchFamily="34" charset="0"/>
                <a:cs typeface="Arial MT"/>
              </a:rPr>
              <a:t> </a:t>
            </a:r>
            <a:r>
              <a:rPr sz="1800" dirty="0">
                <a:latin typeface="Trebuchet MS" panose="020B0603020202020204" pitchFamily="34" charset="0"/>
                <a:cs typeface="Arial MT"/>
              </a:rPr>
              <a:t>Continuous</a:t>
            </a:r>
            <a:r>
              <a:rPr sz="1800" spc="-10" dirty="0">
                <a:latin typeface="Trebuchet MS" panose="020B0603020202020204" pitchFamily="34" charset="0"/>
                <a:cs typeface="Arial MT"/>
              </a:rPr>
              <a:t> </a:t>
            </a:r>
            <a:r>
              <a:rPr sz="1800" dirty="0">
                <a:latin typeface="Trebuchet MS" panose="020B0603020202020204" pitchFamily="34" charset="0"/>
                <a:cs typeface="Arial MT"/>
              </a:rPr>
              <a:t>driver</a:t>
            </a:r>
            <a:r>
              <a:rPr sz="1800" spc="-30" dirty="0">
                <a:latin typeface="Trebuchet MS" panose="020B0603020202020204" pitchFamily="34" charset="0"/>
                <a:cs typeface="Arial MT"/>
              </a:rPr>
              <a:t> </a:t>
            </a:r>
            <a:r>
              <a:rPr sz="1800" dirty="0">
                <a:latin typeface="Trebuchet MS" panose="020B0603020202020204" pitchFamily="34" charset="0"/>
                <a:cs typeface="Arial MT"/>
              </a:rPr>
              <a:t>monitoring</a:t>
            </a:r>
            <a:r>
              <a:rPr sz="1800" spc="-20" dirty="0">
                <a:latin typeface="Trebuchet MS" panose="020B0603020202020204" pitchFamily="34" charset="0"/>
                <a:cs typeface="Arial MT"/>
              </a:rPr>
              <a:t> </a:t>
            </a:r>
            <a:r>
              <a:rPr sz="1800" dirty="0">
                <a:latin typeface="Trebuchet MS" panose="020B0603020202020204" pitchFamily="34" charset="0"/>
                <a:cs typeface="Arial MT"/>
              </a:rPr>
              <a:t>raises</a:t>
            </a:r>
            <a:r>
              <a:rPr sz="1800" spc="-30" dirty="0">
                <a:latin typeface="Trebuchet MS" panose="020B0603020202020204" pitchFamily="34" charset="0"/>
                <a:cs typeface="Arial MT"/>
              </a:rPr>
              <a:t> </a:t>
            </a:r>
            <a:r>
              <a:rPr sz="1800" dirty="0">
                <a:latin typeface="Trebuchet MS" panose="020B0603020202020204" pitchFamily="34" charset="0"/>
                <a:cs typeface="Arial MT"/>
              </a:rPr>
              <a:t>ethical</a:t>
            </a:r>
            <a:r>
              <a:rPr sz="1800" spc="-25" dirty="0">
                <a:latin typeface="Trebuchet MS" panose="020B0603020202020204" pitchFamily="34" charset="0"/>
                <a:cs typeface="Arial MT"/>
              </a:rPr>
              <a:t> </a:t>
            </a:r>
            <a:r>
              <a:rPr sz="1800" dirty="0">
                <a:latin typeface="Trebuchet MS" panose="020B0603020202020204" pitchFamily="34" charset="0"/>
                <a:cs typeface="Arial MT"/>
              </a:rPr>
              <a:t>and</a:t>
            </a:r>
            <a:r>
              <a:rPr sz="1800" spc="-30" dirty="0">
                <a:latin typeface="Trebuchet MS" panose="020B0603020202020204" pitchFamily="34" charset="0"/>
                <a:cs typeface="Arial MT"/>
              </a:rPr>
              <a:t> </a:t>
            </a:r>
            <a:r>
              <a:rPr sz="1800" dirty="0">
                <a:latin typeface="Trebuchet MS" panose="020B0603020202020204" pitchFamily="34" charset="0"/>
                <a:cs typeface="Arial MT"/>
              </a:rPr>
              <a:t>data</a:t>
            </a:r>
            <a:r>
              <a:rPr sz="1800" spc="-30" dirty="0">
                <a:latin typeface="Trebuchet MS" panose="020B0603020202020204" pitchFamily="34" charset="0"/>
                <a:cs typeface="Arial MT"/>
              </a:rPr>
              <a:t> </a:t>
            </a:r>
            <a:r>
              <a:rPr sz="1800" spc="-10" dirty="0">
                <a:latin typeface="Trebuchet MS" panose="020B0603020202020204" pitchFamily="34" charset="0"/>
                <a:cs typeface="Arial MT"/>
              </a:rPr>
              <a:t>security concerns..</a:t>
            </a:r>
            <a:endParaRPr sz="1800" dirty="0">
              <a:latin typeface="Trebuchet MS" panose="020B0603020202020204" pitchFamily="34" charset="0"/>
              <a:cs typeface="Arial MT"/>
            </a:endParaRPr>
          </a:p>
          <a:p>
            <a:pPr>
              <a:lnSpc>
                <a:spcPct val="100000"/>
              </a:lnSpc>
              <a:spcBef>
                <a:spcPts val="90"/>
              </a:spcBef>
              <a:buFont typeface="Arial MT"/>
              <a:buChar char="•"/>
            </a:pPr>
            <a:endParaRPr sz="1800" dirty="0">
              <a:latin typeface="Trebuchet MS" panose="020B0603020202020204" pitchFamily="34" charset="0"/>
              <a:cs typeface="Arial MT"/>
            </a:endParaRPr>
          </a:p>
          <a:p>
            <a:pPr marL="299085" marR="5080" indent="-287020">
              <a:lnSpc>
                <a:spcPct val="100000"/>
              </a:lnSpc>
              <a:buFont typeface="Arial MT"/>
              <a:buChar char="•"/>
              <a:tabLst>
                <a:tab pos="299085" algn="l"/>
              </a:tabLst>
            </a:pPr>
            <a:r>
              <a:rPr sz="1800" b="1" dirty="0">
                <a:latin typeface="Trebuchet MS" panose="020B0603020202020204" pitchFamily="34" charset="0"/>
                <a:cs typeface="Arial"/>
              </a:rPr>
              <a:t>Class</a:t>
            </a:r>
            <a:r>
              <a:rPr sz="1800" b="1" spc="-40" dirty="0">
                <a:latin typeface="Trebuchet MS" panose="020B0603020202020204" pitchFamily="34" charset="0"/>
                <a:cs typeface="Arial"/>
              </a:rPr>
              <a:t> </a:t>
            </a:r>
            <a:r>
              <a:rPr sz="1800" b="1" dirty="0">
                <a:latin typeface="Trebuchet MS" panose="020B0603020202020204" pitchFamily="34" charset="0"/>
                <a:cs typeface="Arial"/>
              </a:rPr>
              <a:t>Imbalance</a:t>
            </a:r>
            <a:r>
              <a:rPr sz="1800" b="1" spc="-40" dirty="0">
                <a:latin typeface="Trebuchet MS" panose="020B0603020202020204" pitchFamily="34" charset="0"/>
                <a:cs typeface="Arial"/>
              </a:rPr>
              <a:t> </a:t>
            </a:r>
            <a:r>
              <a:rPr sz="1800" b="1" dirty="0">
                <a:latin typeface="Trebuchet MS" panose="020B0603020202020204" pitchFamily="34" charset="0"/>
                <a:cs typeface="Arial"/>
              </a:rPr>
              <a:t>in</a:t>
            </a:r>
            <a:r>
              <a:rPr sz="1800" b="1" spc="-35" dirty="0">
                <a:latin typeface="Trebuchet MS" panose="020B0603020202020204" pitchFamily="34" charset="0"/>
                <a:cs typeface="Arial"/>
              </a:rPr>
              <a:t> </a:t>
            </a:r>
            <a:r>
              <a:rPr sz="1800" b="1" dirty="0">
                <a:latin typeface="Trebuchet MS" panose="020B0603020202020204" pitchFamily="34" charset="0"/>
                <a:cs typeface="Arial"/>
              </a:rPr>
              <a:t>Datasets</a:t>
            </a:r>
            <a:r>
              <a:rPr sz="1800" b="1" spc="-20" dirty="0">
                <a:latin typeface="Trebuchet MS" panose="020B0603020202020204" pitchFamily="34" charset="0"/>
                <a:cs typeface="Arial"/>
              </a:rPr>
              <a:t> </a:t>
            </a:r>
            <a:r>
              <a:rPr sz="1800" dirty="0">
                <a:latin typeface="Trebuchet MS" panose="020B0603020202020204" pitchFamily="34" charset="0"/>
                <a:cs typeface="Arial MT"/>
              </a:rPr>
              <a:t>–</a:t>
            </a:r>
            <a:r>
              <a:rPr sz="1800" spc="-35" dirty="0">
                <a:latin typeface="Trebuchet MS" panose="020B0603020202020204" pitchFamily="34" charset="0"/>
                <a:cs typeface="Arial MT"/>
              </a:rPr>
              <a:t> </a:t>
            </a:r>
            <a:r>
              <a:rPr sz="1800" dirty="0">
                <a:latin typeface="Trebuchet MS" panose="020B0603020202020204" pitchFamily="34" charset="0"/>
                <a:cs typeface="Arial MT"/>
              </a:rPr>
              <a:t>Some</a:t>
            </a:r>
            <a:r>
              <a:rPr sz="1800" spc="-30" dirty="0">
                <a:latin typeface="Trebuchet MS" panose="020B0603020202020204" pitchFamily="34" charset="0"/>
                <a:cs typeface="Arial MT"/>
              </a:rPr>
              <a:t> </a:t>
            </a:r>
            <a:r>
              <a:rPr sz="1800" dirty="0">
                <a:latin typeface="Trebuchet MS" panose="020B0603020202020204" pitchFamily="34" charset="0"/>
                <a:cs typeface="Arial MT"/>
              </a:rPr>
              <a:t>dangerous</a:t>
            </a:r>
            <a:r>
              <a:rPr sz="1800" spc="-15" dirty="0">
                <a:latin typeface="Trebuchet MS" panose="020B0603020202020204" pitchFamily="34" charset="0"/>
                <a:cs typeface="Arial MT"/>
              </a:rPr>
              <a:t> </a:t>
            </a:r>
            <a:r>
              <a:rPr sz="1800" dirty="0">
                <a:latin typeface="Trebuchet MS" panose="020B0603020202020204" pitchFamily="34" charset="0"/>
                <a:cs typeface="Arial MT"/>
              </a:rPr>
              <a:t>behaviors</a:t>
            </a:r>
            <a:r>
              <a:rPr sz="1800" spc="-20" dirty="0">
                <a:latin typeface="Trebuchet MS" panose="020B0603020202020204" pitchFamily="34" charset="0"/>
                <a:cs typeface="Arial MT"/>
              </a:rPr>
              <a:t> </a:t>
            </a:r>
            <a:r>
              <a:rPr sz="1800" dirty="0">
                <a:latin typeface="Trebuchet MS" panose="020B0603020202020204" pitchFamily="34" charset="0"/>
                <a:cs typeface="Arial MT"/>
              </a:rPr>
              <a:t>(like</a:t>
            </a:r>
            <a:r>
              <a:rPr sz="1800" spc="-30" dirty="0">
                <a:latin typeface="Trebuchet MS" panose="020B0603020202020204" pitchFamily="34" charset="0"/>
                <a:cs typeface="Arial MT"/>
              </a:rPr>
              <a:t> </a:t>
            </a:r>
            <a:r>
              <a:rPr sz="1800" dirty="0">
                <a:latin typeface="Trebuchet MS" panose="020B0603020202020204" pitchFamily="34" charset="0"/>
                <a:cs typeface="Arial MT"/>
              </a:rPr>
              <a:t>sudden</a:t>
            </a:r>
            <a:r>
              <a:rPr sz="1800" spc="-25" dirty="0">
                <a:latin typeface="Trebuchet MS" panose="020B0603020202020204" pitchFamily="34" charset="0"/>
                <a:cs typeface="Arial MT"/>
              </a:rPr>
              <a:t> </a:t>
            </a:r>
            <a:r>
              <a:rPr sz="1800" spc="-10" dirty="0">
                <a:latin typeface="Trebuchet MS" panose="020B0603020202020204" pitchFamily="34" charset="0"/>
                <a:cs typeface="Arial MT"/>
              </a:rPr>
              <a:t>drowsiness </a:t>
            </a:r>
            <a:r>
              <a:rPr sz="1800" dirty="0">
                <a:latin typeface="Trebuchet MS" panose="020B0603020202020204" pitchFamily="34" charset="0"/>
                <a:cs typeface="Arial MT"/>
              </a:rPr>
              <a:t>or</a:t>
            </a:r>
            <a:r>
              <a:rPr sz="1800" spc="-35" dirty="0">
                <a:latin typeface="Trebuchet MS" panose="020B0603020202020204" pitchFamily="34" charset="0"/>
                <a:cs typeface="Arial MT"/>
              </a:rPr>
              <a:t> </a:t>
            </a:r>
            <a:r>
              <a:rPr sz="1800" dirty="0">
                <a:latin typeface="Trebuchet MS" panose="020B0603020202020204" pitchFamily="34" charset="0"/>
                <a:cs typeface="Arial MT"/>
              </a:rPr>
              <a:t>texting)</a:t>
            </a:r>
            <a:r>
              <a:rPr sz="1800" spc="-25" dirty="0">
                <a:latin typeface="Trebuchet MS" panose="020B0603020202020204" pitchFamily="34" charset="0"/>
                <a:cs typeface="Arial MT"/>
              </a:rPr>
              <a:t> </a:t>
            </a:r>
            <a:r>
              <a:rPr sz="1800" dirty="0">
                <a:latin typeface="Trebuchet MS" panose="020B0603020202020204" pitchFamily="34" charset="0"/>
                <a:cs typeface="Arial MT"/>
              </a:rPr>
              <a:t>occur</a:t>
            </a:r>
            <a:r>
              <a:rPr sz="1800" spc="-25" dirty="0">
                <a:latin typeface="Trebuchet MS" panose="020B0603020202020204" pitchFamily="34" charset="0"/>
                <a:cs typeface="Arial MT"/>
              </a:rPr>
              <a:t> </a:t>
            </a:r>
            <a:r>
              <a:rPr sz="1800" spc="-10" dirty="0">
                <a:latin typeface="Trebuchet MS" panose="020B0603020202020204" pitchFamily="34" charset="0"/>
                <a:cs typeface="Arial MT"/>
              </a:rPr>
              <a:t>rarely, </a:t>
            </a:r>
            <a:r>
              <a:rPr sz="1800" dirty="0">
                <a:latin typeface="Trebuchet MS" panose="020B0603020202020204" pitchFamily="34" charset="0"/>
                <a:cs typeface="Arial MT"/>
              </a:rPr>
              <a:t>making</a:t>
            </a:r>
            <a:r>
              <a:rPr sz="1800" spc="-25" dirty="0">
                <a:latin typeface="Trebuchet MS" panose="020B0603020202020204" pitchFamily="34" charset="0"/>
                <a:cs typeface="Arial MT"/>
              </a:rPr>
              <a:t> </a:t>
            </a:r>
            <a:r>
              <a:rPr sz="1800" dirty="0">
                <a:latin typeface="Trebuchet MS" panose="020B0603020202020204" pitchFamily="34" charset="0"/>
                <a:cs typeface="Arial MT"/>
              </a:rPr>
              <a:t>it</a:t>
            </a:r>
            <a:r>
              <a:rPr sz="1800" spc="-35" dirty="0">
                <a:latin typeface="Trebuchet MS" panose="020B0603020202020204" pitchFamily="34" charset="0"/>
                <a:cs typeface="Arial MT"/>
              </a:rPr>
              <a:t> </a:t>
            </a:r>
            <a:r>
              <a:rPr sz="1800" dirty="0">
                <a:latin typeface="Trebuchet MS" panose="020B0603020202020204" pitchFamily="34" charset="0"/>
                <a:cs typeface="Arial MT"/>
              </a:rPr>
              <a:t>difficult</a:t>
            </a:r>
            <a:r>
              <a:rPr sz="1800" spc="-25" dirty="0">
                <a:latin typeface="Trebuchet MS" panose="020B0603020202020204" pitchFamily="34" charset="0"/>
                <a:cs typeface="Arial MT"/>
              </a:rPr>
              <a:t> </a:t>
            </a:r>
            <a:r>
              <a:rPr sz="1800" dirty="0">
                <a:latin typeface="Trebuchet MS" panose="020B0603020202020204" pitchFamily="34" charset="0"/>
                <a:cs typeface="Arial MT"/>
              </a:rPr>
              <a:t>for</a:t>
            </a:r>
            <a:r>
              <a:rPr sz="1800" spc="-35" dirty="0">
                <a:latin typeface="Trebuchet MS" panose="020B0603020202020204" pitchFamily="34" charset="0"/>
                <a:cs typeface="Arial MT"/>
              </a:rPr>
              <a:t> </a:t>
            </a:r>
            <a:r>
              <a:rPr sz="1800" dirty="0">
                <a:latin typeface="Trebuchet MS" panose="020B0603020202020204" pitchFamily="34" charset="0"/>
                <a:cs typeface="Arial MT"/>
              </a:rPr>
              <a:t>models</a:t>
            </a:r>
            <a:r>
              <a:rPr sz="1800" spc="-25" dirty="0">
                <a:latin typeface="Trebuchet MS" panose="020B0603020202020204" pitchFamily="34" charset="0"/>
                <a:cs typeface="Arial MT"/>
              </a:rPr>
              <a:t> </a:t>
            </a:r>
            <a:r>
              <a:rPr sz="1800" dirty="0">
                <a:latin typeface="Trebuchet MS" panose="020B0603020202020204" pitchFamily="34" charset="0"/>
                <a:cs typeface="Arial MT"/>
              </a:rPr>
              <a:t>to</a:t>
            </a:r>
            <a:r>
              <a:rPr sz="1800" spc="-30" dirty="0">
                <a:latin typeface="Trebuchet MS" panose="020B0603020202020204" pitchFamily="34" charset="0"/>
                <a:cs typeface="Arial MT"/>
              </a:rPr>
              <a:t> </a:t>
            </a:r>
            <a:r>
              <a:rPr sz="1800" dirty="0">
                <a:latin typeface="Trebuchet MS" panose="020B0603020202020204" pitchFamily="34" charset="0"/>
                <a:cs typeface="Arial MT"/>
              </a:rPr>
              <a:t>learn</a:t>
            </a:r>
            <a:r>
              <a:rPr sz="1800" spc="-30" dirty="0">
                <a:latin typeface="Trebuchet MS" panose="020B0603020202020204" pitchFamily="34" charset="0"/>
                <a:cs typeface="Arial MT"/>
              </a:rPr>
              <a:t> </a:t>
            </a:r>
            <a:r>
              <a:rPr sz="1800" dirty="0">
                <a:latin typeface="Trebuchet MS" panose="020B0603020202020204" pitchFamily="34" charset="0"/>
                <a:cs typeface="Arial MT"/>
              </a:rPr>
              <a:t>those</a:t>
            </a:r>
            <a:r>
              <a:rPr sz="1800" spc="-35" dirty="0">
                <a:latin typeface="Trebuchet MS" panose="020B0603020202020204" pitchFamily="34" charset="0"/>
                <a:cs typeface="Arial MT"/>
              </a:rPr>
              <a:t> </a:t>
            </a:r>
            <a:r>
              <a:rPr sz="1800" dirty="0">
                <a:latin typeface="Trebuchet MS" panose="020B0603020202020204" pitchFamily="34" charset="0"/>
                <a:cs typeface="Arial MT"/>
              </a:rPr>
              <a:t>patterns</a:t>
            </a:r>
            <a:r>
              <a:rPr sz="1800" spc="-10" dirty="0">
                <a:latin typeface="Trebuchet MS" panose="020B0603020202020204" pitchFamily="34" charset="0"/>
                <a:cs typeface="Arial MT"/>
              </a:rPr>
              <a:t> effectively</a:t>
            </a:r>
            <a:endParaRPr sz="1800" dirty="0">
              <a:latin typeface="Trebuchet MS" panose="020B0603020202020204" pitchFamily="34" charset="0"/>
              <a:cs typeface="Arial MT"/>
            </a:endParaRPr>
          </a:p>
          <a:p>
            <a:pPr>
              <a:lnSpc>
                <a:spcPct val="100000"/>
              </a:lnSpc>
              <a:spcBef>
                <a:spcPts val="90"/>
              </a:spcBef>
              <a:buFont typeface="Arial MT"/>
              <a:buChar char="•"/>
            </a:pPr>
            <a:endParaRPr sz="1800" dirty="0">
              <a:latin typeface="Trebuchet MS" panose="020B0603020202020204" pitchFamily="34" charset="0"/>
              <a:cs typeface="Arial MT"/>
            </a:endParaRPr>
          </a:p>
          <a:p>
            <a:pPr marL="299085" indent="-286385">
              <a:lnSpc>
                <a:spcPct val="100000"/>
              </a:lnSpc>
              <a:buFont typeface="Arial MT"/>
              <a:buChar char="•"/>
              <a:tabLst>
                <a:tab pos="299085" algn="l"/>
              </a:tabLst>
            </a:pPr>
            <a:r>
              <a:rPr sz="1800" b="1" dirty="0">
                <a:latin typeface="Trebuchet MS" panose="020B0603020202020204" pitchFamily="34" charset="0"/>
                <a:cs typeface="Arial"/>
              </a:rPr>
              <a:t>Driver</a:t>
            </a:r>
            <a:r>
              <a:rPr sz="1800" b="1" spc="-15" dirty="0">
                <a:latin typeface="Trebuchet MS" panose="020B0603020202020204" pitchFamily="34" charset="0"/>
                <a:cs typeface="Arial"/>
              </a:rPr>
              <a:t> </a:t>
            </a:r>
            <a:r>
              <a:rPr sz="1800" b="1" dirty="0">
                <a:latin typeface="Trebuchet MS" panose="020B0603020202020204" pitchFamily="34" charset="0"/>
                <a:cs typeface="Arial"/>
              </a:rPr>
              <a:t>Diversity</a:t>
            </a:r>
            <a:r>
              <a:rPr sz="1800" b="1" spc="5" dirty="0">
                <a:latin typeface="Trebuchet MS" panose="020B0603020202020204" pitchFamily="34" charset="0"/>
                <a:cs typeface="Arial"/>
              </a:rPr>
              <a:t> </a:t>
            </a:r>
            <a:r>
              <a:rPr sz="1800" dirty="0">
                <a:latin typeface="Trebuchet MS" panose="020B0603020202020204" pitchFamily="34" charset="0"/>
                <a:cs typeface="Arial MT"/>
              </a:rPr>
              <a:t>–</a:t>
            </a:r>
            <a:r>
              <a:rPr sz="1800" spc="-50" dirty="0">
                <a:latin typeface="Trebuchet MS" panose="020B0603020202020204" pitchFamily="34" charset="0"/>
                <a:cs typeface="Arial MT"/>
              </a:rPr>
              <a:t> </a:t>
            </a:r>
            <a:r>
              <a:rPr sz="1800" dirty="0">
                <a:latin typeface="Trebuchet MS" panose="020B0603020202020204" pitchFamily="34" charset="0"/>
                <a:cs typeface="Arial MT"/>
              </a:rPr>
              <a:t>Differences</a:t>
            </a:r>
            <a:r>
              <a:rPr sz="1800" spc="-30" dirty="0">
                <a:latin typeface="Trebuchet MS" panose="020B0603020202020204" pitchFamily="34" charset="0"/>
                <a:cs typeface="Arial MT"/>
              </a:rPr>
              <a:t> </a:t>
            </a:r>
            <a:r>
              <a:rPr sz="1800" dirty="0">
                <a:latin typeface="Trebuchet MS" panose="020B0603020202020204" pitchFamily="34" charset="0"/>
                <a:cs typeface="Arial MT"/>
              </a:rPr>
              <a:t>in</a:t>
            </a:r>
            <a:r>
              <a:rPr sz="1800" spc="-45" dirty="0">
                <a:latin typeface="Trebuchet MS" panose="020B0603020202020204" pitchFamily="34" charset="0"/>
                <a:cs typeface="Arial MT"/>
              </a:rPr>
              <a:t> </a:t>
            </a:r>
            <a:r>
              <a:rPr sz="1800" dirty="0">
                <a:latin typeface="Trebuchet MS" panose="020B0603020202020204" pitchFamily="34" charset="0"/>
                <a:cs typeface="Arial MT"/>
              </a:rPr>
              <a:t>skin</a:t>
            </a:r>
            <a:r>
              <a:rPr sz="1800" spc="-45" dirty="0">
                <a:latin typeface="Trebuchet MS" panose="020B0603020202020204" pitchFamily="34" charset="0"/>
                <a:cs typeface="Arial MT"/>
              </a:rPr>
              <a:t> </a:t>
            </a:r>
            <a:r>
              <a:rPr sz="1800" dirty="0">
                <a:latin typeface="Trebuchet MS" panose="020B0603020202020204" pitchFamily="34" charset="0"/>
                <a:cs typeface="Arial MT"/>
              </a:rPr>
              <a:t>tone,</a:t>
            </a:r>
            <a:r>
              <a:rPr sz="1800" spc="-45" dirty="0">
                <a:latin typeface="Trebuchet MS" panose="020B0603020202020204" pitchFamily="34" charset="0"/>
                <a:cs typeface="Arial MT"/>
              </a:rPr>
              <a:t> </a:t>
            </a:r>
            <a:r>
              <a:rPr sz="1800" dirty="0">
                <a:latin typeface="Trebuchet MS" panose="020B0603020202020204" pitchFamily="34" charset="0"/>
                <a:cs typeface="Arial MT"/>
              </a:rPr>
              <a:t>facial</a:t>
            </a:r>
            <a:r>
              <a:rPr sz="1800" spc="-40" dirty="0">
                <a:latin typeface="Trebuchet MS" panose="020B0603020202020204" pitchFamily="34" charset="0"/>
                <a:cs typeface="Arial MT"/>
              </a:rPr>
              <a:t> </a:t>
            </a:r>
            <a:r>
              <a:rPr sz="1800" dirty="0">
                <a:latin typeface="Trebuchet MS" panose="020B0603020202020204" pitchFamily="34" charset="0"/>
                <a:cs typeface="Arial MT"/>
              </a:rPr>
              <a:t>features,</a:t>
            </a:r>
            <a:r>
              <a:rPr sz="1800" spc="-40" dirty="0">
                <a:latin typeface="Trebuchet MS" panose="020B0603020202020204" pitchFamily="34" charset="0"/>
                <a:cs typeface="Arial MT"/>
              </a:rPr>
              <a:t> </a:t>
            </a:r>
            <a:r>
              <a:rPr sz="1800" dirty="0">
                <a:latin typeface="Trebuchet MS" panose="020B0603020202020204" pitchFamily="34" charset="0"/>
                <a:cs typeface="Arial MT"/>
              </a:rPr>
              <a:t>and</a:t>
            </a:r>
            <a:r>
              <a:rPr sz="1800" spc="-50" dirty="0">
                <a:latin typeface="Trebuchet MS" panose="020B0603020202020204" pitchFamily="34" charset="0"/>
                <a:cs typeface="Arial MT"/>
              </a:rPr>
              <a:t> </a:t>
            </a:r>
            <a:r>
              <a:rPr sz="1800" dirty="0">
                <a:latin typeface="Trebuchet MS" panose="020B0603020202020204" pitchFamily="34" charset="0"/>
                <a:cs typeface="Arial MT"/>
              </a:rPr>
              <a:t>physical build</a:t>
            </a:r>
            <a:r>
              <a:rPr sz="1800" spc="-35" dirty="0">
                <a:latin typeface="Trebuchet MS" panose="020B0603020202020204" pitchFamily="34" charset="0"/>
                <a:cs typeface="Arial MT"/>
              </a:rPr>
              <a:t> </a:t>
            </a:r>
            <a:r>
              <a:rPr sz="1800" spc="-10" dirty="0">
                <a:latin typeface="Trebuchet MS" panose="020B0603020202020204" pitchFamily="34" charset="0"/>
                <a:cs typeface="Arial MT"/>
              </a:rPr>
              <a:t>reduce</a:t>
            </a:r>
            <a:r>
              <a:rPr lang="en-IN" spc="-10" dirty="0">
                <a:latin typeface="Trebuchet MS" panose="020B0603020202020204" pitchFamily="34" charset="0"/>
                <a:cs typeface="Arial MT"/>
              </a:rPr>
              <a:t> </a:t>
            </a:r>
            <a:r>
              <a:rPr sz="1800" dirty="0">
                <a:latin typeface="Trebuchet MS" panose="020B0603020202020204" pitchFamily="34" charset="0"/>
                <a:cs typeface="Arial MT"/>
              </a:rPr>
              <a:t>generalization</a:t>
            </a:r>
            <a:r>
              <a:rPr sz="1800" spc="-35" dirty="0">
                <a:latin typeface="Trebuchet MS" panose="020B0603020202020204" pitchFamily="34" charset="0"/>
                <a:cs typeface="Arial MT"/>
              </a:rPr>
              <a:t> </a:t>
            </a:r>
            <a:r>
              <a:rPr sz="1800" dirty="0">
                <a:latin typeface="Trebuchet MS" panose="020B0603020202020204" pitchFamily="34" charset="0"/>
                <a:cs typeface="Arial MT"/>
              </a:rPr>
              <a:t>across</a:t>
            </a:r>
            <a:r>
              <a:rPr sz="1800" spc="-45" dirty="0">
                <a:latin typeface="Trebuchet MS" panose="020B0603020202020204" pitchFamily="34" charset="0"/>
                <a:cs typeface="Arial MT"/>
              </a:rPr>
              <a:t> </a:t>
            </a:r>
            <a:r>
              <a:rPr sz="1800" dirty="0">
                <a:latin typeface="Trebuchet MS" panose="020B0603020202020204" pitchFamily="34" charset="0"/>
                <a:cs typeface="Arial MT"/>
              </a:rPr>
              <a:t>drivers</a:t>
            </a:r>
            <a:r>
              <a:rPr sz="1800" spc="-35" dirty="0">
                <a:latin typeface="Trebuchet MS" panose="020B0603020202020204" pitchFamily="34" charset="0"/>
                <a:cs typeface="Arial MT"/>
              </a:rPr>
              <a:t> </a:t>
            </a:r>
            <a:r>
              <a:rPr sz="1800" dirty="0">
                <a:latin typeface="Trebuchet MS" panose="020B0603020202020204" pitchFamily="34" charset="0"/>
                <a:cs typeface="Arial MT"/>
              </a:rPr>
              <a:t>in</a:t>
            </a:r>
            <a:r>
              <a:rPr sz="1800" spc="-50" dirty="0">
                <a:latin typeface="Trebuchet MS" panose="020B0603020202020204" pitchFamily="34" charset="0"/>
                <a:cs typeface="Arial MT"/>
              </a:rPr>
              <a:t> </a:t>
            </a:r>
            <a:r>
              <a:rPr sz="1800" dirty="0">
                <a:latin typeface="Trebuchet MS" panose="020B0603020202020204" pitchFamily="34" charset="0"/>
                <a:cs typeface="Arial MT"/>
              </a:rPr>
              <a:t>different</a:t>
            </a:r>
            <a:r>
              <a:rPr sz="1800" spc="-35" dirty="0">
                <a:latin typeface="Trebuchet MS" panose="020B0603020202020204" pitchFamily="34" charset="0"/>
                <a:cs typeface="Arial MT"/>
              </a:rPr>
              <a:t> </a:t>
            </a:r>
            <a:r>
              <a:rPr sz="1800" spc="-10" dirty="0">
                <a:latin typeface="Trebuchet MS" panose="020B0603020202020204" pitchFamily="34" charset="0"/>
                <a:cs typeface="Arial MT"/>
              </a:rPr>
              <a:t>regions..</a:t>
            </a:r>
            <a:endParaRPr sz="1800" dirty="0">
              <a:latin typeface="Trebuchet MS" panose="020B0603020202020204" pitchFamily="34" charset="0"/>
              <a:cs typeface="Arial MT"/>
            </a:endParaRPr>
          </a:p>
          <a:p>
            <a:pPr>
              <a:lnSpc>
                <a:spcPct val="100000"/>
              </a:lnSpc>
              <a:spcBef>
                <a:spcPts val="90"/>
              </a:spcBef>
            </a:pPr>
            <a:endParaRPr sz="1800" dirty="0">
              <a:latin typeface="Trebuchet MS" panose="020B0603020202020204" pitchFamily="34" charset="0"/>
              <a:cs typeface="Arial MT"/>
            </a:endParaRPr>
          </a:p>
          <a:p>
            <a:pPr marL="299085" marR="129539" indent="-287020">
              <a:lnSpc>
                <a:spcPct val="100000"/>
              </a:lnSpc>
              <a:buFont typeface="Arial MT"/>
              <a:buChar char="•"/>
              <a:tabLst>
                <a:tab pos="299085" algn="l"/>
              </a:tabLst>
            </a:pPr>
            <a:r>
              <a:rPr sz="1800" b="1" dirty="0">
                <a:latin typeface="Trebuchet MS" panose="020B0603020202020204" pitchFamily="34" charset="0"/>
                <a:cs typeface="Arial"/>
              </a:rPr>
              <a:t>Edge</a:t>
            </a:r>
            <a:r>
              <a:rPr sz="1800" b="1" spc="-60" dirty="0">
                <a:latin typeface="Trebuchet MS" panose="020B0603020202020204" pitchFamily="34" charset="0"/>
                <a:cs typeface="Arial"/>
              </a:rPr>
              <a:t> </a:t>
            </a:r>
            <a:r>
              <a:rPr sz="1800" b="1" dirty="0">
                <a:latin typeface="Trebuchet MS" panose="020B0603020202020204" pitchFamily="34" charset="0"/>
                <a:cs typeface="Arial"/>
              </a:rPr>
              <a:t>Device</a:t>
            </a:r>
            <a:r>
              <a:rPr sz="1800" b="1" spc="15" dirty="0">
                <a:latin typeface="Trebuchet MS" panose="020B0603020202020204" pitchFamily="34" charset="0"/>
                <a:cs typeface="Arial"/>
              </a:rPr>
              <a:t> </a:t>
            </a:r>
            <a:r>
              <a:rPr sz="1800" b="1" dirty="0">
                <a:latin typeface="Trebuchet MS" panose="020B0603020202020204" pitchFamily="34" charset="0"/>
                <a:cs typeface="Arial"/>
              </a:rPr>
              <a:t>Constraints</a:t>
            </a:r>
            <a:r>
              <a:rPr sz="1800" b="1" spc="-25" dirty="0">
                <a:latin typeface="Trebuchet MS" panose="020B0603020202020204" pitchFamily="34" charset="0"/>
                <a:cs typeface="Arial"/>
              </a:rPr>
              <a:t> </a:t>
            </a:r>
            <a:r>
              <a:rPr sz="1800" dirty="0">
                <a:latin typeface="Trebuchet MS" panose="020B0603020202020204" pitchFamily="34" charset="0"/>
                <a:cs typeface="Arial MT"/>
              </a:rPr>
              <a:t>–</a:t>
            </a:r>
            <a:r>
              <a:rPr sz="1800" spc="-35" dirty="0">
                <a:latin typeface="Trebuchet MS" panose="020B0603020202020204" pitchFamily="34" charset="0"/>
                <a:cs typeface="Arial MT"/>
              </a:rPr>
              <a:t> </a:t>
            </a:r>
            <a:r>
              <a:rPr sz="1800" dirty="0">
                <a:latin typeface="Trebuchet MS" panose="020B0603020202020204" pitchFamily="34" charset="0"/>
                <a:cs typeface="Arial MT"/>
              </a:rPr>
              <a:t>Running</a:t>
            </a:r>
            <a:r>
              <a:rPr sz="1800" spc="-10" dirty="0">
                <a:latin typeface="Trebuchet MS" panose="020B0603020202020204" pitchFamily="34" charset="0"/>
                <a:cs typeface="Arial MT"/>
              </a:rPr>
              <a:t> </a:t>
            </a:r>
            <a:r>
              <a:rPr sz="1800" dirty="0">
                <a:latin typeface="Trebuchet MS" panose="020B0603020202020204" pitchFamily="34" charset="0"/>
                <a:cs typeface="Arial MT"/>
              </a:rPr>
              <a:t>heavy</a:t>
            </a:r>
            <a:r>
              <a:rPr sz="1800" spc="-30" dirty="0">
                <a:latin typeface="Trebuchet MS" panose="020B0603020202020204" pitchFamily="34" charset="0"/>
                <a:cs typeface="Arial MT"/>
              </a:rPr>
              <a:t> </a:t>
            </a:r>
            <a:r>
              <a:rPr sz="1800" dirty="0">
                <a:latin typeface="Trebuchet MS" panose="020B0603020202020204" pitchFamily="34" charset="0"/>
                <a:cs typeface="Arial MT"/>
              </a:rPr>
              <a:t>CNN/LSTM</a:t>
            </a:r>
            <a:r>
              <a:rPr sz="1800" spc="-40" dirty="0">
                <a:latin typeface="Trebuchet MS" panose="020B0603020202020204" pitchFamily="34" charset="0"/>
                <a:cs typeface="Arial MT"/>
              </a:rPr>
              <a:t> </a:t>
            </a:r>
            <a:r>
              <a:rPr sz="1800" dirty="0">
                <a:latin typeface="Trebuchet MS" panose="020B0603020202020204" pitchFamily="34" charset="0"/>
                <a:cs typeface="Arial MT"/>
              </a:rPr>
              <a:t>architectures</a:t>
            </a:r>
            <a:r>
              <a:rPr sz="1800" spc="-25" dirty="0">
                <a:latin typeface="Trebuchet MS" panose="020B0603020202020204" pitchFamily="34" charset="0"/>
                <a:cs typeface="Arial MT"/>
              </a:rPr>
              <a:t> </a:t>
            </a:r>
            <a:r>
              <a:rPr sz="1800" dirty="0">
                <a:latin typeface="Trebuchet MS" panose="020B0603020202020204" pitchFamily="34" charset="0"/>
                <a:cs typeface="Arial MT"/>
              </a:rPr>
              <a:t>on</a:t>
            </a:r>
            <a:r>
              <a:rPr sz="1800" spc="-25" dirty="0">
                <a:latin typeface="Trebuchet MS" panose="020B0603020202020204" pitchFamily="34" charset="0"/>
                <a:cs typeface="Arial MT"/>
              </a:rPr>
              <a:t> low-</a:t>
            </a:r>
            <a:r>
              <a:rPr sz="1800" spc="-10" dirty="0">
                <a:latin typeface="Trebuchet MS" panose="020B0603020202020204" pitchFamily="34" charset="0"/>
                <a:cs typeface="Arial MT"/>
              </a:rPr>
              <a:t>power </a:t>
            </a:r>
            <a:r>
              <a:rPr sz="1800" dirty="0">
                <a:latin typeface="Trebuchet MS" panose="020B0603020202020204" pitchFamily="34" charset="0"/>
                <a:cs typeface="Arial MT"/>
              </a:rPr>
              <a:t>hardware</a:t>
            </a:r>
            <a:r>
              <a:rPr sz="1800" spc="10" dirty="0">
                <a:latin typeface="Trebuchet MS" panose="020B0603020202020204" pitchFamily="34" charset="0"/>
                <a:cs typeface="Arial MT"/>
              </a:rPr>
              <a:t> </a:t>
            </a:r>
            <a:r>
              <a:rPr sz="1800" dirty="0">
                <a:latin typeface="Trebuchet MS" panose="020B0603020202020204" pitchFamily="34" charset="0"/>
                <a:cs typeface="Arial MT"/>
              </a:rPr>
              <a:t>leads</a:t>
            </a:r>
            <a:r>
              <a:rPr sz="1800" spc="-15" dirty="0">
                <a:latin typeface="Trebuchet MS" panose="020B0603020202020204" pitchFamily="34" charset="0"/>
                <a:cs typeface="Arial MT"/>
              </a:rPr>
              <a:t> </a:t>
            </a:r>
            <a:r>
              <a:rPr sz="1800" dirty="0">
                <a:latin typeface="Trebuchet MS" panose="020B0603020202020204" pitchFamily="34" charset="0"/>
                <a:cs typeface="Arial MT"/>
              </a:rPr>
              <a:t>to</a:t>
            </a:r>
            <a:r>
              <a:rPr sz="1800" spc="-35" dirty="0">
                <a:latin typeface="Trebuchet MS" panose="020B0603020202020204" pitchFamily="34" charset="0"/>
                <a:cs typeface="Arial MT"/>
              </a:rPr>
              <a:t> </a:t>
            </a:r>
            <a:r>
              <a:rPr sz="1800" dirty="0">
                <a:latin typeface="Trebuchet MS" panose="020B0603020202020204" pitchFamily="34" charset="0"/>
                <a:cs typeface="Arial MT"/>
              </a:rPr>
              <a:t>latency</a:t>
            </a:r>
            <a:r>
              <a:rPr sz="1800" spc="-15" dirty="0">
                <a:latin typeface="Trebuchet MS" panose="020B0603020202020204" pitchFamily="34" charset="0"/>
                <a:cs typeface="Arial MT"/>
              </a:rPr>
              <a:t> </a:t>
            </a:r>
            <a:r>
              <a:rPr sz="1800" dirty="0">
                <a:latin typeface="Trebuchet MS" panose="020B0603020202020204" pitchFamily="34" charset="0"/>
                <a:cs typeface="Arial MT"/>
              </a:rPr>
              <a:t>or</a:t>
            </a:r>
            <a:r>
              <a:rPr sz="1800" spc="-25" dirty="0">
                <a:latin typeface="Trebuchet MS" panose="020B0603020202020204" pitchFamily="34" charset="0"/>
                <a:cs typeface="Arial MT"/>
              </a:rPr>
              <a:t> </a:t>
            </a:r>
            <a:r>
              <a:rPr sz="1800" dirty="0">
                <a:latin typeface="Trebuchet MS" panose="020B0603020202020204" pitchFamily="34" charset="0"/>
                <a:cs typeface="Arial MT"/>
              </a:rPr>
              <a:t>heat</a:t>
            </a:r>
            <a:r>
              <a:rPr sz="1800" spc="-20" dirty="0">
                <a:latin typeface="Trebuchet MS" panose="020B0603020202020204" pitchFamily="34" charset="0"/>
                <a:cs typeface="Arial MT"/>
              </a:rPr>
              <a:t> </a:t>
            </a:r>
            <a:r>
              <a:rPr sz="1800" dirty="0">
                <a:latin typeface="Trebuchet MS" panose="020B0603020202020204" pitchFamily="34" charset="0"/>
                <a:cs typeface="Arial MT"/>
              </a:rPr>
              <a:t>issues</a:t>
            </a:r>
            <a:r>
              <a:rPr sz="1800" spc="-25" dirty="0">
                <a:latin typeface="Trebuchet MS" panose="020B0603020202020204" pitchFamily="34" charset="0"/>
                <a:cs typeface="Arial MT"/>
              </a:rPr>
              <a:t> </a:t>
            </a:r>
            <a:r>
              <a:rPr sz="1800" dirty="0">
                <a:latin typeface="Trebuchet MS" panose="020B0603020202020204" pitchFamily="34" charset="0"/>
                <a:cs typeface="Arial MT"/>
              </a:rPr>
              <a:t>in</a:t>
            </a:r>
            <a:r>
              <a:rPr sz="1800" spc="-30" dirty="0">
                <a:latin typeface="Trebuchet MS" panose="020B0603020202020204" pitchFamily="34" charset="0"/>
                <a:cs typeface="Arial MT"/>
              </a:rPr>
              <a:t> </a:t>
            </a:r>
            <a:r>
              <a:rPr sz="1800" spc="-10" dirty="0">
                <a:latin typeface="Trebuchet MS" panose="020B0603020202020204" pitchFamily="34" charset="0"/>
                <a:cs typeface="Arial MT"/>
              </a:rPr>
              <a:t>vehicles</a:t>
            </a:r>
            <a:endParaRPr sz="1800" dirty="0">
              <a:latin typeface="Trebuchet MS" panose="020B0603020202020204" pitchFamily="34" charset="0"/>
              <a:cs typeface="Arial MT"/>
            </a:endParaRPr>
          </a:p>
        </p:txBody>
      </p:sp>
    </p:spTree>
    <p:extLst>
      <p:ext uri="{BB962C8B-B14F-4D97-AF65-F5344CB8AC3E}">
        <p14:creationId xmlns:p14="http://schemas.microsoft.com/office/powerpoint/2010/main" val="41211983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2999613" y="1106487"/>
            <a:ext cx="7620000" cy="36830"/>
          </a:xfrm>
          <a:custGeom>
            <a:avLst/>
            <a:gdLst/>
            <a:ahLst/>
            <a:cxnLst/>
            <a:rect l="l" t="t" r="r" b="b"/>
            <a:pathLst>
              <a:path w="7620000" h="36830">
                <a:moveTo>
                  <a:pt x="7620000" y="0"/>
                </a:moveTo>
                <a:lnTo>
                  <a:pt x="0" y="0"/>
                </a:lnTo>
                <a:lnTo>
                  <a:pt x="0" y="36512"/>
                </a:lnTo>
                <a:lnTo>
                  <a:pt x="7620000" y="36512"/>
                </a:lnTo>
                <a:lnTo>
                  <a:pt x="7620000" y="0"/>
                </a:lnTo>
                <a:close/>
              </a:path>
            </a:pathLst>
          </a:custGeom>
          <a:solidFill>
            <a:srgbClr val="33CCCC"/>
          </a:solidFill>
        </p:spPr>
        <p:txBody>
          <a:bodyPr wrap="square" lIns="0" tIns="0" rIns="0" bIns="0" rtlCol="0"/>
          <a:lstStyle/>
          <a:p>
            <a:endParaRPr/>
          </a:p>
        </p:txBody>
      </p:sp>
      <p:sp>
        <p:nvSpPr>
          <p:cNvPr id="3" name="object 3"/>
          <p:cNvSpPr txBox="1">
            <a:spLocks noGrp="1"/>
          </p:cNvSpPr>
          <p:nvPr>
            <p:ph type="title"/>
          </p:nvPr>
        </p:nvSpPr>
        <p:spPr>
          <a:xfrm>
            <a:off x="8534400" y="659777"/>
            <a:ext cx="1875789" cy="391160"/>
          </a:xfrm>
          <a:prstGeom prst="rect">
            <a:avLst/>
          </a:prstGeom>
        </p:spPr>
        <p:txBody>
          <a:bodyPr vert="horz" wrap="square" lIns="0" tIns="12700" rIns="0" bIns="0" rtlCol="0">
            <a:spAutoFit/>
          </a:bodyPr>
          <a:lstStyle/>
          <a:p>
            <a:pPr marL="12700">
              <a:lnSpc>
                <a:spcPct val="100000"/>
              </a:lnSpc>
              <a:spcBef>
                <a:spcPts val="100"/>
              </a:spcBef>
            </a:pPr>
            <a:r>
              <a:rPr spc="-10" dirty="0"/>
              <a:t>Research</a:t>
            </a:r>
            <a:r>
              <a:rPr spc="-105" dirty="0"/>
              <a:t> </a:t>
            </a:r>
            <a:r>
              <a:rPr spc="-25" dirty="0"/>
              <a:t>Gap</a:t>
            </a:r>
          </a:p>
        </p:txBody>
      </p:sp>
      <p:sp>
        <p:nvSpPr>
          <p:cNvPr id="4" name="object 4"/>
          <p:cNvSpPr txBox="1"/>
          <p:nvPr/>
        </p:nvSpPr>
        <p:spPr>
          <a:xfrm>
            <a:off x="1305547" y="1306624"/>
            <a:ext cx="9324340" cy="4244752"/>
          </a:xfrm>
          <a:prstGeom prst="rect">
            <a:avLst/>
          </a:prstGeom>
        </p:spPr>
        <p:txBody>
          <a:bodyPr vert="horz" wrap="square" lIns="0" tIns="12700" rIns="0" bIns="0" rtlCol="0">
            <a:spAutoFit/>
          </a:bodyPr>
          <a:lstStyle/>
          <a:p>
            <a:pPr>
              <a:lnSpc>
                <a:spcPct val="100000"/>
              </a:lnSpc>
              <a:spcBef>
                <a:spcPts val="90"/>
              </a:spcBef>
            </a:pPr>
            <a:endParaRPr sz="1800" dirty="0">
              <a:latin typeface="Trebuchet MS" panose="020B0603020202020204" pitchFamily="34" charset="0"/>
              <a:cs typeface="Arial MT"/>
            </a:endParaRPr>
          </a:p>
          <a:p>
            <a:pPr marL="299085" indent="-286385">
              <a:lnSpc>
                <a:spcPct val="100000"/>
              </a:lnSpc>
              <a:buChar char="•"/>
              <a:tabLst>
                <a:tab pos="299085" algn="l"/>
              </a:tabLst>
            </a:pPr>
            <a:r>
              <a:rPr sz="1800" dirty="0">
                <a:latin typeface="Trebuchet MS" panose="020B0603020202020204" pitchFamily="34" charset="0"/>
                <a:cs typeface="Arial MT"/>
              </a:rPr>
              <a:t>Lack</a:t>
            </a:r>
            <a:r>
              <a:rPr sz="1800" spc="-40" dirty="0">
                <a:latin typeface="Trebuchet MS" panose="020B0603020202020204" pitchFamily="34" charset="0"/>
                <a:cs typeface="Arial MT"/>
              </a:rPr>
              <a:t> </a:t>
            </a:r>
            <a:r>
              <a:rPr sz="1800" dirty="0">
                <a:latin typeface="Trebuchet MS" panose="020B0603020202020204" pitchFamily="34" charset="0"/>
                <a:cs typeface="Arial MT"/>
              </a:rPr>
              <a:t>of</a:t>
            </a:r>
            <a:r>
              <a:rPr sz="1800" spc="-25" dirty="0">
                <a:latin typeface="Trebuchet MS" panose="020B0603020202020204" pitchFamily="34" charset="0"/>
                <a:cs typeface="Arial MT"/>
              </a:rPr>
              <a:t> </a:t>
            </a:r>
            <a:r>
              <a:rPr sz="1800" b="1" dirty="0">
                <a:latin typeface="Trebuchet MS" panose="020B0603020202020204" pitchFamily="34" charset="0"/>
                <a:cs typeface="Arial"/>
              </a:rPr>
              <a:t>generalizable</a:t>
            </a:r>
            <a:r>
              <a:rPr sz="1800" b="1" spc="-25" dirty="0">
                <a:latin typeface="Trebuchet MS" panose="020B0603020202020204" pitchFamily="34" charset="0"/>
                <a:cs typeface="Arial"/>
              </a:rPr>
              <a:t> </a:t>
            </a:r>
            <a:r>
              <a:rPr sz="1800" b="1" dirty="0">
                <a:latin typeface="Trebuchet MS" panose="020B0603020202020204" pitchFamily="34" charset="0"/>
                <a:cs typeface="Arial"/>
              </a:rPr>
              <a:t>and</a:t>
            </a:r>
            <a:r>
              <a:rPr sz="1800" b="1" spc="-35" dirty="0">
                <a:latin typeface="Trebuchet MS" panose="020B0603020202020204" pitchFamily="34" charset="0"/>
                <a:cs typeface="Arial"/>
              </a:rPr>
              <a:t> </a:t>
            </a:r>
            <a:r>
              <a:rPr sz="1800" b="1" dirty="0">
                <a:latin typeface="Trebuchet MS" panose="020B0603020202020204" pitchFamily="34" charset="0"/>
                <a:cs typeface="Arial"/>
              </a:rPr>
              <a:t>adaptive models</a:t>
            </a:r>
            <a:r>
              <a:rPr sz="1800" b="1" spc="-10" dirty="0">
                <a:latin typeface="Trebuchet MS" panose="020B0603020202020204" pitchFamily="34" charset="0"/>
                <a:cs typeface="Arial"/>
              </a:rPr>
              <a:t> </a:t>
            </a:r>
            <a:r>
              <a:rPr sz="1800" dirty="0">
                <a:latin typeface="Trebuchet MS" panose="020B0603020202020204" pitchFamily="34" charset="0"/>
                <a:cs typeface="Arial MT"/>
              </a:rPr>
              <a:t>for</a:t>
            </a:r>
            <a:r>
              <a:rPr sz="1800" spc="-40" dirty="0">
                <a:latin typeface="Trebuchet MS" panose="020B0603020202020204" pitchFamily="34" charset="0"/>
                <a:cs typeface="Arial MT"/>
              </a:rPr>
              <a:t> </a:t>
            </a:r>
            <a:r>
              <a:rPr sz="1800" dirty="0">
                <a:latin typeface="Trebuchet MS" panose="020B0603020202020204" pitchFamily="34" charset="0"/>
                <a:cs typeface="Arial MT"/>
              </a:rPr>
              <a:t>anomaly</a:t>
            </a:r>
            <a:r>
              <a:rPr sz="1800" spc="-10" dirty="0">
                <a:latin typeface="Trebuchet MS" panose="020B0603020202020204" pitchFamily="34" charset="0"/>
                <a:cs typeface="Arial MT"/>
              </a:rPr>
              <a:t> detection.</a:t>
            </a:r>
            <a:endParaRPr sz="1800" dirty="0">
              <a:latin typeface="Trebuchet MS" panose="020B0603020202020204" pitchFamily="34" charset="0"/>
              <a:cs typeface="Arial MT"/>
            </a:endParaRPr>
          </a:p>
          <a:p>
            <a:pPr>
              <a:lnSpc>
                <a:spcPct val="100000"/>
              </a:lnSpc>
              <a:spcBef>
                <a:spcPts val="90"/>
              </a:spcBef>
              <a:buFont typeface="Arial MT"/>
              <a:buChar char="•"/>
            </a:pPr>
            <a:endParaRPr sz="1800" dirty="0">
              <a:latin typeface="Trebuchet MS" panose="020B0603020202020204" pitchFamily="34" charset="0"/>
              <a:cs typeface="Arial MT"/>
            </a:endParaRPr>
          </a:p>
          <a:p>
            <a:pPr marL="299085" indent="-286385">
              <a:lnSpc>
                <a:spcPct val="100000"/>
              </a:lnSpc>
              <a:buChar char="•"/>
              <a:tabLst>
                <a:tab pos="299085" algn="l"/>
              </a:tabLst>
            </a:pPr>
            <a:r>
              <a:rPr sz="1800" dirty="0">
                <a:latin typeface="Trebuchet MS" panose="020B0603020202020204" pitchFamily="34" charset="0"/>
                <a:cs typeface="Arial MT"/>
              </a:rPr>
              <a:t>Need</a:t>
            </a:r>
            <a:r>
              <a:rPr sz="1800" spc="-30" dirty="0">
                <a:latin typeface="Trebuchet MS" panose="020B0603020202020204" pitchFamily="34" charset="0"/>
                <a:cs typeface="Arial MT"/>
              </a:rPr>
              <a:t> </a:t>
            </a:r>
            <a:r>
              <a:rPr sz="1800" dirty="0">
                <a:latin typeface="Trebuchet MS" panose="020B0603020202020204" pitchFamily="34" charset="0"/>
                <a:cs typeface="Arial MT"/>
              </a:rPr>
              <a:t>for</a:t>
            </a:r>
            <a:r>
              <a:rPr sz="1800" spc="-30" dirty="0">
                <a:latin typeface="Trebuchet MS" panose="020B0603020202020204" pitchFamily="34" charset="0"/>
                <a:cs typeface="Arial MT"/>
              </a:rPr>
              <a:t> </a:t>
            </a:r>
            <a:r>
              <a:rPr sz="1800" b="1" dirty="0">
                <a:latin typeface="Trebuchet MS" panose="020B0603020202020204" pitchFamily="34" charset="0"/>
                <a:cs typeface="Arial"/>
              </a:rPr>
              <a:t>lightweight</a:t>
            </a:r>
            <a:r>
              <a:rPr sz="1800" b="1" spc="-80" dirty="0">
                <a:latin typeface="Trebuchet MS" panose="020B0603020202020204" pitchFamily="34" charset="0"/>
                <a:cs typeface="Arial"/>
              </a:rPr>
              <a:t> </a:t>
            </a:r>
            <a:r>
              <a:rPr sz="1800" b="1" dirty="0">
                <a:latin typeface="Trebuchet MS" panose="020B0603020202020204" pitchFamily="34" charset="0"/>
                <a:cs typeface="Arial"/>
              </a:rPr>
              <a:t>deep</a:t>
            </a:r>
            <a:r>
              <a:rPr sz="1800" b="1" spc="-25" dirty="0">
                <a:latin typeface="Trebuchet MS" panose="020B0603020202020204" pitchFamily="34" charset="0"/>
                <a:cs typeface="Arial"/>
              </a:rPr>
              <a:t> </a:t>
            </a:r>
            <a:r>
              <a:rPr sz="1800" b="1" dirty="0">
                <a:latin typeface="Trebuchet MS" panose="020B0603020202020204" pitchFamily="34" charset="0"/>
                <a:cs typeface="Arial"/>
              </a:rPr>
              <a:t>learning</a:t>
            </a:r>
            <a:r>
              <a:rPr sz="1800" b="1" spc="-35" dirty="0">
                <a:latin typeface="Trebuchet MS" panose="020B0603020202020204" pitchFamily="34" charset="0"/>
                <a:cs typeface="Arial"/>
              </a:rPr>
              <a:t> </a:t>
            </a:r>
            <a:r>
              <a:rPr sz="1800" b="1" dirty="0">
                <a:latin typeface="Trebuchet MS" panose="020B0603020202020204" pitchFamily="34" charset="0"/>
                <a:cs typeface="Arial"/>
              </a:rPr>
              <a:t>models</a:t>
            </a:r>
            <a:r>
              <a:rPr sz="1800" b="1" spc="-40" dirty="0">
                <a:latin typeface="Trebuchet MS" panose="020B0603020202020204" pitchFamily="34" charset="0"/>
                <a:cs typeface="Arial"/>
              </a:rPr>
              <a:t> </a:t>
            </a:r>
            <a:r>
              <a:rPr sz="1800" dirty="0">
                <a:latin typeface="Trebuchet MS" panose="020B0603020202020204" pitchFamily="34" charset="0"/>
                <a:cs typeface="Arial MT"/>
              </a:rPr>
              <a:t>suitable</a:t>
            </a:r>
            <a:r>
              <a:rPr sz="1800" spc="-20" dirty="0">
                <a:latin typeface="Trebuchet MS" panose="020B0603020202020204" pitchFamily="34" charset="0"/>
                <a:cs typeface="Arial MT"/>
              </a:rPr>
              <a:t> </a:t>
            </a:r>
            <a:r>
              <a:rPr sz="1800" dirty="0">
                <a:latin typeface="Trebuchet MS" panose="020B0603020202020204" pitchFamily="34" charset="0"/>
                <a:cs typeface="Arial MT"/>
              </a:rPr>
              <a:t>for</a:t>
            </a:r>
            <a:r>
              <a:rPr sz="1800" spc="-45" dirty="0">
                <a:latin typeface="Trebuchet MS" panose="020B0603020202020204" pitchFamily="34" charset="0"/>
                <a:cs typeface="Arial MT"/>
              </a:rPr>
              <a:t> </a:t>
            </a:r>
            <a:r>
              <a:rPr sz="1800" dirty="0">
                <a:latin typeface="Trebuchet MS" panose="020B0603020202020204" pitchFamily="34" charset="0"/>
                <a:cs typeface="Arial MT"/>
              </a:rPr>
              <a:t>embedded</a:t>
            </a:r>
            <a:r>
              <a:rPr sz="1800" spc="-15" dirty="0">
                <a:latin typeface="Trebuchet MS" panose="020B0603020202020204" pitchFamily="34" charset="0"/>
                <a:cs typeface="Arial MT"/>
              </a:rPr>
              <a:t> </a:t>
            </a:r>
            <a:r>
              <a:rPr sz="1800" dirty="0">
                <a:latin typeface="Trebuchet MS" panose="020B0603020202020204" pitchFamily="34" charset="0"/>
                <a:cs typeface="Arial MT"/>
              </a:rPr>
              <a:t>systems.(hard</a:t>
            </a:r>
            <a:r>
              <a:rPr sz="1800" spc="-5" dirty="0">
                <a:latin typeface="Trebuchet MS" panose="020B0603020202020204" pitchFamily="34" charset="0"/>
                <a:cs typeface="Arial MT"/>
              </a:rPr>
              <a:t> </a:t>
            </a:r>
            <a:r>
              <a:rPr sz="1800" spc="-10" dirty="0">
                <a:latin typeface="Trebuchet MS" panose="020B0603020202020204" pitchFamily="34" charset="0"/>
                <a:cs typeface="Arial MT"/>
              </a:rPr>
              <a:t>ware)</a:t>
            </a:r>
            <a:endParaRPr sz="1800" dirty="0">
              <a:latin typeface="Trebuchet MS" panose="020B0603020202020204" pitchFamily="34" charset="0"/>
              <a:cs typeface="Arial MT"/>
            </a:endParaRPr>
          </a:p>
          <a:p>
            <a:pPr>
              <a:lnSpc>
                <a:spcPct val="100000"/>
              </a:lnSpc>
              <a:spcBef>
                <a:spcPts val="90"/>
              </a:spcBef>
              <a:buFont typeface="Arial MT"/>
              <a:buChar char="•"/>
            </a:pPr>
            <a:endParaRPr sz="1800" dirty="0">
              <a:latin typeface="Trebuchet MS" panose="020B0603020202020204" pitchFamily="34" charset="0"/>
              <a:cs typeface="Arial MT"/>
            </a:endParaRPr>
          </a:p>
          <a:p>
            <a:pPr marL="299085" indent="-286385">
              <a:lnSpc>
                <a:spcPct val="100000"/>
              </a:lnSpc>
              <a:buChar char="•"/>
              <a:tabLst>
                <a:tab pos="299085" algn="l"/>
              </a:tabLst>
            </a:pPr>
            <a:r>
              <a:rPr sz="1800" dirty="0">
                <a:latin typeface="Trebuchet MS" panose="020B0603020202020204" pitchFamily="34" charset="0"/>
                <a:cs typeface="Arial MT"/>
              </a:rPr>
              <a:t>Absence</a:t>
            </a:r>
            <a:r>
              <a:rPr sz="1800" spc="-45" dirty="0">
                <a:latin typeface="Trebuchet MS" panose="020B0603020202020204" pitchFamily="34" charset="0"/>
                <a:cs typeface="Arial MT"/>
              </a:rPr>
              <a:t> </a:t>
            </a:r>
            <a:r>
              <a:rPr sz="1800" dirty="0">
                <a:latin typeface="Trebuchet MS" panose="020B0603020202020204" pitchFamily="34" charset="0"/>
                <a:cs typeface="Arial MT"/>
              </a:rPr>
              <a:t>of</a:t>
            </a:r>
            <a:r>
              <a:rPr sz="1800" spc="-30" dirty="0">
                <a:latin typeface="Trebuchet MS" panose="020B0603020202020204" pitchFamily="34" charset="0"/>
                <a:cs typeface="Arial MT"/>
              </a:rPr>
              <a:t> </a:t>
            </a:r>
            <a:r>
              <a:rPr sz="1800" b="1" dirty="0">
                <a:latin typeface="Trebuchet MS" panose="020B0603020202020204" pitchFamily="34" charset="0"/>
                <a:cs typeface="Arial"/>
              </a:rPr>
              <a:t>standard</a:t>
            </a:r>
            <a:r>
              <a:rPr sz="1800" b="1" spc="-30" dirty="0">
                <a:latin typeface="Trebuchet MS" panose="020B0603020202020204" pitchFamily="34" charset="0"/>
                <a:cs typeface="Arial"/>
              </a:rPr>
              <a:t> </a:t>
            </a:r>
            <a:r>
              <a:rPr sz="1800" b="1" dirty="0">
                <a:latin typeface="Trebuchet MS" panose="020B0603020202020204" pitchFamily="34" charset="0"/>
                <a:cs typeface="Arial"/>
              </a:rPr>
              <a:t>evaluation</a:t>
            </a:r>
            <a:r>
              <a:rPr sz="1800" b="1" spc="-5" dirty="0">
                <a:latin typeface="Trebuchet MS" panose="020B0603020202020204" pitchFamily="34" charset="0"/>
                <a:cs typeface="Arial"/>
              </a:rPr>
              <a:t> </a:t>
            </a:r>
            <a:r>
              <a:rPr sz="1800" b="1" dirty="0">
                <a:latin typeface="Trebuchet MS" panose="020B0603020202020204" pitchFamily="34" charset="0"/>
                <a:cs typeface="Arial"/>
              </a:rPr>
              <a:t>benchmarks</a:t>
            </a:r>
            <a:r>
              <a:rPr sz="1800" b="1" spc="-20" dirty="0">
                <a:latin typeface="Trebuchet MS" panose="020B0603020202020204" pitchFamily="34" charset="0"/>
                <a:cs typeface="Arial"/>
              </a:rPr>
              <a:t> </a:t>
            </a:r>
            <a:r>
              <a:rPr sz="1800" dirty="0">
                <a:latin typeface="Trebuchet MS" panose="020B0603020202020204" pitchFamily="34" charset="0"/>
                <a:cs typeface="Arial MT"/>
              </a:rPr>
              <a:t>across</a:t>
            </a:r>
            <a:r>
              <a:rPr sz="1800" spc="-35" dirty="0">
                <a:latin typeface="Trebuchet MS" panose="020B0603020202020204" pitchFamily="34" charset="0"/>
                <a:cs typeface="Arial MT"/>
              </a:rPr>
              <a:t> </a:t>
            </a:r>
            <a:r>
              <a:rPr sz="1800" dirty="0">
                <a:latin typeface="Trebuchet MS" panose="020B0603020202020204" pitchFamily="34" charset="0"/>
                <a:cs typeface="Arial MT"/>
              </a:rPr>
              <a:t>research</a:t>
            </a:r>
            <a:r>
              <a:rPr sz="1800" spc="-25" dirty="0">
                <a:latin typeface="Trebuchet MS" panose="020B0603020202020204" pitchFamily="34" charset="0"/>
                <a:cs typeface="Arial MT"/>
              </a:rPr>
              <a:t> </a:t>
            </a:r>
            <a:r>
              <a:rPr sz="1800" spc="-10" dirty="0">
                <a:latin typeface="Trebuchet MS" panose="020B0603020202020204" pitchFamily="34" charset="0"/>
                <a:cs typeface="Arial MT"/>
              </a:rPr>
              <a:t>works.</a:t>
            </a:r>
            <a:endParaRPr sz="1800" dirty="0">
              <a:latin typeface="Trebuchet MS" panose="020B0603020202020204" pitchFamily="34" charset="0"/>
              <a:cs typeface="Arial MT"/>
            </a:endParaRPr>
          </a:p>
          <a:p>
            <a:pPr>
              <a:lnSpc>
                <a:spcPct val="100000"/>
              </a:lnSpc>
              <a:spcBef>
                <a:spcPts val="90"/>
              </a:spcBef>
              <a:buFont typeface="Arial MT"/>
              <a:buChar char="•"/>
            </a:pPr>
            <a:endParaRPr sz="1800" dirty="0">
              <a:latin typeface="Trebuchet MS" panose="020B0603020202020204" pitchFamily="34" charset="0"/>
              <a:cs typeface="Arial MT"/>
            </a:endParaRPr>
          </a:p>
          <a:p>
            <a:pPr marL="299085" indent="-286385">
              <a:lnSpc>
                <a:spcPct val="100000"/>
              </a:lnSpc>
              <a:buChar char="•"/>
              <a:tabLst>
                <a:tab pos="299085" algn="l"/>
              </a:tabLst>
            </a:pPr>
            <a:r>
              <a:rPr sz="1800" dirty="0">
                <a:latin typeface="Trebuchet MS" panose="020B0603020202020204" pitchFamily="34" charset="0"/>
                <a:cs typeface="Arial MT"/>
              </a:rPr>
              <a:t>Limited</a:t>
            </a:r>
            <a:r>
              <a:rPr sz="1800" spc="-20" dirty="0">
                <a:latin typeface="Trebuchet MS" panose="020B0603020202020204" pitchFamily="34" charset="0"/>
                <a:cs typeface="Arial MT"/>
              </a:rPr>
              <a:t> </a:t>
            </a:r>
            <a:r>
              <a:rPr sz="1800" dirty="0">
                <a:latin typeface="Trebuchet MS" panose="020B0603020202020204" pitchFamily="34" charset="0"/>
                <a:cs typeface="Arial MT"/>
              </a:rPr>
              <a:t>work</a:t>
            </a:r>
            <a:r>
              <a:rPr sz="1800" spc="5" dirty="0">
                <a:latin typeface="Trebuchet MS" panose="020B0603020202020204" pitchFamily="34" charset="0"/>
                <a:cs typeface="Arial MT"/>
              </a:rPr>
              <a:t> </a:t>
            </a:r>
            <a:r>
              <a:rPr sz="1800" dirty="0">
                <a:latin typeface="Trebuchet MS" panose="020B0603020202020204" pitchFamily="34" charset="0"/>
                <a:cs typeface="Arial MT"/>
              </a:rPr>
              <a:t>on</a:t>
            </a:r>
            <a:r>
              <a:rPr sz="1800" spc="-10" dirty="0">
                <a:latin typeface="Trebuchet MS" panose="020B0603020202020204" pitchFamily="34" charset="0"/>
                <a:cs typeface="Arial MT"/>
              </a:rPr>
              <a:t> </a:t>
            </a:r>
            <a:r>
              <a:rPr sz="1800" b="1" spc="-20" dirty="0">
                <a:latin typeface="Trebuchet MS" panose="020B0603020202020204" pitchFamily="34" charset="0"/>
                <a:cs typeface="Arial"/>
              </a:rPr>
              <a:t>privacy-</a:t>
            </a:r>
            <a:r>
              <a:rPr sz="1800" b="1" dirty="0">
                <a:latin typeface="Trebuchet MS" panose="020B0603020202020204" pitchFamily="34" charset="0"/>
                <a:cs typeface="Arial"/>
              </a:rPr>
              <a:t>preserving</a:t>
            </a:r>
            <a:r>
              <a:rPr sz="1800" b="1" spc="30" dirty="0">
                <a:latin typeface="Trebuchet MS" panose="020B0603020202020204" pitchFamily="34" charset="0"/>
                <a:cs typeface="Arial"/>
              </a:rPr>
              <a:t> </a:t>
            </a:r>
            <a:r>
              <a:rPr sz="1800" b="1" dirty="0">
                <a:latin typeface="Trebuchet MS" panose="020B0603020202020204" pitchFamily="34" charset="0"/>
                <a:cs typeface="Arial"/>
              </a:rPr>
              <a:t>and</a:t>
            </a:r>
            <a:r>
              <a:rPr sz="1800" b="1" spc="-25" dirty="0">
                <a:latin typeface="Trebuchet MS" panose="020B0603020202020204" pitchFamily="34" charset="0"/>
                <a:cs typeface="Arial"/>
              </a:rPr>
              <a:t> </a:t>
            </a:r>
            <a:r>
              <a:rPr sz="1800" b="1" spc="-20" dirty="0">
                <a:latin typeface="Trebuchet MS" panose="020B0603020202020204" pitchFamily="34" charset="0"/>
                <a:cs typeface="Arial"/>
              </a:rPr>
              <a:t>on-</a:t>
            </a:r>
            <a:r>
              <a:rPr sz="1800" b="1" dirty="0">
                <a:latin typeface="Trebuchet MS" panose="020B0603020202020204" pitchFamily="34" charset="0"/>
                <a:cs typeface="Arial"/>
              </a:rPr>
              <a:t>device</a:t>
            </a:r>
            <a:r>
              <a:rPr sz="1800" b="1" spc="5" dirty="0">
                <a:latin typeface="Trebuchet MS" panose="020B0603020202020204" pitchFamily="34" charset="0"/>
                <a:cs typeface="Arial"/>
              </a:rPr>
              <a:t> </a:t>
            </a:r>
            <a:r>
              <a:rPr sz="1800" b="1" dirty="0">
                <a:latin typeface="Trebuchet MS" panose="020B0603020202020204" pitchFamily="34" charset="0"/>
                <a:cs typeface="Arial"/>
              </a:rPr>
              <a:t>inference</a:t>
            </a:r>
            <a:r>
              <a:rPr sz="1800" b="1" spc="-15" dirty="0">
                <a:latin typeface="Trebuchet MS" panose="020B0603020202020204" pitchFamily="34" charset="0"/>
                <a:cs typeface="Arial"/>
              </a:rPr>
              <a:t> </a:t>
            </a:r>
            <a:r>
              <a:rPr sz="1800" spc="-10" dirty="0">
                <a:latin typeface="Trebuchet MS" panose="020B0603020202020204" pitchFamily="34" charset="0"/>
                <a:cs typeface="Arial MT"/>
              </a:rPr>
              <a:t>approaches.</a:t>
            </a:r>
            <a:endParaRPr sz="1800" dirty="0">
              <a:latin typeface="Trebuchet MS" panose="020B0603020202020204" pitchFamily="34" charset="0"/>
              <a:cs typeface="Arial MT"/>
            </a:endParaRPr>
          </a:p>
          <a:p>
            <a:pPr>
              <a:lnSpc>
                <a:spcPct val="100000"/>
              </a:lnSpc>
              <a:spcBef>
                <a:spcPts val="90"/>
              </a:spcBef>
              <a:buFont typeface="Arial MT"/>
              <a:buChar char="•"/>
            </a:pPr>
            <a:endParaRPr sz="1800" dirty="0">
              <a:latin typeface="Trebuchet MS" panose="020B0603020202020204" pitchFamily="34" charset="0"/>
              <a:cs typeface="Arial MT"/>
            </a:endParaRPr>
          </a:p>
          <a:p>
            <a:pPr marL="299085" indent="-286385">
              <a:lnSpc>
                <a:spcPct val="100000"/>
              </a:lnSpc>
              <a:buFont typeface="Arial MT"/>
              <a:buChar char="•"/>
              <a:tabLst>
                <a:tab pos="299085" algn="l"/>
              </a:tabLst>
            </a:pPr>
            <a:r>
              <a:rPr sz="1800" b="1" dirty="0">
                <a:latin typeface="Trebuchet MS" panose="020B0603020202020204" pitchFamily="34" charset="0"/>
                <a:cs typeface="Arial"/>
              </a:rPr>
              <a:t>Limited</a:t>
            </a:r>
            <a:r>
              <a:rPr sz="1800" b="1" spc="-50" dirty="0">
                <a:latin typeface="Trebuchet MS" panose="020B0603020202020204" pitchFamily="34" charset="0"/>
                <a:cs typeface="Arial"/>
              </a:rPr>
              <a:t> </a:t>
            </a:r>
            <a:r>
              <a:rPr sz="1800" b="1" spc="-10" dirty="0">
                <a:latin typeface="Trebuchet MS" panose="020B0603020202020204" pitchFamily="34" charset="0"/>
                <a:cs typeface="Arial"/>
              </a:rPr>
              <a:t>Multi-</a:t>
            </a:r>
            <a:r>
              <a:rPr sz="1800" b="1" dirty="0">
                <a:latin typeface="Trebuchet MS" panose="020B0603020202020204" pitchFamily="34" charset="0"/>
                <a:cs typeface="Arial"/>
              </a:rPr>
              <a:t>Modal</a:t>
            </a:r>
            <a:r>
              <a:rPr sz="1800" b="1" spc="-50" dirty="0">
                <a:latin typeface="Trebuchet MS" panose="020B0603020202020204" pitchFamily="34" charset="0"/>
                <a:cs typeface="Arial"/>
              </a:rPr>
              <a:t> </a:t>
            </a:r>
            <a:r>
              <a:rPr sz="1800" b="1" dirty="0">
                <a:latin typeface="Trebuchet MS" panose="020B0603020202020204" pitchFamily="34" charset="0"/>
                <a:cs typeface="Arial"/>
              </a:rPr>
              <a:t>Integration</a:t>
            </a:r>
            <a:r>
              <a:rPr sz="1800" b="1" spc="-30" dirty="0">
                <a:latin typeface="Trebuchet MS" panose="020B0603020202020204" pitchFamily="34" charset="0"/>
                <a:cs typeface="Arial"/>
              </a:rPr>
              <a:t> </a:t>
            </a:r>
            <a:r>
              <a:rPr sz="1800" dirty="0">
                <a:latin typeface="Trebuchet MS" panose="020B0603020202020204" pitchFamily="34" charset="0"/>
                <a:cs typeface="Arial MT"/>
              </a:rPr>
              <a:t>–</a:t>
            </a:r>
            <a:r>
              <a:rPr sz="1800" spc="-30" dirty="0">
                <a:latin typeface="Trebuchet MS" panose="020B0603020202020204" pitchFamily="34" charset="0"/>
                <a:cs typeface="Arial MT"/>
              </a:rPr>
              <a:t> </a:t>
            </a:r>
            <a:r>
              <a:rPr sz="1800" dirty="0">
                <a:latin typeface="Trebuchet MS" panose="020B0603020202020204" pitchFamily="34" charset="0"/>
                <a:cs typeface="Arial MT"/>
              </a:rPr>
              <a:t>Few</a:t>
            </a:r>
            <a:r>
              <a:rPr sz="1800" spc="-30" dirty="0">
                <a:latin typeface="Trebuchet MS" panose="020B0603020202020204" pitchFamily="34" charset="0"/>
                <a:cs typeface="Arial MT"/>
              </a:rPr>
              <a:t> </a:t>
            </a:r>
            <a:r>
              <a:rPr sz="1800" dirty="0">
                <a:latin typeface="Trebuchet MS" panose="020B0603020202020204" pitchFamily="34" charset="0"/>
                <a:cs typeface="Arial MT"/>
              </a:rPr>
              <a:t>approaches</a:t>
            </a:r>
            <a:r>
              <a:rPr sz="1800" spc="-10" dirty="0">
                <a:latin typeface="Trebuchet MS" panose="020B0603020202020204" pitchFamily="34" charset="0"/>
                <a:cs typeface="Arial MT"/>
              </a:rPr>
              <a:t> </a:t>
            </a:r>
            <a:r>
              <a:rPr sz="1800" dirty="0">
                <a:latin typeface="Trebuchet MS" panose="020B0603020202020204" pitchFamily="34" charset="0"/>
                <a:cs typeface="Arial MT"/>
              </a:rPr>
              <a:t>combine</a:t>
            </a:r>
            <a:r>
              <a:rPr sz="1800" spc="-15" dirty="0">
                <a:latin typeface="Trebuchet MS" panose="020B0603020202020204" pitchFamily="34" charset="0"/>
                <a:cs typeface="Arial MT"/>
              </a:rPr>
              <a:t> </a:t>
            </a:r>
            <a:r>
              <a:rPr sz="1800" b="1" dirty="0">
                <a:latin typeface="Trebuchet MS" panose="020B0603020202020204" pitchFamily="34" charset="0"/>
                <a:cs typeface="Arial"/>
              </a:rPr>
              <a:t>visual</a:t>
            </a:r>
            <a:r>
              <a:rPr sz="1800" b="1" spc="10" dirty="0">
                <a:latin typeface="Trebuchet MS" panose="020B0603020202020204" pitchFamily="34" charset="0"/>
                <a:cs typeface="Arial"/>
              </a:rPr>
              <a:t> </a:t>
            </a:r>
            <a:r>
              <a:rPr sz="1800" b="1" dirty="0">
                <a:latin typeface="Trebuchet MS" panose="020B0603020202020204" pitchFamily="34" charset="0"/>
                <a:cs typeface="Arial"/>
              </a:rPr>
              <a:t>and</a:t>
            </a:r>
            <a:r>
              <a:rPr sz="1800" b="1" spc="-25" dirty="0">
                <a:latin typeface="Trebuchet MS" panose="020B0603020202020204" pitchFamily="34" charset="0"/>
                <a:cs typeface="Arial"/>
              </a:rPr>
              <a:t> </a:t>
            </a:r>
            <a:r>
              <a:rPr sz="1800" b="1" dirty="0">
                <a:latin typeface="Trebuchet MS" panose="020B0603020202020204" pitchFamily="34" charset="0"/>
                <a:cs typeface="Arial"/>
              </a:rPr>
              <a:t>sensor</a:t>
            </a:r>
            <a:r>
              <a:rPr sz="1800" b="1" spc="-25" dirty="0">
                <a:latin typeface="Trebuchet MS" panose="020B0603020202020204" pitchFamily="34" charset="0"/>
                <a:cs typeface="Arial"/>
              </a:rPr>
              <a:t> </a:t>
            </a:r>
            <a:r>
              <a:rPr sz="1800" b="1" spc="-20" dirty="0">
                <a:latin typeface="Trebuchet MS" panose="020B0603020202020204" pitchFamily="34" charset="0"/>
                <a:cs typeface="Arial"/>
              </a:rPr>
              <a:t>data</a:t>
            </a:r>
            <a:endParaRPr sz="1800" dirty="0">
              <a:latin typeface="Trebuchet MS" panose="020B0603020202020204" pitchFamily="34" charset="0"/>
              <a:cs typeface="Arial"/>
            </a:endParaRPr>
          </a:p>
          <a:p>
            <a:pPr marL="299085">
              <a:lnSpc>
                <a:spcPct val="100000"/>
              </a:lnSpc>
            </a:pPr>
            <a:r>
              <a:rPr sz="1800" dirty="0">
                <a:latin typeface="Trebuchet MS" panose="020B0603020202020204" pitchFamily="34" charset="0"/>
                <a:cs typeface="Arial MT"/>
              </a:rPr>
              <a:t>(e.g.,</a:t>
            </a:r>
            <a:r>
              <a:rPr sz="1800" spc="-65" dirty="0">
                <a:latin typeface="Trebuchet MS" panose="020B0603020202020204" pitchFamily="34" charset="0"/>
                <a:cs typeface="Arial MT"/>
              </a:rPr>
              <a:t> </a:t>
            </a:r>
            <a:r>
              <a:rPr sz="1800" dirty="0">
                <a:latin typeface="Trebuchet MS" panose="020B0603020202020204" pitchFamily="34" charset="0"/>
                <a:cs typeface="Arial MT"/>
              </a:rPr>
              <a:t>steering</a:t>
            </a:r>
            <a:r>
              <a:rPr sz="1800" spc="-40" dirty="0">
                <a:latin typeface="Trebuchet MS" panose="020B0603020202020204" pitchFamily="34" charset="0"/>
                <a:cs typeface="Arial MT"/>
              </a:rPr>
              <a:t> </a:t>
            </a:r>
            <a:r>
              <a:rPr sz="1800" dirty="0">
                <a:latin typeface="Trebuchet MS" panose="020B0603020202020204" pitchFamily="34" charset="0"/>
                <a:cs typeface="Arial MT"/>
              </a:rPr>
              <a:t>angle,</a:t>
            </a:r>
            <a:r>
              <a:rPr sz="1800" spc="-30" dirty="0">
                <a:latin typeface="Trebuchet MS" panose="020B0603020202020204" pitchFamily="34" charset="0"/>
                <a:cs typeface="Arial MT"/>
              </a:rPr>
              <a:t> </a:t>
            </a:r>
            <a:r>
              <a:rPr sz="1800" dirty="0">
                <a:latin typeface="Trebuchet MS" panose="020B0603020202020204" pitchFamily="34" charset="0"/>
                <a:cs typeface="Arial MT"/>
              </a:rPr>
              <a:t>acceleration)</a:t>
            </a:r>
            <a:r>
              <a:rPr sz="1800" spc="-20" dirty="0">
                <a:latin typeface="Trebuchet MS" panose="020B0603020202020204" pitchFamily="34" charset="0"/>
                <a:cs typeface="Arial MT"/>
              </a:rPr>
              <a:t> </a:t>
            </a:r>
            <a:r>
              <a:rPr sz="1800" dirty="0">
                <a:latin typeface="Trebuchet MS" panose="020B0603020202020204" pitchFamily="34" charset="0"/>
                <a:cs typeface="Arial MT"/>
              </a:rPr>
              <a:t>for</a:t>
            </a:r>
            <a:r>
              <a:rPr sz="1800" spc="-45" dirty="0">
                <a:latin typeface="Trebuchet MS" panose="020B0603020202020204" pitchFamily="34" charset="0"/>
                <a:cs typeface="Arial MT"/>
              </a:rPr>
              <a:t> </a:t>
            </a:r>
            <a:r>
              <a:rPr sz="1800" dirty="0">
                <a:latin typeface="Trebuchet MS" panose="020B0603020202020204" pitchFamily="34" charset="0"/>
                <a:cs typeface="Arial MT"/>
              </a:rPr>
              <a:t>richer</a:t>
            </a:r>
            <a:r>
              <a:rPr sz="1800" spc="-35" dirty="0">
                <a:latin typeface="Trebuchet MS" panose="020B0603020202020204" pitchFamily="34" charset="0"/>
                <a:cs typeface="Arial MT"/>
              </a:rPr>
              <a:t> </a:t>
            </a:r>
            <a:r>
              <a:rPr sz="1800" dirty="0">
                <a:latin typeface="Trebuchet MS" panose="020B0603020202020204" pitchFamily="34" charset="0"/>
                <a:cs typeface="Arial MT"/>
              </a:rPr>
              <a:t>behavior</a:t>
            </a:r>
            <a:r>
              <a:rPr sz="1800" spc="-30" dirty="0">
                <a:latin typeface="Trebuchet MS" panose="020B0603020202020204" pitchFamily="34" charset="0"/>
                <a:cs typeface="Arial MT"/>
              </a:rPr>
              <a:t> </a:t>
            </a:r>
            <a:r>
              <a:rPr sz="1800" spc="-10" dirty="0">
                <a:latin typeface="Trebuchet MS" panose="020B0603020202020204" pitchFamily="34" charset="0"/>
                <a:cs typeface="Arial MT"/>
              </a:rPr>
              <a:t>understanding.</a:t>
            </a:r>
            <a:endParaRPr sz="1800" dirty="0">
              <a:latin typeface="Trebuchet MS" panose="020B0603020202020204" pitchFamily="34" charset="0"/>
              <a:cs typeface="Arial MT"/>
            </a:endParaRPr>
          </a:p>
          <a:p>
            <a:pPr>
              <a:lnSpc>
                <a:spcPct val="100000"/>
              </a:lnSpc>
              <a:spcBef>
                <a:spcPts val="95"/>
              </a:spcBef>
            </a:pPr>
            <a:endParaRPr sz="1800" dirty="0">
              <a:latin typeface="Trebuchet MS" panose="020B0603020202020204" pitchFamily="34" charset="0"/>
              <a:cs typeface="Arial MT"/>
            </a:endParaRPr>
          </a:p>
          <a:p>
            <a:pPr marL="299085" marR="669925" indent="-287020">
              <a:lnSpc>
                <a:spcPct val="100000"/>
              </a:lnSpc>
              <a:buFont typeface="Arial MT"/>
              <a:buChar char="•"/>
              <a:tabLst>
                <a:tab pos="299085" algn="l"/>
              </a:tabLst>
            </a:pPr>
            <a:r>
              <a:rPr sz="1800" b="1" spc="-10" dirty="0">
                <a:latin typeface="Trebuchet MS" panose="020B0603020202020204" pitchFamily="34" charset="0"/>
                <a:cs typeface="Arial"/>
              </a:rPr>
              <a:t>Minimal</a:t>
            </a:r>
            <a:r>
              <a:rPr sz="1800" b="1" spc="-100" dirty="0">
                <a:latin typeface="Trebuchet MS" panose="020B0603020202020204" pitchFamily="34" charset="0"/>
                <a:cs typeface="Arial"/>
              </a:rPr>
              <a:t> </a:t>
            </a:r>
            <a:r>
              <a:rPr sz="1800" b="1" dirty="0">
                <a:latin typeface="Trebuchet MS" panose="020B0603020202020204" pitchFamily="34" charset="0"/>
                <a:cs typeface="Arial"/>
              </a:rPr>
              <a:t>Attention</a:t>
            </a:r>
            <a:r>
              <a:rPr sz="1800" b="1" spc="15" dirty="0">
                <a:latin typeface="Trebuchet MS" panose="020B0603020202020204" pitchFamily="34" charset="0"/>
                <a:cs typeface="Arial"/>
              </a:rPr>
              <a:t> </a:t>
            </a:r>
            <a:r>
              <a:rPr sz="1800" b="1" dirty="0">
                <a:latin typeface="Trebuchet MS" panose="020B0603020202020204" pitchFamily="34" charset="0"/>
                <a:cs typeface="Arial"/>
              </a:rPr>
              <a:t>to</a:t>
            </a:r>
            <a:r>
              <a:rPr sz="1800" b="1" spc="-20" dirty="0">
                <a:latin typeface="Trebuchet MS" panose="020B0603020202020204" pitchFamily="34" charset="0"/>
                <a:cs typeface="Arial"/>
              </a:rPr>
              <a:t> </a:t>
            </a:r>
            <a:r>
              <a:rPr sz="1800" b="1" dirty="0">
                <a:latin typeface="Trebuchet MS" panose="020B0603020202020204" pitchFamily="34" charset="0"/>
                <a:cs typeface="Arial"/>
              </a:rPr>
              <a:t>Explainability</a:t>
            </a:r>
            <a:r>
              <a:rPr sz="1800" b="1" spc="-35" dirty="0">
                <a:latin typeface="Trebuchet MS" panose="020B0603020202020204" pitchFamily="34" charset="0"/>
                <a:cs typeface="Arial"/>
              </a:rPr>
              <a:t> </a:t>
            </a:r>
            <a:r>
              <a:rPr sz="1800" dirty="0">
                <a:latin typeface="Trebuchet MS" panose="020B0603020202020204" pitchFamily="34" charset="0"/>
                <a:cs typeface="Arial MT"/>
              </a:rPr>
              <a:t>–</a:t>
            </a:r>
            <a:r>
              <a:rPr sz="1800" spc="-25" dirty="0">
                <a:latin typeface="Trebuchet MS" panose="020B0603020202020204" pitchFamily="34" charset="0"/>
                <a:cs typeface="Arial MT"/>
              </a:rPr>
              <a:t> </a:t>
            </a:r>
            <a:r>
              <a:rPr sz="1800" dirty="0">
                <a:latin typeface="Trebuchet MS" panose="020B0603020202020204" pitchFamily="34" charset="0"/>
                <a:cs typeface="Arial MT"/>
              </a:rPr>
              <a:t>Most</a:t>
            </a:r>
            <a:r>
              <a:rPr sz="1800" spc="-25" dirty="0">
                <a:latin typeface="Trebuchet MS" panose="020B0603020202020204" pitchFamily="34" charset="0"/>
                <a:cs typeface="Arial MT"/>
              </a:rPr>
              <a:t> </a:t>
            </a:r>
            <a:r>
              <a:rPr sz="1800" dirty="0">
                <a:latin typeface="Trebuchet MS" panose="020B0603020202020204" pitchFamily="34" charset="0"/>
                <a:cs typeface="Arial MT"/>
              </a:rPr>
              <a:t>systems</a:t>
            </a:r>
            <a:r>
              <a:rPr sz="1800" spc="-15" dirty="0">
                <a:latin typeface="Trebuchet MS" panose="020B0603020202020204" pitchFamily="34" charset="0"/>
                <a:cs typeface="Arial MT"/>
              </a:rPr>
              <a:t> </a:t>
            </a:r>
            <a:r>
              <a:rPr sz="1800" dirty="0">
                <a:latin typeface="Trebuchet MS" panose="020B0603020202020204" pitchFamily="34" charset="0"/>
                <a:cs typeface="Arial MT"/>
              </a:rPr>
              <a:t>function</a:t>
            </a:r>
            <a:r>
              <a:rPr sz="1800" spc="-15" dirty="0">
                <a:latin typeface="Trebuchet MS" panose="020B0603020202020204" pitchFamily="34" charset="0"/>
                <a:cs typeface="Arial MT"/>
              </a:rPr>
              <a:t> </a:t>
            </a:r>
            <a:r>
              <a:rPr sz="1800" dirty="0">
                <a:latin typeface="Trebuchet MS" panose="020B0603020202020204" pitchFamily="34" charset="0"/>
                <a:cs typeface="Arial MT"/>
              </a:rPr>
              <a:t>as</a:t>
            </a:r>
            <a:r>
              <a:rPr sz="1800" spc="-25" dirty="0">
                <a:latin typeface="Trebuchet MS" panose="020B0603020202020204" pitchFamily="34" charset="0"/>
                <a:cs typeface="Arial MT"/>
              </a:rPr>
              <a:t> </a:t>
            </a:r>
            <a:r>
              <a:rPr sz="1800" dirty="0">
                <a:latin typeface="Trebuchet MS" panose="020B0603020202020204" pitchFamily="34" charset="0"/>
                <a:cs typeface="Arial MT"/>
              </a:rPr>
              <a:t>black</a:t>
            </a:r>
            <a:r>
              <a:rPr sz="1800" spc="-15" dirty="0">
                <a:latin typeface="Trebuchet MS" panose="020B0603020202020204" pitchFamily="34" charset="0"/>
                <a:cs typeface="Arial MT"/>
              </a:rPr>
              <a:t> </a:t>
            </a:r>
            <a:r>
              <a:rPr sz="1800" dirty="0">
                <a:latin typeface="Trebuchet MS" panose="020B0603020202020204" pitchFamily="34" charset="0"/>
                <a:cs typeface="Arial MT"/>
              </a:rPr>
              <a:t>boxes;</a:t>
            </a:r>
            <a:r>
              <a:rPr sz="1800" spc="-10" dirty="0">
                <a:latin typeface="Trebuchet MS" panose="020B0603020202020204" pitchFamily="34" charset="0"/>
                <a:cs typeface="Arial MT"/>
              </a:rPr>
              <a:t> </a:t>
            </a:r>
            <a:r>
              <a:rPr sz="1800" spc="-20" dirty="0">
                <a:latin typeface="Trebuchet MS" panose="020B0603020202020204" pitchFamily="34" charset="0"/>
                <a:cs typeface="Arial MT"/>
              </a:rPr>
              <a:t>lack </a:t>
            </a:r>
            <a:r>
              <a:rPr sz="1800" dirty="0">
                <a:latin typeface="Trebuchet MS" panose="020B0603020202020204" pitchFamily="34" charset="0"/>
                <a:cs typeface="Arial MT"/>
              </a:rPr>
              <a:t>interpretability</a:t>
            </a:r>
            <a:r>
              <a:rPr sz="1800" spc="-5" dirty="0">
                <a:latin typeface="Trebuchet MS" panose="020B0603020202020204" pitchFamily="34" charset="0"/>
                <a:cs typeface="Arial MT"/>
              </a:rPr>
              <a:t> </a:t>
            </a:r>
            <a:r>
              <a:rPr sz="1800" dirty="0">
                <a:latin typeface="Trebuchet MS" panose="020B0603020202020204" pitchFamily="34" charset="0"/>
                <a:cs typeface="Arial MT"/>
              </a:rPr>
              <a:t>in</a:t>
            </a:r>
            <a:r>
              <a:rPr sz="1800" spc="-40" dirty="0">
                <a:latin typeface="Trebuchet MS" panose="020B0603020202020204" pitchFamily="34" charset="0"/>
                <a:cs typeface="Arial MT"/>
              </a:rPr>
              <a:t> </a:t>
            </a:r>
            <a:r>
              <a:rPr sz="1800" dirty="0">
                <a:latin typeface="Trebuchet MS" panose="020B0603020202020204" pitchFamily="34" charset="0"/>
                <a:cs typeface="Arial MT"/>
              </a:rPr>
              <a:t>showing</a:t>
            </a:r>
            <a:r>
              <a:rPr sz="1800" spc="30" dirty="0">
                <a:latin typeface="Trebuchet MS" panose="020B0603020202020204" pitchFamily="34" charset="0"/>
                <a:cs typeface="Arial MT"/>
              </a:rPr>
              <a:t> </a:t>
            </a:r>
            <a:r>
              <a:rPr sz="1800" i="1" dirty="0">
                <a:latin typeface="Trebuchet MS" panose="020B0603020202020204" pitchFamily="34" charset="0"/>
                <a:cs typeface="Arial"/>
              </a:rPr>
              <a:t>why</a:t>
            </a:r>
            <a:r>
              <a:rPr sz="1800" i="1" spc="-40" dirty="0">
                <a:latin typeface="Trebuchet MS" panose="020B0603020202020204" pitchFamily="34" charset="0"/>
                <a:cs typeface="Arial"/>
              </a:rPr>
              <a:t> </a:t>
            </a:r>
            <a:r>
              <a:rPr sz="1800" dirty="0">
                <a:latin typeface="Trebuchet MS" panose="020B0603020202020204" pitchFamily="34" charset="0"/>
                <a:cs typeface="Arial MT"/>
              </a:rPr>
              <a:t>a</a:t>
            </a:r>
            <a:r>
              <a:rPr sz="1800" spc="-30" dirty="0">
                <a:latin typeface="Trebuchet MS" panose="020B0603020202020204" pitchFamily="34" charset="0"/>
                <a:cs typeface="Arial MT"/>
              </a:rPr>
              <a:t> </a:t>
            </a:r>
            <a:r>
              <a:rPr sz="1800" dirty="0">
                <a:latin typeface="Trebuchet MS" panose="020B0603020202020204" pitchFamily="34" charset="0"/>
                <a:cs typeface="Arial MT"/>
              </a:rPr>
              <a:t>behavior</a:t>
            </a:r>
            <a:r>
              <a:rPr sz="1800" spc="-15" dirty="0">
                <a:latin typeface="Trebuchet MS" panose="020B0603020202020204" pitchFamily="34" charset="0"/>
                <a:cs typeface="Arial MT"/>
              </a:rPr>
              <a:t> </a:t>
            </a:r>
            <a:r>
              <a:rPr sz="1800" dirty="0">
                <a:latin typeface="Trebuchet MS" panose="020B0603020202020204" pitchFamily="34" charset="0"/>
                <a:cs typeface="Arial MT"/>
              </a:rPr>
              <a:t>is</a:t>
            </a:r>
            <a:r>
              <a:rPr sz="1800" spc="-30" dirty="0">
                <a:latin typeface="Trebuchet MS" panose="020B0603020202020204" pitchFamily="34" charset="0"/>
                <a:cs typeface="Arial MT"/>
              </a:rPr>
              <a:t> </a:t>
            </a:r>
            <a:r>
              <a:rPr sz="1800" dirty="0">
                <a:latin typeface="Trebuchet MS" panose="020B0603020202020204" pitchFamily="34" charset="0"/>
                <a:cs typeface="Arial MT"/>
              </a:rPr>
              <a:t>flagged</a:t>
            </a:r>
            <a:r>
              <a:rPr sz="1800" spc="-25" dirty="0">
                <a:latin typeface="Trebuchet MS" panose="020B0603020202020204" pitchFamily="34" charset="0"/>
                <a:cs typeface="Arial MT"/>
              </a:rPr>
              <a:t> </a:t>
            </a:r>
            <a:r>
              <a:rPr sz="1800" dirty="0">
                <a:latin typeface="Trebuchet MS" panose="020B0603020202020204" pitchFamily="34" charset="0"/>
                <a:cs typeface="Arial MT"/>
              </a:rPr>
              <a:t>as</a:t>
            </a:r>
            <a:r>
              <a:rPr sz="1800" spc="-30" dirty="0">
                <a:latin typeface="Trebuchet MS" panose="020B0603020202020204" pitchFamily="34" charset="0"/>
                <a:cs typeface="Arial MT"/>
              </a:rPr>
              <a:t> </a:t>
            </a:r>
            <a:r>
              <a:rPr sz="1800" spc="-10" dirty="0">
                <a:latin typeface="Trebuchet MS" panose="020B0603020202020204" pitchFamily="34" charset="0"/>
                <a:cs typeface="Arial MT"/>
              </a:rPr>
              <a:t>unsafe.</a:t>
            </a:r>
            <a:endParaRPr sz="1800" dirty="0">
              <a:latin typeface="Trebuchet MS" panose="020B0603020202020204" pitchFamily="34" charset="0"/>
              <a:cs typeface="Arial MT"/>
            </a:endParaRPr>
          </a:p>
          <a:p>
            <a:pPr>
              <a:lnSpc>
                <a:spcPct val="100000"/>
              </a:lnSpc>
              <a:spcBef>
                <a:spcPts val="90"/>
              </a:spcBef>
            </a:pPr>
            <a:endParaRPr sz="1800" dirty="0">
              <a:latin typeface="Arial MT"/>
              <a:cs typeface="Arial MT"/>
            </a:endParaRPr>
          </a:p>
        </p:txBody>
      </p:sp>
    </p:spTree>
    <p:extLst>
      <p:ext uri="{BB962C8B-B14F-4D97-AF65-F5344CB8AC3E}">
        <p14:creationId xmlns:p14="http://schemas.microsoft.com/office/powerpoint/2010/main" val="87582396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2639567" y="1057338"/>
            <a:ext cx="7620000" cy="36830"/>
          </a:xfrm>
          <a:custGeom>
            <a:avLst/>
            <a:gdLst/>
            <a:ahLst/>
            <a:cxnLst/>
            <a:rect l="l" t="t" r="r" b="b"/>
            <a:pathLst>
              <a:path w="7620000" h="36830">
                <a:moveTo>
                  <a:pt x="7620000" y="0"/>
                </a:moveTo>
                <a:lnTo>
                  <a:pt x="0" y="0"/>
                </a:lnTo>
                <a:lnTo>
                  <a:pt x="0" y="36512"/>
                </a:lnTo>
                <a:lnTo>
                  <a:pt x="7620000" y="36512"/>
                </a:lnTo>
                <a:lnTo>
                  <a:pt x="7620000" y="0"/>
                </a:lnTo>
                <a:close/>
              </a:path>
            </a:pathLst>
          </a:custGeom>
          <a:solidFill>
            <a:srgbClr val="33CCCC"/>
          </a:solidFill>
        </p:spPr>
        <p:txBody>
          <a:bodyPr wrap="square" lIns="0" tIns="0" rIns="0" bIns="0" rtlCol="0"/>
          <a:lstStyle/>
          <a:p>
            <a:endParaRPr/>
          </a:p>
        </p:txBody>
      </p:sp>
      <p:sp>
        <p:nvSpPr>
          <p:cNvPr id="3" name="object 3"/>
          <p:cNvSpPr txBox="1">
            <a:spLocks noGrp="1"/>
          </p:cNvSpPr>
          <p:nvPr>
            <p:ph type="title"/>
          </p:nvPr>
        </p:nvSpPr>
        <p:spPr>
          <a:xfrm>
            <a:off x="8557641" y="598170"/>
            <a:ext cx="1474470" cy="391160"/>
          </a:xfrm>
          <a:prstGeom prst="rect">
            <a:avLst/>
          </a:prstGeom>
        </p:spPr>
        <p:txBody>
          <a:bodyPr vert="horz" wrap="square" lIns="0" tIns="12700" rIns="0" bIns="0" rtlCol="0">
            <a:spAutoFit/>
          </a:bodyPr>
          <a:lstStyle/>
          <a:p>
            <a:pPr marL="12700">
              <a:lnSpc>
                <a:spcPct val="100000"/>
              </a:lnSpc>
              <a:spcBef>
                <a:spcPts val="100"/>
              </a:spcBef>
            </a:pPr>
            <a:r>
              <a:rPr spc="-10" dirty="0"/>
              <a:t>Objectives</a:t>
            </a:r>
          </a:p>
        </p:txBody>
      </p:sp>
      <p:sp>
        <p:nvSpPr>
          <p:cNvPr id="4" name="object 4"/>
          <p:cNvSpPr txBox="1"/>
          <p:nvPr/>
        </p:nvSpPr>
        <p:spPr>
          <a:xfrm>
            <a:off x="990396" y="1142746"/>
            <a:ext cx="9982200" cy="4932569"/>
          </a:xfrm>
          <a:prstGeom prst="rect">
            <a:avLst/>
          </a:prstGeom>
        </p:spPr>
        <p:txBody>
          <a:bodyPr vert="horz" wrap="square" lIns="0" tIns="15240" rIns="0" bIns="0" rtlCol="0">
            <a:spAutoFit/>
          </a:bodyPr>
          <a:lstStyle/>
          <a:p>
            <a:pPr marL="297815" marR="777240" indent="-285750">
              <a:lnSpc>
                <a:spcPct val="99100"/>
              </a:lnSpc>
              <a:spcBef>
                <a:spcPts val="120"/>
              </a:spcBef>
              <a:buFont typeface="Arial" panose="020B0604020202020204" pitchFamily="34" charset="0"/>
              <a:buChar char="•"/>
              <a:tabLst>
                <a:tab pos="299085" algn="l"/>
              </a:tabLst>
            </a:pPr>
            <a:r>
              <a:rPr lang="en-IN" sz="1800" spc="-95" dirty="0">
                <a:latin typeface="Trebuchet MS" panose="020B0603020202020204" pitchFamily="34" charset="0"/>
                <a:cs typeface="Arial MT"/>
              </a:rPr>
              <a:t>   </a:t>
            </a:r>
            <a:r>
              <a:rPr sz="1800" spc="-95" dirty="0">
                <a:latin typeface="Trebuchet MS" panose="020B0603020202020204" pitchFamily="34" charset="0"/>
                <a:cs typeface="Arial MT"/>
              </a:rPr>
              <a:t>To</a:t>
            </a:r>
            <a:r>
              <a:rPr sz="1800" spc="-30" dirty="0">
                <a:latin typeface="Trebuchet MS" panose="020B0603020202020204" pitchFamily="34" charset="0"/>
                <a:cs typeface="Arial MT"/>
              </a:rPr>
              <a:t> </a:t>
            </a:r>
            <a:r>
              <a:rPr sz="1800" b="1" dirty="0">
                <a:latin typeface="Trebuchet MS" panose="020B0603020202020204" pitchFamily="34" charset="0"/>
                <a:cs typeface="Arial"/>
              </a:rPr>
              <a:t>detect</a:t>
            </a:r>
            <a:r>
              <a:rPr sz="1800" b="1" spc="-50" dirty="0">
                <a:latin typeface="Trebuchet MS" panose="020B0603020202020204" pitchFamily="34" charset="0"/>
                <a:cs typeface="Arial"/>
              </a:rPr>
              <a:t> </a:t>
            </a:r>
            <a:r>
              <a:rPr sz="1800" b="1" dirty="0">
                <a:latin typeface="Trebuchet MS" panose="020B0603020202020204" pitchFamily="34" charset="0"/>
                <a:cs typeface="Arial"/>
              </a:rPr>
              <a:t>abnormal</a:t>
            </a:r>
            <a:r>
              <a:rPr sz="1800" b="1" spc="-25" dirty="0">
                <a:latin typeface="Trebuchet MS" panose="020B0603020202020204" pitchFamily="34" charset="0"/>
                <a:cs typeface="Arial"/>
              </a:rPr>
              <a:t> </a:t>
            </a:r>
            <a:r>
              <a:rPr sz="1800" b="1" dirty="0">
                <a:latin typeface="Trebuchet MS" panose="020B0603020202020204" pitchFamily="34" charset="0"/>
                <a:cs typeface="Arial"/>
              </a:rPr>
              <a:t>driver</a:t>
            </a:r>
            <a:r>
              <a:rPr sz="1800" b="1" spc="-5" dirty="0">
                <a:latin typeface="Trebuchet MS" panose="020B0603020202020204" pitchFamily="34" charset="0"/>
                <a:cs typeface="Arial"/>
              </a:rPr>
              <a:t> </a:t>
            </a:r>
            <a:r>
              <a:rPr sz="1800" b="1" dirty="0">
                <a:latin typeface="Trebuchet MS" panose="020B0603020202020204" pitchFamily="34" charset="0"/>
                <a:cs typeface="Arial"/>
              </a:rPr>
              <a:t>behaviors</a:t>
            </a:r>
            <a:r>
              <a:rPr sz="1800" b="1" spc="5" dirty="0">
                <a:latin typeface="Trebuchet MS" panose="020B0603020202020204" pitchFamily="34" charset="0"/>
                <a:cs typeface="Arial"/>
              </a:rPr>
              <a:t> </a:t>
            </a:r>
            <a:r>
              <a:rPr sz="1800" dirty="0">
                <a:latin typeface="Trebuchet MS" panose="020B0603020202020204" pitchFamily="34" charset="0"/>
                <a:cs typeface="Arial MT"/>
              </a:rPr>
              <a:t>such</a:t>
            </a:r>
            <a:r>
              <a:rPr sz="1800" spc="-20" dirty="0">
                <a:latin typeface="Trebuchet MS" panose="020B0603020202020204" pitchFamily="34" charset="0"/>
                <a:cs typeface="Arial MT"/>
              </a:rPr>
              <a:t> </a:t>
            </a:r>
            <a:r>
              <a:rPr sz="1800" dirty="0">
                <a:latin typeface="Trebuchet MS" panose="020B0603020202020204" pitchFamily="34" charset="0"/>
                <a:cs typeface="Arial MT"/>
              </a:rPr>
              <a:t>as</a:t>
            </a:r>
            <a:r>
              <a:rPr sz="1800" spc="-35" dirty="0">
                <a:latin typeface="Trebuchet MS" panose="020B0603020202020204" pitchFamily="34" charset="0"/>
                <a:cs typeface="Arial MT"/>
              </a:rPr>
              <a:t> </a:t>
            </a:r>
            <a:r>
              <a:rPr sz="1800" dirty="0">
                <a:latin typeface="Trebuchet MS" panose="020B0603020202020204" pitchFamily="34" charset="0"/>
                <a:cs typeface="Arial MT"/>
              </a:rPr>
              <a:t>drowsiness,</a:t>
            </a:r>
            <a:r>
              <a:rPr sz="1800" spc="20" dirty="0">
                <a:latin typeface="Trebuchet MS" panose="020B0603020202020204" pitchFamily="34" charset="0"/>
                <a:cs typeface="Arial MT"/>
              </a:rPr>
              <a:t> </a:t>
            </a:r>
            <a:r>
              <a:rPr sz="1800" dirty="0">
                <a:latin typeface="Trebuchet MS" panose="020B0603020202020204" pitchFamily="34" charset="0"/>
                <a:cs typeface="Arial MT"/>
              </a:rPr>
              <a:t>distraction,</a:t>
            </a:r>
            <a:r>
              <a:rPr sz="1800" spc="-15" dirty="0">
                <a:latin typeface="Trebuchet MS" panose="020B0603020202020204" pitchFamily="34" charset="0"/>
                <a:cs typeface="Arial MT"/>
              </a:rPr>
              <a:t> </a:t>
            </a:r>
            <a:r>
              <a:rPr sz="1800" dirty="0">
                <a:latin typeface="Trebuchet MS" panose="020B0603020202020204" pitchFamily="34" charset="0"/>
                <a:cs typeface="Arial MT"/>
              </a:rPr>
              <a:t>and</a:t>
            </a:r>
            <a:r>
              <a:rPr sz="1800" spc="-40" dirty="0">
                <a:latin typeface="Trebuchet MS" panose="020B0603020202020204" pitchFamily="34" charset="0"/>
                <a:cs typeface="Arial MT"/>
              </a:rPr>
              <a:t> </a:t>
            </a:r>
            <a:r>
              <a:rPr sz="1800" dirty="0">
                <a:latin typeface="Trebuchet MS" panose="020B0603020202020204" pitchFamily="34" charset="0"/>
                <a:cs typeface="Arial MT"/>
              </a:rPr>
              <a:t>rash</a:t>
            </a:r>
            <a:r>
              <a:rPr sz="1800" spc="-20" dirty="0">
                <a:latin typeface="Trebuchet MS" panose="020B0603020202020204" pitchFamily="34" charset="0"/>
                <a:cs typeface="Arial MT"/>
              </a:rPr>
              <a:t> </a:t>
            </a:r>
            <a:r>
              <a:rPr lang="en-IN" sz="1800" spc="-20" dirty="0">
                <a:latin typeface="Trebuchet MS" panose="020B0603020202020204" pitchFamily="34" charset="0"/>
                <a:cs typeface="Arial MT"/>
              </a:rPr>
              <a:t>     </a:t>
            </a:r>
            <a:r>
              <a:rPr sz="1800" spc="-10" dirty="0">
                <a:latin typeface="Trebuchet MS" panose="020B0603020202020204" pitchFamily="34" charset="0"/>
                <a:cs typeface="Arial MT"/>
              </a:rPr>
              <a:t>driving </a:t>
            </a:r>
            <a:r>
              <a:rPr sz="1800" dirty="0">
                <a:latin typeface="Trebuchet MS" panose="020B0603020202020204" pitchFamily="34" charset="0"/>
                <a:cs typeface="Arial MT"/>
              </a:rPr>
              <a:t>usingdeep</a:t>
            </a:r>
            <a:r>
              <a:rPr sz="1800" spc="-40" dirty="0">
                <a:latin typeface="Trebuchet MS" panose="020B0603020202020204" pitchFamily="34" charset="0"/>
                <a:cs typeface="Arial MT"/>
              </a:rPr>
              <a:t> </a:t>
            </a:r>
            <a:r>
              <a:rPr sz="1800" dirty="0">
                <a:latin typeface="Trebuchet MS" panose="020B0603020202020204" pitchFamily="34" charset="0"/>
                <a:cs typeface="Arial MT"/>
              </a:rPr>
              <a:t>learning</a:t>
            </a:r>
            <a:r>
              <a:rPr sz="1800" spc="-30" dirty="0">
                <a:latin typeface="Trebuchet MS" panose="020B0603020202020204" pitchFamily="34" charset="0"/>
                <a:cs typeface="Arial MT"/>
              </a:rPr>
              <a:t> </a:t>
            </a:r>
            <a:r>
              <a:rPr sz="1800" spc="-10" dirty="0">
                <a:latin typeface="Trebuchet MS" panose="020B0603020202020204" pitchFamily="34" charset="0"/>
                <a:cs typeface="Arial MT"/>
              </a:rPr>
              <a:t>techniques</a:t>
            </a:r>
            <a:r>
              <a:rPr sz="2800" spc="-10" dirty="0">
                <a:latin typeface="Trebuchet MS" panose="020B0603020202020204" pitchFamily="34" charset="0"/>
                <a:cs typeface="Arial MT"/>
              </a:rPr>
              <a:t>.</a:t>
            </a:r>
            <a:endParaRPr lang="en-IN" sz="2800" spc="-10" dirty="0">
              <a:latin typeface="Trebuchet MS" panose="020B0603020202020204" pitchFamily="34" charset="0"/>
              <a:cs typeface="Arial MT"/>
            </a:endParaRPr>
          </a:p>
          <a:p>
            <a:pPr marL="297815" marR="777240" indent="-285750">
              <a:lnSpc>
                <a:spcPct val="99100"/>
              </a:lnSpc>
              <a:spcBef>
                <a:spcPts val="120"/>
              </a:spcBef>
              <a:buFont typeface="Arial" panose="020B0604020202020204" pitchFamily="34" charset="0"/>
              <a:buChar char="•"/>
              <a:tabLst>
                <a:tab pos="299085" algn="l"/>
              </a:tabLst>
            </a:pPr>
            <a:endParaRPr sz="1800" dirty="0">
              <a:latin typeface="Trebuchet MS" panose="020B0603020202020204" pitchFamily="34" charset="0"/>
              <a:cs typeface="Arial MT"/>
            </a:endParaRPr>
          </a:p>
          <a:p>
            <a:pPr marL="297815" marR="308610" indent="-285750">
              <a:lnSpc>
                <a:spcPct val="100000"/>
              </a:lnSpc>
              <a:buFont typeface="Arial" panose="020B0604020202020204" pitchFamily="34" charset="0"/>
              <a:buChar char="•"/>
              <a:tabLst>
                <a:tab pos="469265" algn="l"/>
              </a:tabLst>
            </a:pPr>
            <a:r>
              <a:rPr sz="1800" spc="-95" dirty="0">
                <a:latin typeface="Trebuchet MS" panose="020B0603020202020204" pitchFamily="34" charset="0"/>
                <a:cs typeface="Arial MT"/>
              </a:rPr>
              <a:t>To</a:t>
            </a:r>
            <a:r>
              <a:rPr sz="1800" spc="-30" dirty="0">
                <a:latin typeface="Trebuchet MS" panose="020B0603020202020204" pitchFamily="34" charset="0"/>
                <a:cs typeface="Arial MT"/>
              </a:rPr>
              <a:t> </a:t>
            </a:r>
            <a:r>
              <a:rPr sz="1800" b="1" dirty="0">
                <a:latin typeface="Trebuchet MS" panose="020B0603020202020204" pitchFamily="34" charset="0"/>
                <a:cs typeface="Arial"/>
              </a:rPr>
              <a:t>design</a:t>
            </a:r>
            <a:r>
              <a:rPr sz="1800" b="1" spc="-45" dirty="0">
                <a:latin typeface="Trebuchet MS" panose="020B0603020202020204" pitchFamily="34" charset="0"/>
                <a:cs typeface="Arial"/>
              </a:rPr>
              <a:t> </a:t>
            </a:r>
            <a:r>
              <a:rPr sz="1800" b="1" dirty="0">
                <a:latin typeface="Trebuchet MS" panose="020B0603020202020204" pitchFamily="34" charset="0"/>
                <a:cs typeface="Arial"/>
              </a:rPr>
              <a:t>lightweight</a:t>
            </a:r>
            <a:r>
              <a:rPr sz="1800" b="1" spc="-75" dirty="0">
                <a:latin typeface="Trebuchet MS" panose="020B0603020202020204" pitchFamily="34" charset="0"/>
                <a:cs typeface="Arial"/>
              </a:rPr>
              <a:t> </a:t>
            </a:r>
            <a:r>
              <a:rPr sz="1800" b="1" dirty="0">
                <a:latin typeface="Trebuchet MS" panose="020B0603020202020204" pitchFamily="34" charset="0"/>
                <a:cs typeface="Arial"/>
              </a:rPr>
              <a:t>and</a:t>
            </a:r>
            <a:r>
              <a:rPr sz="1800" b="1" spc="-25" dirty="0">
                <a:latin typeface="Trebuchet MS" panose="020B0603020202020204" pitchFamily="34" charset="0"/>
                <a:cs typeface="Arial"/>
              </a:rPr>
              <a:t> </a:t>
            </a:r>
            <a:r>
              <a:rPr sz="1800" b="1" dirty="0">
                <a:latin typeface="Trebuchet MS" panose="020B0603020202020204" pitchFamily="34" charset="0"/>
                <a:cs typeface="Arial"/>
              </a:rPr>
              <a:t>efficient</a:t>
            </a:r>
            <a:r>
              <a:rPr sz="1800" b="1" spc="-30" dirty="0">
                <a:latin typeface="Trebuchet MS" panose="020B0603020202020204" pitchFamily="34" charset="0"/>
                <a:cs typeface="Arial"/>
              </a:rPr>
              <a:t> </a:t>
            </a:r>
            <a:r>
              <a:rPr sz="1800" b="1" dirty="0">
                <a:latin typeface="Trebuchet MS" panose="020B0603020202020204" pitchFamily="34" charset="0"/>
                <a:cs typeface="Arial"/>
              </a:rPr>
              <a:t>deep</a:t>
            </a:r>
            <a:r>
              <a:rPr sz="1800" b="1" spc="-25" dirty="0">
                <a:latin typeface="Trebuchet MS" panose="020B0603020202020204" pitchFamily="34" charset="0"/>
                <a:cs typeface="Arial"/>
              </a:rPr>
              <a:t> </a:t>
            </a:r>
            <a:r>
              <a:rPr sz="1800" b="1" dirty="0">
                <a:latin typeface="Trebuchet MS" panose="020B0603020202020204" pitchFamily="34" charset="0"/>
                <a:cs typeface="Arial"/>
              </a:rPr>
              <a:t>learning</a:t>
            </a:r>
            <a:r>
              <a:rPr sz="1800" b="1" spc="-30" dirty="0">
                <a:latin typeface="Trebuchet MS" panose="020B0603020202020204" pitchFamily="34" charset="0"/>
                <a:cs typeface="Arial"/>
              </a:rPr>
              <a:t> </a:t>
            </a:r>
            <a:r>
              <a:rPr sz="1800" b="1" dirty="0">
                <a:latin typeface="Trebuchet MS" panose="020B0603020202020204" pitchFamily="34" charset="0"/>
                <a:cs typeface="Arial"/>
              </a:rPr>
              <a:t>models</a:t>
            </a:r>
            <a:r>
              <a:rPr sz="1800" b="1" spc="-10" dirty="0">
                <a:latin typeface="Trebuchet MS" panose="020B0603020202020204" pitchFamily="34" charset="0"/>
                <a:cs typeface="Arial"/>
              </a:rPr>
              <a:t> </a:t>
            </a:r>
            <a:r>
              <a:rPr sz="1800" dirty="0">
                <a:latin typeface="Trebuchet MS" panose="020B0603020202020204" pitchFamily="34" charset="0"/>
                <a:cs typeface="Arial MT"/>
              </a:rPr>
              <a:t>suitable</a:t>
            </a:r>
            <a:r>
              <a:rPr sz="1800" spc="-20" dirty="0">
                <a:latin typeface="Trebuchet MS" panose="020B0603020202020204" pitchFamily="34" charset="0"/>
                <a:cs typeface="Arial MT"/>
              </a:rPr>
              <a:t> </a:t>
            </a:r>
            <a:r>
              <a:rPr sz="1800" dirty="0">
                <a:latin typeface="Trebuchet MS" panose="020B0603020202020204" pitchFamily="34" charset="0"/>
                <a:cs typeface="Arial MT"/>
              </a:rPr>
              <a:t>for</a:t>
            </a:r>
            <a:r>
              <a:rPr sz="1800" spc="-25" dirty="0">
                <a:latin typeface="Trebuchet MS" panose="020B0603020202020204" pitchFamily="34" charset="0"/>
                <a:cs typeface="Arial MT"/>
              </a:rPr>
              <a:t> </a:t>
            </a:r>
            <a:r>
              <a:rPr sz="1800" dirty="0">
                <a:latin typeface="Trebuchet MS" panose="020B0603020202020204" pitchFamily="34" charset="0"/>
                <a:cs typeface="Arial MT"/>
              </a:rPr>
              <a:t>deployment</a:t>
            </a:r>
            <a:r>
              <a:rPr sz="1800" spc="5" dirty="0">
                <a:latin typeface="Trebuchet MS" panose="020B0603020202020204" pitchFamily="34" charset="0"/>
                <a:cs typeface="Arial MT"/>
              </a:rPr>
              <a:t> </a:t>
            </a:r>
            <a:r>
              <a:rPr sz="1800" dirty="0">
                <a:latin typeface="Trebuchet MS" panose="020B0603020202020204" pitchFamily="34" charset="0"/>
                <a:cs typeface="Arial MT"/>
              </a:rPr>
              <a:t>on</a:t>
            </a:r>
            <a:r>
              <a:rPr sz="1800" spc="-25" dirty="0">
                <a:latin typeface="Trebuchet MS" panose="020B0603020202020204" pitchFamily="34" charset="0"/>
                <a:cs typeface="Arial MT"/>
              </a:rPr>
              <a:t> in- </a:t>
            </a:r>
            <a:r>
              <a:rPr sz="1800" dirty="0">
                <a:latin typeface="Trebuchet MS" panose="020B0603020202020204" pitchFamily="34" charset="0"/>
                <a:cs typeface="Arial MT"/>
              </a:rPr>
              <a:t>vehicle</a:t>
            </a:r>
            <a:r>
              <a:rPr sz="1800" spc="-55" dirty="0">
                <a:latin typeface="Trebuchet MS" panose="020B0603020202020204" pitchFamily="34" charset="0"/>
                <a:cs typeface="Arial MT"/>
              </a:rPr>
              <a:t> </a:t>
            </a:r>
            <a:r>
              <a:rPr sz="1800" spc="-10" dirty="0">
                <a:latin typeface="Trebuchet MS" panose="020B0603020202020204" pitchFamily="34" charset="0"/>
                <a:cs typeface="Arial MT"/>
              </a:rPr>
              <a:t>hardware.</a:t>
            </a:r>
            <a:endParaRPr sz="1800" dirty="0">
              <a:latin typeface="Trebuchet MS" panose="020B0603020202020204" pitchFamily="34" charset="0"/>
              <a:cs typeface="Arial MT"/>
            </a:endParaRPr>
          </a:p>
          <a:p>
            <a:pPr marL="285750" indent="-285750">
              <a:lnSpc>
                <a:spcPct val="100000"/>
              </a:lnSpc>
              <a:spcBef>
                <a:spcPts val="90"/>
              </a:spcBef>
              <a:buFont typeface="Arial" panose="020B0604020202020204" pitchFamily="34" charset="0"/>
              <a:buChar char="•"/>
            </a:pPr>
            <a:endParaRPr sz="1800" dirty="0">
              <a:latin typeface="Trebuchet MS" panose="020B0603020202020204" pitchFamily="34" charset="0"/>
              <a:cs typeface="Arial MT"/>
            </a:endParaRPr>
          </a:p>
          <a:p>
            <a:pPr marL="297815" marR="1174115" indent="-285750">
              <a:lnSpc>
                <a:spcPct val="100000"/>
              </a:lnSpc>
              <a:buFont typeface="Arial" panose="020B0604020202020204" pitchFamily="34" charset="0"/>
              <a:buChar char="•"/>
              <a:tabLst>
                <a:tab pos="469265" algn="l"/>
              </a:tabLst>
            </a:pPr>
            <a:r>
              <a:rPr sz="1800" spc="-95" dirty="0">
                <a:latin typeface="Trebuchet MS" panose="020B0603020202020204" pitchFamily="34" charset="0"/>
                <a:cs typeface="Arial MT"/>
              </a:rPr>
              <a:t>To</a:t>
            </a:r>
            <a:r>
              <a:rPr sz="1800" spc="-30" dirty="0">
                <a:latin typeface="Trebuchet MS" panose="020B0603020202020204" pitchFamily="34" charset="0"/>
                <a:cs typeface="Arial MT"/>
              </a:rPr>
              <a:t> </a:t>
            </a:r>
            <a:r>
              <a:rPr sz="1800" b="1" dirty="0">
                <a:latin typeface="Trebuchet MS" panose="020B0603020202020204" pitchFamily="34" charset="0"/>
                <a:cs typeface="Arial"/>
              </a:rPr>
              <a:t>improve</a:t>
            </a:r>
            <a:r>
              <a:rPr sz="1800" b="1" spc="-25" dirty="0">
                <a:latin typeface="Trebuchet MS" panose="020B0603020202020204" pitchFamily="34" charset="0"/>
                <a:cs typeface="Arial"/>
              </a:rPr>
              <a:t> </a:t>
            </a:r>
            <a:r>
              <a:rPr sz="1800" b="1" dirty="0">
                <a:latin typeface="Trebuchet MS" panose="020B0603020202020204" pitchFamily="34" charset="0"/>
                <a:cs typeface="Arial"/>
              </a:rPr>
              <a:t>accuracy</a:t>
            </a:r>
            <a:r>
              <a:rPr sz="1800" b="1" spc="-20" dirty="0">
                <a:latin typeface="Trebuchet MS" panose="020B0603020202020204" pitchFamily="34" charset="0"/>
                <a:cs typeface="Arial"/>
              </a:rPr>
              <a:t> </a:t>
            </a:r>
            <a:r>
              <a:rPr sz="1800" b="1" dirty="0">
                <a:latin typeface="Trebuchet MS" panose="020B0603020202020204" pitchFamily="34" charset="0"/>
                <a:cs typeface="Arial"/>
              </a:rPr>
              <a:t>and</a:t>
            </a:r>
            <a:r>
              <a:rPr sz="1800" b="1" spc="-30" dirty="0">
                <a:latin typeface="Trebuchet MS" panose="020B0603020202020204" pitchFamily="34" charset="0"/>
                <a:cs typeface="Arial"/>
              </a:rPr>
              <a:t> </a:t>
            </a:r>
            <a:r>
              <a:rPr sz="1800" b="1" dirty="0">
                <a:latin typeface="Trebuchet MS" panose="020B0603020202020204" pitchFamily="34" charset="0"/>
                <a:cs typeface="Arial"/>
              </a:rPr>
              <a:t>reduce</a:t>
            </a:r>
            <a:r>
              <a:rPr sz="1800" b="1" spc="-45" dirty="0">
                <a:latin typeface="Trebuchet MS" panose="020B0603020202020204" pitchFamily="34" charset="0"/>
                <a:cs typeface="Arial"/>
              </a:rPr>
              <a:t> </a:t>
            </a:r>
            <a:r>
              <a:rPr sz="1800" b="1" dirty="0">
                <a:latin typeface="Trebuchet MS" panose="020B0603020202020204" pitchFamily="34" charset="0"/>
                <a:cs typeface="Arial"/>
              </a:rPr>
              <a:t>false</a:t>
            </a:r>
            <a:r>
              <a:rPr sz="1800" b="1" spc="-25" dirty="0">
                <a:latin typeface="Trebuchet MS" panose="020B0603020202020204" pitchFamily="34" charset="0"/>
                <a:cs typeface="Arial"/>
              </a:rPr>
              <a:t> </a:t>
            </a:r>
            <a:r>
              <a:rPr sz="1800" b="1" dirty="0">
                <a:latin typeface="Trebuchet MS" panose="020B0603020202020204" pitchFamily="34" charset="0"/>
                <a:cs typeface="Arial"/>
              </a:rPr>
              <a:t>positives</a:t>
            </a:r>
            <a:r>
              <a:rPr sz="1800" b="1" spc="-5" dirty="0">
                <a:latin typeface="Trebuchet MS" panose="020B0603020202020204" pitchFamily="34" charset="0"/>
                <a:cs typeface="Arial"/>
              </a:rPr>
              <a:t> </a:t>
            </a:r>
            <a:r>
              <a:rPr sz="1800" dirty="0">
                <a:latin typeface="Trebuchet MS" panose="020B0603020202020204" pitchFamily="34" charset="0"/>
                <a:cs typeface="Arial MT"/>
              </a:rPr>
              <a:t>through</a:t>
            </a:r>
            <a:r>
              <a:rPr sz="1800" spc="-30" dirty="0">
                <a:latin typeface="Trebuchet MS" panose="020B0603020202020204" pitchFamily="34" charset="0"/>
                <a:cs typeface="Arial MT"/>
              </a:rPr>
              <a:t> </a:t>
            </a:r>
            <a:r>
              <a:rPr sz="1800" dirty="0">
                <a:latin typeface="Trebuchet MS" panose="020B0603020202020204" pitchFamily="34" charset="0"/>
                <a:cs typeface="Arial MT"/>
              </a:rPr>
              <a:t>model</a:t>
            </a:r>
            <a:r>
              <a:rPr sz="1800" spc="-30" dirty="0">
                <a:latin typeface="Trebuchet MS" panose="020B0603020202020204" pitchFamily="34" charset="0"/>
                <a:cs typeface="Arial MT"/>
              </a:rPr>
              <a:t> </a:t>
            </a:r>
            <a:r>
              <a:rPr sz="1800" dirty="0">
                <a:latin typeface="Trebuchet MS" panose="020B0603020202020204" pitchFamily="34" charset="0"/>
                <a:cs typeface="Arial MT"/>
              </a:rPr>
              <a:t>tuning</a:t>
            </a:r>
            <a:r>
              <a:rPr sz="1800" spc="-25" dirty="0">
                <a:latin typeface="Trebuchet MS" panose="020B0603020202020204" pitchFamily="34" charset="0"/>
                <a:cs typeface="Arial MT"/>
              </a:rPr>
              <a:t> </a:t>
            </a:r>
            <a:r>
              <a:rPr sz="1800" dirty="0">
                <a:latin typeface="Trebuchet MS" panose="020B0603020202020204" pitchFamily="34" charset="0"/>
                <a:cs typeface="Arial MT"/>
              </a:rPr>
              <a:t>and</a:t>
            </a:r>
            <a:r>
              <a:rPr sz="1800" spc="-30" dirty="0">
                <a:latin typeface="Trebuchet MS" panose="020B0603020202020204" pitchFamily="34" charset="0"/>
                <a:cs typeface="Arial MT"/>
              </a:rPr>
              <a:t> </a:t>
            </a:r>
            <a:r>
              <a:rPr sz="1800" spc="-20" dirty="0">
                <a:latin typeface="Trebuchet MS" panose="020B0603020202020204" pitchFamily="34" charset="0"/>
                <a:cs typeface="Arial MT"/>
              </a:rPr>
              <a:t>data </a:t>
            </a:r>
            <a:r>
              <a:rPr sz="1800" spc="-10" dirty="0">
                <a:latin typeface="Trebuchet MS" panose="020B0603020202020204" pitchFamily="34" charset="0"/>
                <a:cs typeface="Arial MT"/>
              </a:rPr>
              <a:t>preprocessing.</a:t>
            </a:r>
            <a:endParaRPr sz="1800" dirty="0">
              <a:latin typeface="Trebuchet MS" panose="020B0603020202020204" pitchFamily="34" charset="0"/>
              <a:cs typeface="Arial MT"/>
            </a:endParaRPr>
          </a:p>
          <a:p>
            <a:pPr marL="285750" indent="-285750">
              <a:lnSpc>
                <a:spcPct val="100000"/>
              </a:lnSpc>
              <a:spcBef>
                <a:spcPts val="90"/>
              </a:spcBef>
              <a:buFont typeface="Arial" panose="020B0604020202020204" pitchFamily="34" charset="0"/>
              <a:buChar char="•"/>
            </a:pPr>
            <a:endParaRPr sz="1800" dirty="0">
              <a:latin typeface="Trebuchet MS" panose="020B0603020202020204" pitchFamily="34" charset="0"/>
              <a:cs typeface="Arial MT"/>
            </a:endParaRPr>
          </a:p>
          <a:p>
            <a:pPr marL="297815" marR="426084" indent="-285750">
              <a:lnSpc>
                <a:spcPct val="100000"/>
              </a:lnSpc>
              <a:buFont typeface="Arial" panose="020B0604020202020204" pitchFamily="34" charset="0"/>
              <a:buChar char="•"/>
              <a:tabLst>
                <a:tab pos="469265" algn="l"/>
              </a:tabLst>
            </a:pPr>
            <a:r>
              <a:rPr sz="1800" spc="-95" dirty="0">
                <a:latin typeface="Trebuchet MS" panose="020B0603020202020204" pitchFamily="34" charset="0"/>
                <a:cs typeface="Arial MT"/>
              </a:rPr>
              <a:t>To</a:t>
            </a:r>
            <a:r>
              <a:rPr sz="1800" spc="-30" dirty="0">
                <a:latin typeface="Trebuchet MS" panose="020B0603020202020204" pitchFamily="34" charset="0"/>
                <a:cs typeface="Arial MT"/>
              </a:rPr>
              <a:t> </a:t>
            </a:r>
            <a:r>
              <a:rPr sz="1800" b="1" dirty="0">
                <a:latin typeface="Trebuchet MS" panose="020B0603020202020204" pitchFamily="34" charset="0"/>
                <a:cs typeface="Arial"/>
              </a:rPr>
              <a:t>enhance</a:t>
            </a:r>
            <a:r>
              <a:rPr sz="1800" b="1" spc="-65" dirty="0">
                <a:latin typeface="Trebuchet MS" panose="020B0603020202020204" pitchFamily="34" charset="0"/>
                <a:cs typeface="Arial"/>
              </a:rPr>
              <a:t> </a:t>
            </a:r>
            <a:r>
              <a:rPr sz="1800" b="1" dirty="0">
                <a:latin typeface="Trebuchet MS" panose="020B0603020202020204" pitchFamily="34" charset="0"/>
                <a:cs typeface="Arial"/>
              </a:rPr>
              <a:t>road</a:t>
            </a:r>
            <a:r>
              <a:rPr sz="1800" b="1" spc="-25" dirty="0">
                <a:latin typeface="Trebuchet MS" panose="020B0603020202020204" pitchFamily="34" charset="0"/>
                <a:cs typeface="Arial"/>
              </a:rPr>
              <a:t> </a:t>
            </a:r>
            <a:r>
              <a:rPr sz="1800" b="1" dirty="0">
                <a:latin typeface="Trebuchet MS" panose="020B0603020202020204" pitchFamily="34" charset="0"/>
                <a:cs typeface="Arial"/>
              </a:rPr>
              <a:t>safety</a:t>
            </a:r>
            <a:r>
              <a:rPr sz="1800" b="1" spc="-30" dirty="0">
                <a:latin typeface="Trebuchet MS" panose="020B0603020202020204" pitchFamily="34" charset="0"/>
                <a:cs typeface="Arial"/>
              </a:rPr>
              <a:t> </a:t>
            </a:r>
            <a:r>
              <a:rPr sz="1800" b="1" dirty="0">
                <a:latin typeface="Trebuchet MS" panose="020B0603020202020204" pitchFamily="34" charset="0"/>
                <a:cs typeface="Arial"/>
              </a:rPr>
              <a:t>and</a:t>
            </a:r>
            <a:r>
              <a:rPr sz="1800" b="1" spc="-35" dirty="0">
                <a:latin typeface="Trebuchet MS" panose="020B0603020202020204" pitchFamily="34" charset="0"/>
                <a:cs typeface="Arial"/>
              </a:rPr>
              <a:t> </a:t>
            </a:r>
            <a:r>
              <a:rPr sz="1800" b="1" dirty="0">
                <a:latin typeface="Trebuchet MS" panose="020B0603020202020204" pitchFamily="34" charset="0"/>
                <a:cs typeface="Arial"/>
              </a:rPr>
              <a:t>support</a:t>
            </a:r>
            <a:r>
              <a:rPr sz="1800" b="1" spc="-50" dirty="0">
                <a:latin typeface="Trebuchet MS" panose="020B0603020202020204" pitchFamily="34" charset="0"/>
                <a:cs typeface="Arial"/>
              </a:rPr>
              <a:t> </a:t>
            </a:r>
            <a:r>
              <a:rPr sz="1800" b="1" dirty="0">
                <a:latin typeface="Trebuchet MS" panose="020B0603020202020204" pitchFamily="34" charset="0"/>
                <a:cs typeface="Arial"/>
              </a:rPr>
              <a:t>intelligent</a:t>
            </a:r>
            <a:r>
              <a:rPr sz="1800" b="1" spc="-50" dirty="0">
                <a:latin typeface="Trebuchet MS" panose="020B0603020202020204" pitchFamily="34" charset="0"/>
                <a:cs typeface="Arial"/>
              </a:rPr>
              <a:t> </a:t>
            </a:r>
            <a:r>
              <a:rPr sz="1800" b="1" dirty="0">
                <a:latin typeface="Trebuchet MS" panose="020B0603020202020204" pitchFamily="34" charset="0"/>
                <a:cs typeface="Arial"/>
              </a:rPr>
              <a:t>transportation</a:t>
            </a:r>
            <a:r>
              <a:rPr sz="1800" b="1" spc="-35" dirty="0">
                <a:latin typeface="Trebuchet MS" panose="020B0603020202020204" pitchFamily="34" charset="0"/>
                <a:cs typeface="Arial"/>
              </a:rPr>
              <a:t> </a:t>
            </a:r>
            <a:r>
              <a:rPr sz="1800" b="1" dirty="0">
                <a:latin typeface="Trebuchet MS" panose="020B0603020202020204" pitchFamily="34" charset="0"/>
                <a:cs typeface="Arial"/>
              </a:rPr>
              <a:t>systems</a:t>
            </a:r>
            <a:r>
              <a:rPr sz="1800" b="1" spc="15" dirty="0">
                <a:latin typeface="Trebuchet MS" panose="020B0603020202020204" pitchFamily="34" charset="0"/>
                <a:cs typeface="Arial"/>
              </a:rPr>
              <a:t> </a:t>
            </a:r>
            <a:r>
              <a:rPr sz="1800" dirty="0">
                <a:latin typeface="Trebuchet MS" panose="020B0603020202020204" pitchFamily="34" charset="0"/>
                <a:cs typeface="Arial MT"/>
              </a:rPr>
              <a:t>by</a:t>
            </a:r>
            <a:r>
              <a:rPr sz="1800" spc="-40" dirty="0">
                <a:latin typeface="Trebuchet MS" panose="020B0603020202020204" pitchFamily="34" charset="0"/>
                <a:cs typeface="Arial MT"/>
              </a:rPr>
              <a:t> </a:t>
            </a:r>
            <a:r>
              <a:rPr sz="1800" spc="-10" dirty="0">
                <a:latin typeface="Trebuchet MS" panose="020B0603020202020204" pitchFamily="34" charset="0"/>
                <a:cs typeface="Arial MT"/>
              </a:rPr>
              <a:t>minimizing </a:t>
            </a:r>
            <a:r>
              <a:rPr sz="1800" dirty="0">
                <a:latin typeface="Trebuchet MS" panose="020B0603020202020204" pitchFamily="34" charset="0"/>
                <a:cs typeface="Arial MT"/>
              </a:rPr>
              <a:t>human</a:t>
            </a:r>
            <a:r>
              <a:rPr sz="1800" spc="-20" dirty="0">
                <a:latin typeface="Trebuchet MS" panose="020B0603020202020204" pitchFamily="34" charset="0"/>
                <a:cs typeface="Arial MT"/>
              </a:rPr>
              <a:t> </a:t>
            </a:r>
            <a:r>
              <a:rPr sz="1800" spc="-10" dirty="0">
                <a:latin typeface="Trebuchet MS" panose="020B0603020202020204" pitchFamily="34" charset="0"/>
                <a:cs typeface="Arial MT"/>
              </a:rPr>
              <a:t>error.</a:t>
            </a:r>
            <a:endParaRPr sz="1800" dirty="0">
              <a:latin typeface="Trebuchet MS" panose="020B0603020202020204" pitchFamily="34" charset="0"/>
              <a:cs typeface="Arial MT"/>
            </a:endParaRPr>
          </a:p>
          <a:p>
            <a:pPr marL="285750" indent="-285750">
              <a:lnSpc>
                <a:spcPct val="100000"/>
              </a:lnSpc>
              <a:spcBef>
                <a:spcPts val="90"/>
              </a:spcBef>
              <a:buFont typeface="Arial" panose="020B0604020202020204" pitchFamily="34" charset="0"/>
              <a:buChar char="•"/>
            </a:pPr>
            <a:endParaRPr sz="1800" dirty="0">
              <a:latin typeface="Trebuchet MS" panose="020B0603020202020204" pitchFamily="34" charset="0"/>
              <a:cs typeface="Arial MT"/>
            </a:endParaRPr>
          </a:p>
          <a:p>
            <a:pPr marL="297815" marR="213995" indent="-285750">
              <a:lnSpc>
                <a:spcPct val="100000"/>
              </a:lnSpc>
              <a:buFont typeface="Arial" panose="020B0604020202020204" pitchFamily="34" charset="0"/>
              <a:buChar char="•"/>
              <a:tabLst>
                <a:tab pos="469265" algn="l"/>
              </a:tabLst>
            </a:pPr>
            <a:r>
              <a:rPr sz="1800" spc="-95" dirty="0">
                <a:latin typeface="Trebuchet MS" panose="020B0603020202020204" pitchFamily="34" charset="0"/>
                <a:cs typeface="Arial MT"/>
              </a:rPr>
              <a:t>To</a:t>
            </a:r>
            <a:r>
              <a:rPr sz="1800" spc="-30" dirty="0">
                <a:latin typeface="Trebuchet MS" panose="020B0603020202020204" pitchFamily="34" charset="0"/>
                <a:cs typeface="Arial MT"/>
              </a:rPr>
              <a:t> </a:t>
            </a:r>
            <a:r>
              <a:rPr sz="1800" b="1" dirty="0">
                <a:latin typeface="Trebuchet MS" panose="020B0603020202020204" pitchFamily="34" charset="0"/>
                <a:cs typeface="Arial"/>
              </a:rPr>
              <a:t>create</a:t>
            </a:r>
            <a:r>
              <a:rPr sz="1800" b="1" spc="-30" dirty="0">
                <a:latin typeface="Trebuchet MS" panose="020B0603020202020204" pitchFamily="34" charset="0"/>
                <a:cs typeface="Arial"/>
              </a:rPr>
              <a:t> </a:t>
            </a:r>
            <a:r>
              <a:rPr sz="1800" b="1" dirty="0">
                <a:latin typeface="Trebuchet MS" panose="020B0603020202020204" pitchFamily="34" charset="0"/>
                <a:cs typeface="Arial"/>
              </a:rPr>
              <a:t>a</a:t>
            </a:r>
            <a:r>
              <a:rPr sz="1800" b="1" spc="-25" dirty="0">
                <a:latin typeface="Trebuchet MS" panose="020B0603020202020204" pitchFamily="34" charset="0"/>
                <a:cs typeface="Arial"/>
              </a:rPr>
              <a:t> </a:t>
            </a:r>
            <a:r>
              <a:rPr sz="1800" b="1" dirty="0">
                <a:latin typeface="Trebuchet MS" panose="020B0603020202020204" pitchFamily="34" charset="0"/>
                <a:cs typeface="Arial"/>
              </a:rPr>
              <a:t>reliable</a:t>
            </a:r>
            <a:r>
              <a:rPr sz="1800" b="1" spc="-25" dirty="0">
                <a:latin typeface="Trebuchet MS" panose="020B0603020202020204" pitchFamily="34" charset="0"/>
                <a:cs typeface="Arial"/>
              </a:rPr>
              <a:t> </a:t>
            </a:r>
            <a:r>
              <a:rPr sz="1800" b="1" dirty="0">
                <a:latin typeface="Trebuchet MS" panose="020B0603020202020204" pitchFamily="34" charset="0"/>
                <a:cs typeface="Arial"/>
              </a:rPr>
              <a:t>driver monitoring</a:t>
            </a:r>
            <a:r>
              <a:rPr sz="1800" b="1" spc="-40" dirty="0">
                <a:latin typeface="Trebuchet MS" panose="020B0603020202020204" pitchFamily="34" charset="0"/>
                <a:cs typeface="Arial"/>
              </a:rPr>
              <a:t> </a:t>
            </a:r>
            <a:r>
              <a:rPr sz="1800" b="1" dirty="0">
                <a:latin typeface="Trebuchet MS" panose="020B0603020202020204" pitchFamily="34" charset="0"/>
                <a:cs typeface="Arial"/>
              </a:rPr>
              <a:t>framework</a:t>
            </a:r>
            <a:r>
              <a:rPr sz="1800" b="1" spc="-50" dirty="0">
                <a:latin typeface="Trebuchet MS" panose="020B0603020202020204" pitchFamily="34" charset="0"/>
                <a:cs typeface="Arial"/>
              </a:rPr>
              <a:t> </a:t>
            </a:r>
            <a:r>
              <a:rPr sz="1800" dirty="0">
                <a:latin typeface="Trebuchet MS" panose="020B0603020202020204" pitchFamily="34" charset="0"/>
                <a:cs typeface="Arial MT"/>
              </a:rPr>
              <a:t>that</a:t>
            </a:r>
            <a:r>
              <a:rPr sz="1800" spc="-20" dirty="0">
                <a:latin typeface="Trebuchet MS" panose="020B0603020202020204" pitchFamily="34" charset="0"/>
                <a:cs typeface="Arial MT"/>
              </a:rPr>
              <a:t> </a:t>
            </a:r>
            <a:r>
              <a:rPr sz="1800" dirty="0">
                <a:latin typeface="Trebuchet MS" panose="020B0603020202020204" pitchFamily="34" charset="0"/>
                <a:cs typeface="Arial MT"/>
              </a:rPr>
              <a:t>can</a:t>
            </a:r>
            <a:r>
              <a:rPr sz="1800" spc="-30" dirty="0">
                <a:latin typeface="Trebuchet MS" panose="020B0603020202020204" pitchFamily="34" charset="0"/>
                <a:cs typeface="Arial MT"/>
              </a:rPr>
              <a:t> </a:t>
            </a:r>
            <a:r>
              <a:rPr sz="1800" dirty="0">
                <a:latin typeface="Trebuchet MS" panose="020B0603020202020204" pitchFamily="34" charset="0"/>
                <a:cs typeface="Arial MT"/>
              </a:rPr>
              <a:t>adapt</a:t>
            </a:r>
            <a:r>
              <a:rPr sz="1800" spc="-10" dirty="0">
                <a:latin typeface="Trebuchet MS" panose="020B0603020202020204" pitchFamily="34" charset="0"/>
                <a:cs typeface="Arial MT"/>
              </a:rPr>
              <a:t> </a:t>
            </a:r>
            <a:r>
              <a:rPr sz="1800" dirty="0">
                <a:latin typeface="Trebuchet MS" panose="020B0603020202020204" pitchFamily="34" charset="0"/>
                <a:cs typeface="Arial MT"/>
              </a:rPr>
              <a:t>to</a:t>
            </a:r>
            <a:r>
              <a:rPr sz="1800" spc="-25" dirty="0">
                <a:latin typeface="Trebuchet MS" panose="020B0603020202020204" pitchFamily="34" charset="0"/>
                <a:cs typeface="Arial MT"/>
              </a:rPr>
              <a:t> </a:t>
            </a:r>
            <a:r>
              <a:rPr sz="1800" dirty="0">
                <a:latin typeface="Trebuchet MS" panose="020B0603020202020204" pitchFamily="34" charset="0"/>
                <a:cs typeface="Arial MT"/>
              </a:rPr>
              <a:t>different</a:t>
            </a:r>
            <a:r>
              <a:rPr sz="1800" spc="-25" dirty="0">
                <a:latin typeface="Trebuchet MS" panose="020B0603020202020204" pitchFamily="34" charset="0"/>
                <a:cs typeface="Arial MT"/>
              </a:rPr>
              <a:t> </a:t>
            </a:r>
            <a:r>
              <a:rPr sz="1800" dirty="0">
                <a:latin typeface="Trebuchet MS" panose="020B0603020202020204" pitchFamily="34" charset="0"/>
                <a:cs typeface="Arial MT"/>
              </a:rPr>
              <a:t>driver</a:t>
            </a:r>
            <a:r>
              <a:rPr sz="1800" spc="-20" dirty="0">
                <a:latin typeface="Trebuchet MS" panose="020B0603020202020204" pitchFamily="34" charset="0"/>
                <a:cs typeface="Arial MT"/>
              </a:rPr>
              <a:t> </a:t>
            </a:r>
            <a:r>
              <a:rPr sz="1800" spc="-10" dirty="0">
                <a:latin typeface="Trebuchet MS" panose="020B0603020202020204" pitchFamily="34" charset="0"/>
                <a:cs typeface="Arial MT"/>
              </a:rPr>
              <a:t>profiles </a:t>
            </a:r>
            <a:r>
              <a:rPr sz="1800" dirty="0">
                <a:latin typeface="Trebuchet MS" panose="020B0603020202020204" pitchFamily="34" charset="0"/>
                <a:cs typeface="Arial MT"/>
              </a:rPr>
              <a:t>and</a:t>
            </a:r>
            <a:r>
              <a:rPr sz="1800" spc="-10" dirty="0">
                <a:latin typeface="Trebuchet MS" panose="020B0603020202020204" pitchFamily="34" charset="0"/>
                <a:cs typeface="Arial MT"/>
              </a:rPr>
              <a:t> environments.</a:t>
            </a:r>
            <a:endParaRPr sz="1800" dirty="0">
              <a:latin typeface="Trebuchet MS" panose="020B0603020202020204" pitchFamily="34" charset="0"/>
              <a:cs typeface="Arial MT"/>
            </a:endParaRPr>
          </a:p>
          <a:p>
            <a:pPr marL="285750" indent="-285750">
              <a:lnSpc>
                <a:spcPct val="100000"/>
              </a:lnSpc>
              <a:spcBef>
                <a:spcPts val="95"/>
              </a:spcBef>
              <a:buFont typeface="Arial" panose="020B0604020202020204" pitchFamily="34" charset="0"/>
              <a:buChar char="•"/>
            </a:pPr>
            <a:endParaRPr sz="1800" dirty="0">
              <a:latin typeface="Trebuchet MS" panose="020B0603020202020204" pitchFamily="34" charset="0"/>
              <a:cs typeface="Arial MT"/>
            </a:endParaRPr>
          </a:p>
          <a:p>
            <a:pPr marL="298450" indent="-285750" algn="l">
              <a:lnSpc>
                <a:spcPct val="100000"/>
              </a:lnSpc>
              <a:buFont typeface="Arial" panose="020B0604020202020204" pitchFamily="34" charset="0"/>
              <a:buChar char="•"/>
              <a:tabLst>
                <a:tab pos="469265" algn="l"/>
              </a:tabLst>
            </a:pPr>
            <a:r>
              <a:rPr sz="1800" spc="-95" dirty="0">
                <a:latin typeface="Trebuchet MS" panose="020B0603020202020204" pitchFamily="34" charset="0"/>
                <a:cs typeface="Arial MT"/>
              </a:rPr>
              <a:t>To</a:t>
            </a:r>
            <a:r>
              <a:rPr sz="1800" spc="-40" dirty="0">
                <a:latin typeface="Trebuchet MS" panose="020B0603020202020204" pitchFamily="34" charset="0"/>
                <a:cs typeface="Arial MT"/>
              </a:rPr>
              <a:t> </a:t>
            </a:r>
            <a:r>
              <a:rPr sz="1800" dirty="0">
                <a:latin typeface="Trebuchet MS" panose="020B0603020202020204" pitchFamily="34" charset="0"/>
                <a:cs typeface="Arial MT"/>
              </a:rPr>
              <a:t>enhance</a:t>
            </a:r>
            <a:r>
              <a:rPr sz="1800" spc="-45" dirty="0">
                <a:latin typeface="Trebuchet MS" panose="020B0603020202020204" pitchFamily="34" charset="0"/>
                <a:cs typeface="Arial MT"/>
              </a:rPr>
              <a:t> </a:t>
            </a:r>
            <a:r>
              <a:rPr sz="1800" dirty="0">
                <a:latin typeface="Trebuchet MS" panose="020B0603020202020204" pitchFamily="34" charset="0"/>
                <a:cs typeface="Arial MT"/>
              </a:rPr>
              <a:t>model</a:t>
            </a:r>
            <a:r>
              <a:rPr sz="1800" spc="-30" dirty="0">
                <a:latin typeface="Trebuchet MS" panose="020B0603020202020204" pitchFamily="34" charset="0"/>
                <a:cs typeface="Arial MT"/>
              </a:rPr>
              <a:t> </a:t>
            </a:r>
            <a:r>
              <a:rPr sz="1800" dirty="0">
                <a:latin typeface="Trebuchet MS" panose="020B0603020202020204" pitchFamily="34" charset="0"/>
                <a:cs typeface="Arial MT"/>
              </a:rPr>
              <a:t>transparency</a:t>
            </a:r>
            <a:r>
              <a:rPr sz="1800" spc="-25" dirty="0">
                <a:latin typeface="Trebuchet MS" panose="020B0603020202020204" pitchFamily="34" charset="0"/>
                <a:cs typeface="Arial MT"/>
              </a:rPr>
              <a:t> </a:t>
            </a:r>
            <a:r>
              <a:rPr sz="1800" dirty="0">
                <a:latin typeface="Trebuchet MS" panose="020B0603020202020204" pitchFamily="34" charset="0"/>
                <a:cs typeface="Arial MT"/>
              </a:rPr>
              <a:t>by</a:t>
            </a:r>
            <a:r>
              <a:rPr sz="1800" spc="-40" dirty="0">
                <a:latin typeface="Trebuchet MS" panose="020B0603020202020204" pitchFamily="34" charset="0"/>
                <a:cs typeface="Arial MT"/>
              </a:rPr>
              <a:t> </a:t>
            </a:r>
            <a:r>
              <a:rPr sz="1800" b="1" dirty="0">
                <a:latin typeface="Trebuchet MS" panose="020B0603020202020204" pitchFamily="34" charset="0"/>
                <a:cs typeface="Arial MT"/>
              </a:rPr>
              <a:t>integrating</a:t>
            </a:r>
            <a:r>
              <a:rPr sz="1800" b="1" spc="-20" dirty="0">
                <a:latin typeface="Trebuchet MS" panose="020B0603020202020204" pitchFamily="34" charset="0"/>
                <a:cs typeface="Arial MT"/>
              </a:rPr>
              <a:t> </a:t>
            </a:r>
            <a:r>
              <a:rPr sz="1800" b="1" dirty="0">
                <a:latin typeface="Trebuchet MS" panose="020B0603020202020204" pitchFamily="34" charset="0"/>
                <a:cs typeface="Arial MT"/>
              </a:rPr>
              <a:t>explainability methods</a:t>
            </a:r>
            <a:r>
              <a:rPr sz="1800" b="1" spc="-35" dirty="0">
                <a:latin typeface="Trebuchet MS" panose="020B0603020202020204" pitchFamily="34" charset="0"/>
                <a:cs typeface="Arial MT"/>
              </a:rPr>
              <a:t> </a:t>
            </a:r>
            <a:r>
              <a:rPr sz="1800" dirty="0">
                <a:latin typeface="Trebuchet MS" panose="020B0603020202020204" pitchFamily="34" charset="0"/>
                <a:cs typeface="Arial MT"/>
              </a:rPr>
              <a:t>that</a:t>
            </a:r>
            <a:r>
              <a:rPr sz="1800" spc="-35" dirty="0">
                <a:latin typeface="Trebuchet MS" panose="020B0603020202020204" pitchFamily="34" charset="0"/>
                <a:cs typeface="Arial MT"/>
              </a:rPr>
              <a:t> </a:t>
            </a:r>
            <a:r>
              <a:rPr sz="1800" dirty="0">
                <a:latin typeface="Trebuchet MS" panose="020B0603020202020204" pitchFamily="34" charset="0"/>
                <a:cs typeface="Arial MT"/>
              </a:rPr>
              <a:t>show</a:t>
            </a:r>
            <a:r>
              <a:rPr sz="1800" spc="-30" dirty="0">
                <a:latin typeface="Trebuchet MS" panose="020B0603020202020204" pitchFamily="34" charset="0"/>
                <a:cs typeface="Arial MT"/>
              </a:rPr>
              <a:t> </a:t>
            </a:r>
            <a:r>
              <a:rPr sz="1800" dirty="0">
                <a:latin typeface="Trebuchet MS" panose="020B0603020202020204" pitchFamily="34" charset="0"/>
                <a:cs typeface="Arial MT"/>
              </a:rPr>
              <a:t>why</a:t>
            </a:r>
            <a:r>
              <a:rPr sz="1800" spc="-5" dirty="0">
                <a:latin typeface="Trebuchet MS" panose="020B0603020202020204" pitchFamily="34" charset="0"/>
                <a:cs typeface="Arial MT"/>
              </a:rPr>
              <a:t> </a:t>
            </a:r>
            <a:r>
              <a:rPr sz="1800" dirty="0">
                <a:latin typeface="Trebuchet MS" panose="020B0603020202020204" pitchFamily="34" charset="0"/>
                <a:cs typeface="Arial MT"/>
              </a:rPr>
              <a:t>a</a:t>
            </a:r>
            <a:r>
              <a:rPr sz="1800" spc="-35" dirty="0">
                <a:latin typeface="Trebuchet MS" panose="020B0603020202020204" pitchFamily="34" charset="0"/>
                <a:cs typeface="Arial MT"/>
              </a:rPr>
              <a:t> </a:t>
            </a:r>
            <a:r>
              <a:rPr sz="1800" spc="-10" dirty="0">
                <a:latin typeface="Trebuchet MS" panose="020B0603020202020204" pitchFamily="34" charset="0"/>
                <a:cs typeface="Arial MT"/>
              </a:rPr>
              <a:t>driver’s</a:t>
            </a:r>
            <a:r>
              <a:rPr lang="en-IN" spc="-10" dirty="0">
                <a:latin typeface="Trebuchet MS" panose="020B0603020202020204" pitchFamily="34" charset="0"/>
                <a:cs typeface="Arial MT"/>
              </a:rPr>
              <a:t> </a:t>
            </a:r>
            <a:r>
              <a:rPr sz="1800" dirty="0">
                <a:latin typeface="Trebuchet MS" panose="020B0603020202020204" pitchFamily="34" charset="0"/>
                <a:cs typeface="Arial MT"/>
              </a:rPr>
              <a:t>behavior is</a:t>
            </a:r>
            <a:r>
              <a:rPr sz="1800" spc="-25" dirty="0">
                <a:latin typeface="Trebuchet MS" panose="020B0603020202020204" pitchFamily="34" charset="0"/>
                <a:cs typeface="Arial MT"/>
              </a:rPr>
              <a:t> </a:t>
            </a:r>
            <a:r>
              <a:rPr sz="1800" dirty="0">
                <a:latin typeface="Trebuchet MS" panose="020B0603020202020204" pitchFamily="34" charset="0"/>
                <a:cs typeface="Arial MT"/>
              </a:rPr>
              <a:t>flagged</a:t>
            </a:r>
            <a:r>
              <a:rPr sz="1800" spc="-20" dirty="0">
                <a:latin typeface="Trebuchet MS" panose="020B0603020202020204" pitchFamily="34" charset="0"/>
                <a:cs typeface="Arial MT"/>
              </a:rPr>
              <a:t> </a:t>
            </a:r>
            <a:r>
              <a:rPr sz="1800" dirty="0">
                <a:latin typeface="Trebuchet MS" panose="020B0603020202020204" pitchFamily="34" charset="0"/>
                <a:cs typeface="Arial MT"/>
              </a:rPr>
              <a:t>as</a:t>
            </a:r>
            <a:r>
              <a:rPr sz="1800" spc="-25" dirty="0">
                <a:latin typeface="Trebuchet MS" panose="020B0603020202020204" pitchFamily="34" charset="0"/>
                <a:cs typeface="Arial MT"/>
              </a:rPr>
              <a:t> </a:t>
            </a:r>
            <a:r>
              <a:rPr sz="1800" spc="-10" dirty="0">
                <a:latin typeface="Trebuchet MS" panose="020B0603020202020204" pitchFamily="34" charset="0"/>
                <a:cs typeface="Arial MT"/>
              </a:rPr>
              <a:t>anomalous.</a:t>
            </a:r>
            <a:endParaRPr sz="1800" dirty="0">
              <a:latin typeface="Trebuchet MS" panose="020B0603020202020204" pitchFamily="34" charset="0"/>
              <a:cs typeface="Arial MT"/>
            </a:endParaRPr>
          </a:p>
        </p:txBody>
      </p:sp>
    </p:spTree>
    <p:extLst>
      <p:ext uri="{BB962C8B-B14F-4D97-AF65-F5344CB8AC3E}">
        <p14:creationId xmlns:p14="http://schemas.microsoft.com/office/powerpoint/2010/main" val="97204466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3048000" y="1581213"/>
            <a:ext cx="7620000" cy="36830"/>
          </a:xfrm>
          <a:custGeom>
            <a:avLst/>
            <a:gdLst/>
            <a:ahLst/>
            <a:cxnLst/>
            <a:rect l="l" t="t" r="r" b="b"/>
            <a:pathLst>
              <a:path w="7620000" h="36830">
                <a:moveTo>
                  <a:pt x="7620000" y="0"/>
                </a:moveTo>
                <a:lnTo>
                  <a:pt x="0" y="0"/>
                </a:lnTo>
                <a:lnTo>
                  <a:pt x="0" y="36512"/>
                </a:lnTo>
                <a:lnTo>
                  <a:pt x="7620000" y="36512"/>
                </a:lnTo>
                <a:lnTo>
                  <a:pt x="7620000" y="0"/>
                </a:lnTo>
                <a:close/>
              </a:path>
            </a:pathLst>
          </a:custGeom>
          <a:solidFill>
            <a:srgbClr val="33CCCC"/>
          </a:solidFill>
        </p:spPr>
        <p:txBody>
          <a:bodyPr wrap="square" lIns="0" tIns="0" rIns="0" bIns="0" rtlCol="0"/>
          <a:lstStyle/>
          <a:p>
            <a:endParaRPr/>
          </a:p>
        </p:txBody>
      </p:sp>
      <p:sp>
        <p:nvSpPr>
          <p:cNvPr id="4" name="object 4"/>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dirty="0"/>
              <a:t>Literature</a:t>
            </a:r>
            <a:r>
              <a:rPr spc="-145" dirty="0"/>
              <a:t> </a:t>
            </a:r>
            <a:r>
              <a:rPr dirty="0"/>
              <a:t>Survey/Existing</a:t>
            </a:r>
            <a:r>
              <a:rPr spc="-140" dirty="0"/>
              <a:t> </a:t>
            </a:r>
            <a:r>
              <a:rPr spc="-10" dirty="0"/>
              <a:t>System</a:t>
            </a:r>
          </a:p>
        </p:txBody>
      </p:sp>
      <p:graphicFrame>
        <p:nvGraphicFramePr>
          <p:cNvPr id="5" name="object 5"/>
          <p:cNvGraphicFramePr>
            <a:graphicFrameLocks noGrp="1"/>
          </p:cNvGraphicFramePr>
          <p:nvPr>
            <p:extLst>
              <p:ext uri="{D42A27DB-BD31-4B8C-83A1-F6EECF244321}">
                <p14:modId xmlns:p14="http://schemas.microsoft.com/office/powerpoint/2010/main" val="3486291712"/>
              </p:ext>
            </p:extLst>
          </p:nvPr>
        </p:nvGraphicFramePr>
        <p:xfrm>
          <a:off x="304800" y="1828800"/>
          <a:ext cx="11582400" cy="4800599"/>
        </p:xfrm>
        <a:graphic>
          <a:graphicData uri="http://schemas.openxmlformats.org/drawingml/2006/table">
            <a:tbl>
              <a:tblPr firstRow="1" bandRow="1">
                <a:tableStyleId>{2D5ABB26-0587-4C30-8999-92F81FD0307C}</a:tableStyleId>
              </a:tblPr>
              <a:tblGrid>
                <a:gridCol w="3352800">
                  <a:extLst>
                    <a:ext uri="{9D8B030D-6E8A-4147-A177-3AD203B41FA5}">
                      <a16:colId xmlns="" xmlns:a16="http://schemas.microsoft.com/office/drawing/2014/main" val="20000"/>
                    </a:ext>
                  </a:extLst>
                </a:gridCol>
                <a:gridCol w="2971800">
                  <a:extLst>
                    <a:ext uri="{9D8B030D-6E8A-4147-A177-3AD203B41FA5}">
                      <a16:colId xmlns="" xmlns:a16="http://schemas.microsoft.com/office/drawing/2014/main" val="20001"/>
                    </a:ext>
                  </a:extLst>
                </a:gridCol>
                <a:gridCol w="2917705">
                  <a:extLst>
                    <a:ext uri="{9D8B030D-6E8A-4147-A177-3AD203B41FA5}">
                      <a16:colId xmlns="" xmlns:a16="http://schemas.microsoft.com/office/drawing/2014/main" val="20002"/>
                    </a:ext>
                  </a:extLst>
                </a:gridCol>
                <a:gridCol w="2340095">
                  <a:extLst>
                    <a:ext uri="{9D8B030D-6E8A-4147-A177-3AD203B41FA5}">
                      <a16:colId xmlns="" xmlns:a16="http://schemas.microsoft.com/office/drawing/2014/main" val="20003"/>
                    </a:ext>
                  </a:extLst>
                </a:gridCol>
              </a:tblGrid>
              <a:tr h="629642">
                <a:tc>
                  <a:txBody>
                    <a:bodyPr/>
                    <a:lstStyle/>
                    <a:p>
                      <a:pPr marL="91440" marR="104775">
                        <a:lnSpc>
                          <a:spcPct val="100000"/>
                        </a:lnSpc>
                        <a:spcBef>
                          <a:spcPts val="244"/>
                        </a:spcBef>
                      </a:pPr>
                      <a:r>
                        <a:rPr sz="1800" b="1" dirty="0">
                          <a:solidFill>
                            <a:srgbClr val="FFFFFF"/>
                          </a:solidFill>
                          <a:latin typeface="Calibri"/>
                          <a:cs typeface="Calibri"/>
                        </a:rPr>
                        <a:t>Details</a:t>
                      </a:r>
                      <a:r>
                        <a:rPr sz="1800" b="1" spc="-70" dirty="0">
                          <a:solidFill>
                            <a:srgbClr val="FFFFFF"/>
                          </a:solidFill>
                          <a:latin typeface="Calibri"/>
                          <a:cs typeface="Calibri"/>
                        </a:rPr>
                        <a:t> </a:t>
                      </a:r>
                      <a:r>
                        <a:rPr sz="1800" b="1" dirty="0">
                          <a:solidFill>
                            <a:srgbClr val="FFFFFF"/>
                          </a:solidFill>
                          <a:latin typeface="Calibri"/>
                          <a:cs typeface="Calibri"/>
                        </a:rPr>
                        <a:t>of</a:t>
                      </a:r>
                      <a:r>
                        <a:rPr sz="1800" b="1" spc="-35" dirty="0">
                          <a:solidFill>
                            <a:srgbClr val="FFFFFF"/>
                          </a:solidFill>
                          <a:latin typeface="Calibri"/>
                          <a:cs typeface="Calibri"/>
                        </a:rPr>
                        <a:t> </a:t>
                      </a:r>
                      <a:r>
                        <a:rPr sz="1800" b="1" spc="-10" dirty="0">
                          <a:solidFill>
                            <a:srgbClr val="FFFFFF"/>
                          </a:solidFill>
                          <a:latin typeface="Calibri"/>
                          <a:cs typeface="Calibri"/>
                        </a:rPr>
                        <a:t>Paper- </a:t>
                      </a:r>
                      <a:r>
                        <a:rPr sz="1800" b="1" dirty="0">
                          <a:solidFill>
                            <a:srgbClr val="FFFFFF"/>
                          </a:solidFill>
                          <a:latin typeface="Calibri"/>
                          <a:cs typeface="Calibri"/>
                        </a:rPr>
                        <a:t>Title,</a:t>
                      </a:r>
                      <a:r>
                        <a:rPr sz="1800" b="1" spc="-20" dirty="0">
                          <a:solidFill>
                            <a:srgbClr val="FFFFFF"/>
                          </a:solidFill>
                          <a:latin typeface="Calibri"/>
                          <a:cs typeface="Calibri"/>
                        </a:rPr>
                        <a:t> </a:t>
                      </a:r>
                      <a:r>
                        <a:rPr sz="1800" b="1" spc="-10" dirty="0">
                          <a:solidFill>
                            <a:srgbClr val="FFFFFF"/>
                          </a:solidFill>
                          <a:latin typeface="Calibri"/>
                          <a:cs typeface="Calibri"/>
                        </a:rPr>
                        <a:t>author, conference</a:t>
                      </a:r>
                      <a:r>
                        <a:rPr sz="1800" b="1" spc="-40" dirty="0">
                          <a:solidFill>
                            <a:srgbClr val="FFFFFF"/>
                          </a:solidFill>
                          <a:latin typeface="Calibri"/>
                          <a:cs typeface="Calibri"/>
                        </a:rPr>
                        <a:t> </a:t>
                      </a:r>
                      <a:r>
                        <a:rPr sz="1800" b="1" spc="-10" dirty="0">
                          <a:solidFill>
                            <a:srgbClr val="FFFFFF"/>
                          </a:solidFill>
                          <a:latin typeface="Calibri"/>
                          <a:cs typeface="Calibri"/>
                        </a:rPr>
                        <a:t>/Journal</a:t>
                      </a:r>
                      <a:endParaRPr sz="1800" dirty="0">
                        <a:latin typeface="Calibri"/>
                        <a:cs typeface="Calibri"/>
                      </a:endParaRPr>
                    </a:p>
                  </a:txBody>
                  <a:tcPr marL="0" marR="0" marT="31114"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471C4"/>
                    </a:solidFill>
                  </a:tcPr>
                </a:tc>
                <a:tc>
                  <a:txBody>
                    <a:bodyPr/>
                    <a:lstStyle/>
                    <a:p>
                      <a:pPr marL="91440">
                        <a:lnSpc>
                          <a:spcPct val="100000"/>
                        </a:lnSpc>
                        <a:spcBef>
                          <a:spcPts val="244"/>
                        </a:spcBef>
                      </a:pPr>
                      <a:r>
                        <a:rPr sz="1800" b="1" dirty="0">
                          <a:solidFill>
                            <a:srgbClr val="FFFFFF"/>
                          </a:solidFill>
                          <a:latin typeface="Calibri"/>
                          <a:cs typeface="Calibri"/>
                        </a:rPr>
                        <a:t>Methodology</a:t>
                      </a:r>
                      <a:r>
                        <a:rPr sz="1800" b="1" spc="-45" dirty="0">
                          <a:solidFill>
                            <a:srgbClr val="FFFFFF"/>
                          </a:solidFill>
                          <a:latin typeface="Calibri"/>
                          <a:cs typeface="Calibri"/>
                        </a:rPr>
                        <a:t> </a:t>
                      </a:r>
                      <a:r>
                        <a:rPr sz="1800" b="1" spc="-20" dirty="0">
                          <a:solidFill>
                            <a:srgbClr val="FFFFFF"/>
                          </a:solidFill>
                          <a:latin typeface="Calibri"/>
                          <a:cs typeface="Calibri"/>
                        </a:rPr>
                        <a:t>Used</a:t>
                      </a:r>
                      <a:endParaRPr sz="1800" dirty="0">
                        <a:latin typeface="Calibri"/>
                        <a:cs typeface="Calibri"/>
                      </a:endParaRPr>
                    </a:p>
                  </a:txBody>
                  <a:tcPr marL="0" marR="0" marT="31114"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471C4"/>
                    </a:solidFill>
                  </a:tcPr>
                </a:tc>
                <a:tc>
                  <a:txBody>
                    <a:bodyPr/>
                    <a:lstStyle/>
                    <a:p>
                      <a:pPr marL="92075">
                        <a:lnSpc>
                          <a:spcPct val="100000"/>
                        </a:lnSpc>
                        <a:spcBef>
                          <a:spcPts val="244"/>
                        </a:spcBef>
                      </a:pPr>
                      <a:r>
                        <a:rPr sz="1800" b="1" spc="-10" dirty="0">
                          <a:solidFill>
                            <a:srgbClr val="FFFFFF"/>
                          </a:solidFill>
                          <a:latin typeface="Calibri"/>
                          <a:cs typeface="Calibri"/>
                        </a:rPr>
                        <a:t>Result</a:t>
                      </a:r>
                      <a:endParaRPr sz="1800" dirty="0">
                        <a:latin typeface="Calibri"/>
                        <a:cs typeface="Calibri"/>
                      </a:endParaRPr>
                    </a:p>
                  </a:txBody>
                  <a:tcPr marL="0" marR="0" marT="31114"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471C4"/>
                    </a:solidFill>
                  </a:tcPr>
                </a:tc>
                <a:tc>
                  <a:txBody>
                    <a:bodyPr/>
                    <a:lstStyle/>
                    <a:p>
                      <a:pPr marL="92075">
                        <a:lnSpc>
                          <a:spcPct val="100000"/>
                        </a:lnSpc>
                        <a:spcBef>
                          <a:spcPts val="244"/>
                        </a:spcBef>
                      </a:pPr>
                      <a:r>
                        <a:rPr sz="1800" b="1" spc="-10" dirty="0">
                          <a:solidFill>
                            <a:srgbClr val="FFFFFF"/>
                          </a:solidFill>
                          <a:latin typeface="Calibri"/>
                          <a:cs typeface="Calibri"/>
                        </a:rPr>
                        <a:t>Limitations</a:t>
                      </a:r>
                      <a:endParaRPr sz="1800" dirty="0">
                        <a:latin typeface="Calibri"/>
                        <a:cs typeface="Calibri"/>
                      </a:endParaRPr>
                    </a:p>
                  </a:txBody>
                  <a:tcPr marL="0" marR="0" marT="31114"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471C4"/>
                    </a:solidFill>
                  </a:tcPr>
                </a:tc>
                <a:extLst>
                  <a:ext uri="{0D108BD9-81ED-4DB2-BD59-A6C34878D82A}">
                    <a16:rowId xmlns="" xmlns:a16="http://schemas.microsoft.com/office/drawing/2014/main" val="10000"/>
                  </a:ext>
                </a:extLst>
              </a:tr>
              <a:tr h="2383404">
                <a:tc>
                  <a:txBody>
                    <a:bodyPr/>
                    <a:lstStyle/>
                    <a:p>
                      <a:pPr>
                        <a:lnSpc>
                          <a:spcPct val="100000"/>
                        </a:lnSpc>
                      </a:pPr>
                      <a:r>
                        <a:rPr lang="en-US" sz="1800" b="1" dirty="0"/>
                        <a:t>Abnormal Driving Behavior Detection: A Machine and Deep Learning Based Hybrid Model</a:t>
                      </a:r>
                      <a:r>
                        <a:rPr lang="en-US" sz="1800" dirty="0"/>
                        <a:t/>
                      </a:r>
                      <a:br>
                        <a:rPr lang="en-US" sz="1800" dirty="0"/>
                      </a:br>
                      <a:r>
                        <a:rPr lang="en-US" sz="1800" i="1" dirty="0"/>
                        <a:t>(Md. Ashraf Uddin et al., Int. J. Intelligent Transportation Systems Research, 2025)</a:t>
                      </a:r>
                      <a:endParaRPr sz="1800" dirty="0">
                        <a:latin typeface="Times New Roman"/>
                        <a:cs typeface="Times New Roman"/>
                      </a:endParaRPr>
                    </a:p>
                  </a:txBody>
                  <a:tcPr marL="0" marR="0" marT="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FD4EA"/>
                    </a:solidFill>
                  </a:tcPr>
                </a:tc>
                <a:tc>
                  <a:txBody>
                    <a:bodyPr/>
                    <a:lstStyle/>
                    <a:p>
                      <a:pPr>
                        <a:lnSpc>
                          <a:spcPct val="100000"/>
                        </a:lnSpc>
                      </a:pPr>
                      <a:r>
                        <a:rPr lang="en-US" sz="1800" dirty="0"/>
                        <a:t>Hybrid model combining </a:t>
                      </a:r>
                      <a:r>
                        <a:rPr lang="en-US" sz="1800" b="1" dirty="0"/>
                        <a:t>Machine Learning (Random Forest, SVM, Gradient Boosting)</a:t>
                      </a:r>
                      <a:r>
                        <a:rPr lang="en-US" sz="1800" dirty="0"/>
                        <a:t> on tabular driving data and </a:t>
                      </a:r>
                      <a:r>
                        <a:rPr lang="en-US" sz="1800" b="1" dirty="0"/>
                        <a:t>Deep Learning (CNN, ResNet50, EfficientNetB6)</a:t>
                      </a:r>
                      <a:r>
                        <a:rPr lang="en-US" sz="1800" dirty="0"/>
                        <a:t> on image data (UAH-</a:t>
                      </a:r>
                      <a:r>
                        <a:rPr lang="en-US" sz="1800" dirty="0" err="1"/>
                        <a:t>DriveSet</a:t>
                      </a:r>
                      <a:r>
                        <a:rPr lang="en-US" sz="1800" dirty="0"/>
                        <a:t> + SFD3 datasets).</a:t>
                      </a:r>
                      <a:endParaRPr sz="1800" dirty="0">
                        <a:latin typeface="Times New Roman"/>
                        <a:cs typeface="Times New Roman"/>
                      </a:endParaRPr>
                    </a:p>
                  </a:txBody>
                  <a:tcPr marL="0" marR="0" marT="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FD4EA"/>
                    </a:solidFill>
                  </a:tcPr>
                </a:tc>
                <a:tc>
                  <a:txBody>
                    <a:bodyPr/>
                    <a:lstStyle/>
                    <a:p>
                      <a:pPr>
                        <a:lnSpc>
                          <a:spcPct val="100000"/>
                        </a:lnSpc>
                      </a:pPr>
                      <a:r>
                        <a:rPr lang="en-US" sz="1800" dirty="0"/>
                        <a:t>Random Forest: </a:t>
                      </a:r>
                      <a:r>
                        <a:rPr lang="en-US" sz="1800" b="1" dirty="0"/>
                        <a:t>99.32%</a:t>
                      </a:r>
                      <a:r>
                        <a:rPr lang="en-US" sz="1800" dirty="0"/>
                        <a:t>, Base CNN: </a:t>
                      </a:r>
                      <a:r>
                        <a:rPr lang="en-US" sz="1800" b="1" dirty="0"/>
                        <a:t>99.87%</a:t>
                      </a:r>
                      <a:r>
                        <a:rPr lang="en-US" sz="1800" dirty="0"/>
                        <a:t>. Hybrid model outperformed standalone ML/DL methods.</a:t>
                      </a:r>
                      <a:endParaRPr sz="1800" dirty="0">
                        <a:latin typeface="Times New Roman"/>
                        <a:cs typeface="Times New Roman"/>
                      </a:endParaRPr>
                    </a:p>
                  </a:txBody>
                  <a:tcPr marL="0" marR="0" marT="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FD4EA"/>
                    </a:solidFill>
                  </a:tcPr>
                </a:tc>
                <a:tc>
                  <a:txBody>
                    <a:bodyPr/>
                    <a:lstStyle/>
                    <a:p>
                      <a:pPr>
                        <a:lnSpc>
                          <a:spcPct val="100000"/>
                        </a:lnSpc>
                      </a:pPr>
                      <a:r>
                        <a:rPr lang="en-US" sz="1800" dirty="0"/>
                        <a:t>High computational demand; limited real-time testing; only evaluated limited behaviors (aggressive, tired, normal).</a:t>
                      </a:r>
                      <a:endParaRPr sz="1800" dirty="0">
                        <a:latin typeface="Times New Roman"/>
                        <a:cs typeface="Times New Roman"/>
                      </a:endParaRPr>
                    </a:p>
                  </a:txBody>
                  <a:tcPr marL="0" marR="0" marT="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FD4EA"/>
                    </a:solidFill>
                  </a:tcPr>
                </a:tc>
                <a:extLst>
                  <a:ext uri="{0D108BD9-81ED-4DB2-BD59-A6C34878D82A}">
                    <a16:rowId xmlns="" xmlns:a16="http://schemas.microsoft.com/office/drawing/2014/main" val="10001"/>
                  </a:ext>
                </a:extLst>
              </a:tr>
              <a:tr h="1787553">
                <a:tc>
                  <a:txBody>
                    <a:bodyPr/>
                    <a:lstStyle/>
                    <a:p>
                      <a:pPr>
                        <a:lnSpc>
                          <a:spcPct val="100000"/>
                        </a:lnSpc>
                      </a:pPr>
                      <a:r>
                        <a:rPr lang="en-US" sz="1800" b="1" dirty="0"/>
                        <a:t>Real-Time Driver Fatigue Detection System with Deep Learning on a Low-Cost Embedded System</a:t>
                      </a:r>
                      <a:r>
                        <a:rPr lang="en-US" sz="1800" dirty="0"/>
                        <a:t/>
                      </a:r>
                      <a:br>
                        <a:rPr lang="en-US" sz="1800" dirty="0"/>
                      </a:br>
                      <a:r>
                        <a:rPr lang="en-US" sz="1800" i="1" dirty="0"/>
                        <a:t>(</a:t>
                      </a:r>
                      <a:r>
                        <a:rPr lang="en-US" sz="1800" i="1" dirty="0" err="1"/>
                        <a:t>Esra</a:t>
                      </a:r>
                      <a:r>
                        <a:rPr lang="en-US" sz="1800" i="1" dirty="0"/>
                        <a:t> </a:t>
                      </a:r>
                      <a:r>
                        <a:rPr lang="en-US" sz="1800" i="1" dirty="0" err="1"/>
                        <a:t>Civik</a:t>
                      </a:r>
                      <a:r>
                        <a:rPr lang="en-US" sz="1800" i="1" dirty="0"/>
                        <a:t> &amp; </a:t>
                      </a:r>
                      <a:r>
                        <a:rPr lang="en-US" sz="1800" i="1" dirty="0" err="1"/>
                        <a:t>Ugur</a:t>
                      </a:r>
                      <a:r>
                        <a:rPr lang="en-US" sz="1800" i="1" dirty="0"/>
                        <a:t> </a:t>
                      </a:r>
                      <a:r>
                        <a:rPr lang="en-US" sz="1800" i="1" dirty="0" err="1"/>
                        <a:t>Yuzgec</a:t>
                      </a:r>
                      <a:r>
                        <a:rPr lang="en-US" sz="1800" i="1" dirty="0"/>
                        <a:t>, Microprocessors and Microsystems, 2023)</a:t>
                      </a:r>
                      <a:endParaRPr sz="1800" dirty="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a:txBody>
                    <a:bodyPr/>
                    <a:lstStyle/>
                    <a:p>
                      <a:pPr>
                        <a:lnSpc>
                          <a:spcPct val="100000"/>
                        </a:lnSpc>
                      </a:pPr>
                      <a:r>
                        <a:rPr lang="en-US" sz="1800" dirty="0"/>
                        <a:t>Two CNN models trained on </a:t>
                      </a:r>
                      <a:r>
                        <a:rPr lang="en-US" sz="1800" b="1" dirty="0" err="1"/>
                        <a:t>YawDD</a:t>
                      </a:r>
                      <a:r>
                        <a:rPr lang="en-US" sz="1800" b="1" dirty="0"/>
                        <a:t> dataset</a:t>
                      </a:r>
                      <a:r>
                        <a:rPr lang="en-US" sz="1800" dirty="0"/>
                        <a:t> to detect fatigue by analyzing </a:t>
                      </a:r>
                      <a:r>
                        <a:rPr lang="en-US" sz="1800" b="1" dirty="0"/>
                        <a:t>eye and mouth regions</a:t>
                      </a:r>
                      <a:r>
                        <a:rPr lang="en-US" sz="1800" dirty="0"/>
                        <a:t> using </a:t>
                      </a:r>
                      <a:r>
                        <a:rPr lang="en-US" sz="1800" b="1" dirty="0" err="1"/>
                        <a:t>dlib</a:t>
                      </a:r>
                      <a:r>
                        <a:rPr lang="en-US" sz="1800" dirty="0"/>
                        <a:t> on an </a:t>
                      </a:r>
                      <a:r>
                        <a:rPr lang="en-US" sz="1800" b="1" dirty="0"/>
                        <a:t>NVIDIA </a:t>
                      </a:r>
                      <a:r>
                        <a:rPr lang="en-US" sz="1800" b="1" dirty="0" err="1"/>
                        <a:t>Jetson</a:t>
                      </a:r>
                      <a:r>
                        <a:rPr lang="en-US" sz="1800" b="1" dirty="0"/>
                        <a:t> </a:t>
                      </a:r>
                      <a:r>
                        <a:rPr lang="en-US" sz="1800" b="1" dirty="0" err="1"/>
                        <a:t>Nano</a:t>
                      </a:r>
                      <a:r>
                        <a:rPr lang="en-US" sz="1800" dirty="0"/>
                        <a:t> embedded board.</a:t>
                      </a:r>
                      <a:endParaRPr sz="1800" dirty="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a:txBody>
                    <a:bodyPr/>
                    <a:lstStyle/>
                    <a:p>
                      <a:pPr>
                        <a:lnSpc>
                          <a:spcPct val="100000"/>
                        </a:lnSpc>
                      </a:pPr>
                      <a:r>
                        <a:rPr lang="en-US" sz="1800" dirty="0"/>
                        <a:t>Achieved </a:t>
                      </a:r>
                      <a:r>
                        <a:rPr lang="en-US" sz="1800" b="1" dirty="0"/>
                        <a:t>93.6–96% accuracy</a:t>
                      </a:r>
                      <a:r>
                        <a:rPr lang="en-US" sz="1800" dirty="0"/>
                        <a:t> across fatigue classes; worked in real-time at ~6 FPS on </a:t>
                      </a:r>
                      <a:r>
                        <a:rPr lang="en-US" sz="1800" dirty="0" err="1"/>
                        <a:t>Jetson</a:t>
                      </a:r>
                      <a:r>
                        <a:rPr lang="en-US" sz="1800" dirty="0"/>
                        <a:t> </a:t>
                      </a:r>
                      <a:r>
                        <a:rPr lang="en-US" sz="1800" dirty="0" err="1"/>
                        <a:t>Nano</a:t>
                      </a:r>
                      <a:r>
                        <a:rPr lang="en-US" sz="1800" dirty="0"/>
                        <a:t>.</a:t>
                      </a:r>
                      <a:endParaRPr sz="1800" dirty="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a:txBody>
                    <a:bodyPr/>
                    <a:lstStyle/>
                    <a:p>
                      <a:pPr>
                        <a:lnSpc>
                          <a:spcPct val="100000"/>
                        </a:lnSpc>
                      </a:pPr>
                      <a:r>
                        <a:rPr lang="en-US" sz="1800" dirty="0"/>
                        <a:t>Limited to fatigue detection only; small dataset; low frame rate on embedded device.</a:t>
                      </a:r>
                      <a:endParaRPr sz="1800" dirty="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extLst>
                  <a:ext uri="{0D108BD9-81ED-4DB2-BD59-A6C34878D82A}">
                    <a16:rowId xmlns="" xmlns:a16="http://schemas.microsoft.com/office/drawing/2014/main" val="10002"/>
                  </a:ext>
                </a:extLst>
              </a:tr>
            </a:tbl>
          </a:graphicData>
        </a:graphic>
      </p:graphicFrame>
    </p:spTree>
    <p:extLst>
      <p:ext uri="{BB962C8B-B14F-4D97-AF65-F5344CB8AC3E}">
        <p14:creationId xmlns:p14="http://schemas.microsoft.com/office/powerpoint/2010/main" val="177906241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5"/>
          <p:cNvGraphicFramePr>
            <a:graphicFrameLocks noGrp="1"/>
          </p:cNvGraphicFramePr>
          <p:nvPr>
            <p:extLst>
              <p:ext uri="{D42A27DB-BD31-4B8C-83A1-F6EECF244321}">
                <p14:modId xmlns:p14="http://schemas.microsoft.com/office/powerpoint/2010/main" val="1290629762"/>
              </p:ext>
            </p:extLst>
          </p:nvPr>
        </p:nvGraphicFramePr>
        <p:xfrm>
          <a:off x="495300" y="1905000"/>
          <a:ext cx="11353800" cy="4450080"/>
        </p:xfrm>
        <a:graphic>
          <a:graphicData uri="http://schemas.openxmlformats.org/drawingml/2006/table">
            <a:tbl>
              <a:tblPr firstRow="1" bandRow="1">
                <a:tableStyleId>{2D5ABB26-0587-4C30-8999-92F81FD0307C}</a:tableStyleId>
              </a:tblPr>
              <a:tblGrid>
                <a:gridCol w="3273715">
                  <a:extLst>
                    <a:ext uri="{9D8B030D-6E8A-4147-A177-3AD203B41FA5}">
                      <a16:colId xmlns="" xmlns:a16="http://schemas.microsoft.com/office/drawing/2014/main" val="20000"/>
                    </a:ext>
                  </a:extLst>
                </a:gridCol>
                <a:gridCol w="2879873">
                  <a:extLst>
                    <a:ext uri="{9D8B030D-6E8A-4147-A177-3AD203B41FA5}">
                      <a16:colId xmlns="" xmlns:a16="http://schemas.microsoft.com/office/drawing/2014/main" val="20001"/>
                    </a:ext>
                  </a:extLst>
                </a:gridCol>
                <a:gridCol w="2860117">
                  <a:extLst>
                    <a:ext uri="{9D8B030D-6E8A-4147-A177-3AD203B41FA5}">
                      <a16:colId xmlns="" xmlns:a16="http://schemas.microsoft.com/office/drawing/2014/main" val="20002"/>
                    </a:ext>
                  </a:extLst>
                </a:gridCol>
                <a:gridCol w="2340095">
                  <a:extLst>
                    <a:ext uri="{9D8B030D-6E8A-4147-A177-3AD203B41FA5}">
                      <a16:colId xmlns="" xmlns:a16="http://schemas.microsoft.com/office/drawing/2014/main" val="20003"/>
                    </a:ext>
                  </a:extLst>
                </a:gridCol>
              </a:tblGrid>
              <a:tr h="609600">
                <a:tc>
                  <a:txBody>
                    <a:bodyPr/>
                    <a:lstStyle/>
                    <a:p>
                      <a:pPr marL="91440" marR="104775">
                        <a:lnSpc>
                          <a:spcPct val="100000"/>
                        </a:lnSpc>
                        <a:spcBef>
                          <a:spcPts val="244"/>
                        </a:spcBef>
                      </a:pPr>
                      <a:r>
                        <a:rPr sz="1800" b="1" dirty="0">
                          <a:solidFill>
                            <a:srgbClr val="FFFFFF"/>
                          </a:solidFill>
                          <a:latin typeface="Calibri"/>
                          <a:cs typeface="Calibri"/>
                        </a:rPr>
                        <a:t>Details</a:t>
                      </a:r>
                      <a:r>
                        <a:rPr sz="1800" b="1" spc="-70" dirty="0">
                          <a:solidFill>
                            <a:srgbClr val="FFFFFF"/>
                          </a:solidFill>
                          <a:latin typeface="Calibri"/>
                          <a:cs typeface="Calibri"/>
                        </a:rPr>
                        <a:t> </a:t>
                      </a:r>
                      <a:r>
                        <a:rPr sz="1800" b="1" dirty="0">
                          <a:solidFill>
                            <a:srgbClr val="FFFFFF"/>
                          </a:solidFill>
                          <a:latin typeface="Calibri"/>
                          <a:cs typeface="Calibri"/>
                        </a:rPr>
                        <a:t>of</a:t>
                      </a:r>
                      <a:r>
                        <a:rPr sz="1800" b="1" spc="-35" dirty="0">
                          <a:solidFill>
                            <a:srgbClr val="FFFFFF"/>
                          </a:solidFill>
                          <a:latin typeface="Calibri"/>
                          <a:cs typeface="Calibri"/>
                        </a:rPr>
                        <a:t> </a:t>
                      </a:r>
                      <a:r>
                        <a:rPr sz="1800" b="1" spc="-10" dirty="0">
                          <a:solidFill>
                            <a:srgbClr val="FFFFFF"/>
                          </a:solidFill>
                          <a:latin typeface="Calibri"/>
                          <a:cs typeface="Calibri"/>
                        </a:rPr>
                        <a:t>Paper- </a:t>
                      </a:r>
                      <a:r>
                        <a:rPr sz="1800" b="1" dirty="0">
                          <a:solidFill>
                            <a:srgbClr val="FFFFFF"/>
                          </a:solidFill>
                          <a:latin typeface="Calibri"/>
                          <a:cs typeface="Calibri"/>
                        </a:rPr>
                        <a:t>Title,</a:t>
                      </a:r>
                      <a:r>
                        <a:rPr sz="1800" b="1" spc="-20" dirty="0">
                          <a:solidFill>
                            <a:srgbClr val="FFFFFF"/>
                          </a:solidFill>
                          <a:latin typeface="Calibri"/>
                          <a:cs typeface="Calibri"/>
                        </a:rPr>
                        <a:t> </a:t>
                      </a:r>
                      <a:r>
                        <a:rPr sz="1800" b="1" spc="-10" dirty="0">
                          <a:solidFill>
                            <a:srgbClr val="FFFFFF"/>
                          </a:solidFill>
                          <a:latin typeface="Calibri"/>
                          <a:cs typeface="Calibri"/>
                        </a:rPr>
                        <a:t>author, conference</a:t>
                      </a:r>
                      <a:r>
                        <a:rPr sz="1800" b="1" spc="-40" dirty="0">
                          <a:solidFill>
                            <a:srgbClr val="FFFFFF"/>
                          </a:solidFill>
                          <a:latin typeface="Calibri"/>
                          <a:cs typeface="Calibri"/>
                        </a:rPr>
                        <a:t> </a:t>
                      </a:r>
                      <a:r>
                        <a:rPr sz="1800" b="1" spc="-10" dirty="0">
                          <a:solidFill>
                            <a:srgbClr val="FFFFFF"/>
                          </a:solidFill>
                          <a:latin typeface="Calibri"/>
                          <a:cs typeface="Calibri"/>
                        </a:rPr>
                        <a:t>/Journal</a:t>
                      </a:r>
                      <a:endParaRPr sz="1800" dirty="0">
                        <a:latin typeface="Calibri"/>
                        <a:cs typeface="Calibri"/>
                      </a:endParaRPr>
                    </a:p>
                  </a:txBody>
                  <a:tcPr marL="0" marR="0" marT="31114"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471C4"/>
                    </a:solidFill>
                  </a:tcPr>
                </a:tc>
                <a:tc>
                  <a:txBody>
                    <a:bodyPr/>
                    <a:lstStyle/>
                    <a:p>
                      <a:pPr marL="91440">
                        <a:lnSpc>
                          <a:spcPct val="100000"/>
                        </a:lnSpc>
                        <a:spcBef>
                          <a:spcPts val="244"/>
                        </a:spcBef>
                      </a:pPr>
                      <a:r>
                        <a:rPr sz="1800" b="1" dirty="0">
                          <a:solidFill>
                            <a:srgbClr val="FFFFFF"/>
                          </a:solidFill>
                          <a:latin typeface="Calibri"/>
                          <a:cs typeface="Calibri"/>
                        </a:rPr>
                        <a:t>Methodology</a:t>
                      </a:r>
                      <a:r>
                        <a:rPr sz="1800" b="1" spc="-45" dirty="0">
                          <a:solidFill>
                            <a:srgbClr val="FFFFFF"/>
                          </a:solidFill>
                          <a:latin typeface="Calibri"/>
                          <a:cs typeface="Calibri"/>
                        </a:rPr>
                        <a:t> </a:t>
                      </a:r>
                      <a:r>
                        <a:rPr sz="1800" b="1" spc="-20" dirty="0">
                          <a:solidFill>
                            <a:srgbClr val="FFFFFF"/>
                          </a:solidFill>
                          <a:latin typeface="Calibri"/>
                          <a:cs typeface="Calibri"/>
                        </a:rPr>
                        <a:t>Used</a:t>
                      </a:r>
                      <a:endParaRPr sz="1800">
                        <a:latin typeface="Calibri"/>
                        <a:cs typeface="Calibri"/>
                      </a:endParaRPr>
                    </a:p>
                  </a:txBody>
                  <a:tcPr marL="0" marR="0" marT="31114"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471C4"/>
                    </a:solidFill>
                  </a:tcPr>
                </a:tc>
                <a:tc>
                  <a:txBody>
                    <a:bodyPr/>
                    <a:lstStyle/>
                    <a:p>
                      <a:pPr marL="92075">
                        <a:lnSpc>
                          <a:spcPct val="100000"/>
                        </a:lnSpc>
                        <a:spcBef>
                          <a:spcPts val="244"/>
                        </a:spcBef>
                      </a:pPr>
                      <a:r>
                        <a:rPr sz="1800" b="1" spc="-10" dirty="0">
                          <a:solidFill>
                            <a:srgbClr val="FFFFFF"/>
                          </a:solidFill>
                          <a:latin typeface="Calibri"/>
                          <a:cs typeface="Calibri"/>
                        </a:rPr>
                        <a:t>Result</a:t>
                      </a:r>
                      <a:endParaRPr sz="1800" dirty="0">
                        <a:latin typeface="Calibri"/>
                        <a:cs typeface="Calibri"/>
                      </a:endParaRPr>
                    </a:p>
                  </a:txBody>
                  <a:tcPr marL="0" marR="0" marT="31114"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471C4"/>
                    </a:solidFill>
                  </a:tcPr>
                </a:tc>
                <a:tc>
                  <a:txBody>
                    <a:bodyPr/>
                    <a:lstStyle/>
                    <a:p>
                      <a:pPr marL="92075">
                        <a:lnSpc>
                          <a:spcPct val="100000"/>
                        </a:lnSpc>
                        <a:spcBef>
                          <a:spcPts val="244"/>
                        </a:spcBef>
                      </a:pPr>
                      <a:r>
                        <a:rPr sz="1800" b="1" spc="-10" dirty="0">
                          <a:solidFill>
                            <a:srgbClr val="FFFFFF"/>
                          </a:solidFill>
                          <a:latin typeface="Calibri"/>
                          <a:cs typeface="Calibri"/>
                        </a:rPr>
                        <a:t>Limitations</a:t>
                      </a:r>
                      <a:endParaRPr sz="1800" dirty="0">
                        <a:latin typeface="Calibri"/>
                        <a:cs typeface="Calibri"/>
                      </a:endParaRPr>
                    </a:p>
                  </a:txBody>
                  <a:tcPr marL="0" marR="0" marT="31114"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471C4"/>
                    </a:solidFill>
                  </a:tcPr>
                </a:tc>
                <a:extLst>
                  <a:ext uri="{0D108BD9-81ED-4DB2-BD59-A6C34878D82A}">
                    <a16:rowId xmlns="" xmlns:a16="http://schemas.microsoft.com/office/drawing/2014/main" val="10000"/>
                  </a:ext>
                </a:extLst>
              </a:tr>
              <a:tr h="1584054">
                <a:tc>
                  <a:txBody>
                    <a:bodyPr/>
                    <a:lstStyle/>
                    <a:p>
                      <a:pPr>
                        <a:lnSpc>
                          <a:spcPct val="100000"/>
                        </a:lnSpc>
                      </a:pPr>
                      <a:r>
                        <a:rPr lang="en-US" sz="1800" b="1" dirty="0"/>
                        <a:t>Comprehensive Study of Driver Behavior Monitoring Systems Using Computer Vision and Machine Learning Techniques</a:t>
                      </a:r>
                      <a:r>
                        <a:rPr lang="en-US" sz="1800" dirty="0"/>
                        <a:t/>
                      </a:r>
                      <a:br>
                        <a:rPr lang="en-US" sz="1800" dirty="0"/>
                      </a:br>
                      <a:r>
                        <a:rPr lang="en-US" sz="1800" i="1" dirty="0"/>
                        <a:t>(</a:t>
                      </a:r>
                      <a:r>
                        <a:rPr lang="en-US" sz="1800" i="1" dirty="0" err="1"/>
                        <a:t>Fangming</a:t>
                      </a:r>
                      <a:r>
                        <a:rPr lang="en-US" sz="1800" i="1" dirty="0"/>
                        <a:t> Qu et al., Journal of Big Data, 2024)</a:t>
                      </a:r>
                      <a:endParaRPr sz="1800" dirty="0">
                        <a:latin typeface="Times New Roman"/>
                        <a:cs typeface="Times New Roman"/>
                      </a:endParaRPr>
                    </a:p>
                  </a:txBody>
                  <a:tcPr marL="0" marR="0" marT="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FD4EA"/>
                    </a:solidFill>
                  </a:tcPr>
                </a:tc>
                <a:tc>
                  <a:txBody>
                    <a:bodyPr/>
                    <a:lstStyle/>
                    <a:p>
                      <a:pPr>
                        <a:lnSpc>
                          <a:spcPct val="100000"/>
                        </a:lnSpc>
                      </a:pPr>
                      <a:r>
                        <a:rPr lang="en-US" sz="1800" dirty="0"/>
                        <a:t>A </a:t>
                      </a:r>
                      <a:r>
                        <a:rPr lang="en-US" sz="1800" b="1" dirty="0"/>
                        <a:t>survey study</a:t>
                      </a:r>
                      <a:r>
                        <a:rPr lang="en-US" sz="1800" dirty="0"/>
                        <a:t> reviewing AI and ML techniques (CNNs, RNNs, hybrid systems) for driver monitoring. Covers in-cabin facial, hand, and body posture detection using computer vision.</a:t>
                      </a:r>
                      <a:endParaRPr sz="1800" dirty="0">
                        <a:latin typeface="Times New Roman"/>
                        <a:cs typeface="Times New Roman"/>
                      </a:endParaRPr>
                    </a:p>
                  </a:txBody>
                  <a:tcPr marL="0" marR="0" marT="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FD4EA"/>
                    </a:solidFill>
                  </a:tcPr>
                </a:tc>
                <a:tc>
                  <a:txBody>
                    <a:bodyPr/>
                    <a:lstStyle/>
                    <a:p>
                      <a:pPr>
                        <a:lnSpc>
                          <a:spcPct val="100000"/>
                        </a:lnSpc>
                      </a:pPr>
                      <a:r>
                        <a:rPr lang="en-US" sz="1800" dirty="0"/>
                        <a:t>Provided a </a:t>
                      </a:r>
                      <a:r>
                        <a:rPr lang="en-US" sz="1800" b="1" dirty="0"/>
                        <a:t>taxonomy of techniques and datasets</a:t>
                      </a:r>
                      <a:r>
                        <a:rPr lang="en-US" sz="1800" dirty="0"/>
                        <a:t>; identified hybrid (CV + ML) systems as most promising.</a:t>
                      </a:r>
                      <a:endParaRPr sz="1800" dirty="0">
                        <a:latin typeface="Times New Roman"/>
                        <a:cs typeface="Times New Roman"/>
                      </a:endParaRPr>
                    </a:p>
                  </a:txBody>
                  <a:tcPr marL="0" marR="0" marT="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FD4EA"/>
                    </a:solidFill>
                  </a:tcPr>
                </a:tc>
                <a:tc>
                  <a:txBody>
                    <a:bodyPr/>
                    <a:lstStyle/>
                    <a:p>
                      <a:pPr>
                        <a:lnSpc>
                          <a:spcPct val="100000"/>
                        </a:lnSpc>
                      </a:pPr>
                      <a:r>
                        <a:rPr lang="en-US" sz="1800" dirty="0"/>
                        <a:t>No implementation; purely theoretical; lacks quantitative evaluation.</a:t>
                      </a:r>
                      <a:endParaRPr sz="1800" dirty="0">
                        <a:latin typeface="Times New Roman"/>
                        <a:cs typeface="Times New Roman"/>
                      </a:endParaRPr>
                    </a:p>
                  </a:txBody>
                  <a:tcPr marL="0" marR="0" marT="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FD4EA"/>
                    </a:solidFill>
                  </a:tcPr>
                </a:tc>
                <a:extLst>
                  <a:ext uri="{0D108BD9-81ED-4DB2-BD59-A6C34878D82A}">
                    <a16:rowId xmlns="" xmlns:a16="http://schemas.microsoft.com/office/drawing/2014/main" val="10001"/>
                  </a:ext>
                </a:extLst>
              </a:tr>
              <a:tr h="1581343">
                <a:tc>
                  <a:txBody>
                    <a:bodyPr/>
                    <a:lstStyle/>
                    <a:p>
                      <a:pPr>
                        <a:lnSpc>
                          <a:spcPct val="100000"/>
                        </a:lnSpc>
                      </a:pPr>
                      <a:r>
                        <a:rPr lang="en-US" b="1" dirty="0"/>
                        <a:t>Deep Learning Model for Driver Behavior Detection in Cyber-Physical System-Based Intelligent Transport Systems</a:t>
                      </a:r>
                      <a:r>
                        <a:rPr lang="en-US" dirty="0"/>
                        <a:t/>
                      </a:r>
                      <a:br>
                        <a:rPr lang="en-US" dirty="0"/>
                      </a:br>
                      <a:r>
                        <a:rPr lang="en-US" i="1" dirty="0"/>
                        <a:t>(</a:t>
                      </a:r>
                      <a:r>
                        <a:rPr lang="en-US" i="1" dirty="0" err="1"/>
                        <a:t>Brij</a:t>
                      </a:r>
                      <a:r>
                        <a:rPr lang="en-US" i="1" dirty="0"/>
                        <a:t> B. Gupta et al., IEEE Access, 2024)</a:t>
                      </a:r>
                      <a:endParaRPr sz="1800" dirty="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a:txBody>
                    <a:bodyPr/>
                    <a:lstStyle/>
                    <a:p>
                      <a:pPr>
                        <a:lnSpc>
                          <a:spcPct val="100000"/>
                        </a:lnSpc>
                      </a:pPr>
                      <a:r>
                        <a:rPr lang="en-US" dirty="0"/>
                        <a:t>Developed a </a:t>
                      </a:r>
                      <a:r>
                        <a:rPr lang="en-US" b="1" dirty="0"/>
                        <a:t>CNN-based deep learning model</a:t>
                      </a:r>
                      <a:r>
                        <a:rPr lang="en-US" dirty="0"/>
                        <a:t> integrated into </a:t>
                      </a:r>
                      <a:r>
                        <a:rPr lang="en-US" b="1" dirty="0"/>
                        <a:t>Cyber-Physical Systems (CPS)</a:t>
                      </a:r>
                      <a:r>
                        <a:rPr lang="en-US" dirty="0"/>
                        <a:t> for detecting fatigue, yawning, and eye states within </a:t>
                      </a:r>
                      <a:r>
                        <a:rPr lang="en-US" b="1" dirty="0"/>
                        <a:t>Intelligent Transport Systems (ITS)</a:t>
                      </a:r>
                      <a:r>
                        <a:rPr lang="en-US" dirty="0"/>
                        <a:t>.</a:t>
                      </a:r>
                      <a:endParaRPr sz="1800" dirty="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a:txBody>
                    <a:bodyPr/>
                    <a:lstStyle/>
                    <a:p>
                      <a:pPr>
                        <a:lnSpc>
                          <a:spcPct val="100000"/>
                        </a:lnSpc>
                      </a:pPr>
                      <a:r>
                        <a:rPr lang="en-US" dirty="0"/>
                        <a:t>Achieved </a:t>
                      </a:r>
                      <a:r>
                        <a:rPr lang="en-US" b="1" dirty="0"/>
                        <a:t>94% accuracy</a:t>
                      </a:r>
                      <a:r>
                        <a:rPr lang="en-US" dirty="0"/>
                        <a:t>; validated potential for real-time monitoring in CPS-enabled ITS.</a:t>
                      </a:r>
                      <a:endParaRPr sz="1800" dirty="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a:txBody>
                    <a:bodyPr/>
                    <a:lstStyle/>
                    <a:p>
                      <a:pPr>
                        <a:lnSpc>
                          <a:spcPct val="100000"/>
                        </a:lnSpc>
                      </a:pPr>
                      <a:r>
                        <a:rPr lang="en-US" dirty="0"/>
                        <a:t>Requires large labeled datasets; high computation for training; needs optimization for embedded use.</a:t>
                      </a:r>
                      <a:endParaRPr sz="1800" dirty="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extLst>
                  <a:ext uri="{0D108BD9-81ED-4DB2-BD59-A6C34878D82A}">
                    <a16:rowId xmlns="" xmlns:a16="http://schemas.microsoft.com/office/drawing/2014/main" val="10002"/>
                  </a:ext>
                </a:extLst>
              </a:tr>
            </a:tbl>
          </a:graphicData>
        </a:graphic>
      </p:graphicFrame>
      <p:sp>
        <p:nvSpPr>
          <p:cNvPr id="3" name="object 4"/>
          <p:cNvSpPr txBox="1">
            <a:spLocks noGrp="1"/>
          </p:cNvSpPr>
          <p:nvPr>
            <p:ph type="title"/>
          </p:nvPr>
        </p:nvSpPr>
        <p:spPr>
          <a:xfrm>
            <a:off x="6172200" y="1143000"/>
            <a:ext cx="4666869" cy="427736"/>
          </a:xfrm>
          <a:prstGeom prst="rect">
            <a:avLst/>
          </a:prstGeom>
        </p:spPr>
        <p:txBody>
          <a:bodyPr vert="horz" wrap="square" lIns="0" tIns="12700" rIns="0" bIns="0" rtlCol="0">
            <a:spAutoFit/>
          </a:bodyPr>
          <a:lstStyle/>
          <a:p>
            <a:pPr marL="12700">
              <a:lnSpc>
                <a:spcPct val="100000"/>
              </a:lnSpc>
              <a:spcBef>
                <a:spcPts val="100"/>
              </a:spcBef>
            </a:pPr>
            <a:r>
              <a:rPr dirty="0"/>
              <a:t>Literature</a:t>
            </a:r>
            <a:r>
              <a:rPr spc="-145" dirty="0"/>
              <a:t> </a:t>
            </a:r>
            <a:r>
              <a:rPr dirty="0"/>
              <a:t>Survey/Existing</a:t>
            </a:r>
            <a:r>
              <a:rPr spc="-140" dirty="0"/>
              <a:t> </a:t>
            </a:r>
            <a:r>
              <a:rPr spc="-10" dirty="0"/>
              <a:t>System</a:t>
            </a:r>
          </a:p>
        </p:txBody>
      </p:sp>
      <p:sp>
        <p:nvSpPr>
          <p:cNvPr id="4" name="object 2"/>
          <p:cNvSpPr/>
          <p:nvPr/>
        </p:nvSpPr>
        <p:spPr>
          <a:xfrm>
            <a:off x="3581400" y="1676400"/>
            <a:ext cx="7620000" cy="36830"/>
          </a:xfrm>
          <a:custGeom>
            <a:avLst/>
            <a:gdLst/>
            <a:ahLst/>
            <a:cxnLst/>
            <a:rect l="l" t="t" r="r" b="b"/>
            <a:pathLst>
              <a:path w="7620000" h="36830">
                <a:moveTo>
                  <a:pt x="7620000" y="0"/>
                </a:moveTo>
                <a:lnTo>
                  <a:pt x="0" y="0"/>
                </a:lnTo>
                <a:lnTo>
                  <a:pt x="0" y="36512"/>
                </a:lnTo>
                <a:lnTo>
                  <a:pt x="7620000" y="36512"/>
                </a:lnTo>
                <a:lnTo>
                  <a:pt x="7620000" y="0"/>
                </a:lnTo>
                <a:close/>
              </a:path>
            </a:pathLst>
          </a:custGeom>
          <a:solidFill>
            <a:srgbClr val="33CCCC"/>
          </a:solidFill>
        </p:spPr>
        <p:txBody>
          <a:bodyPr wrap="square" lIns="0" tIns="0" rIns="0" bIns="0" rtlCol="0"/>
          <a:lstStyle/>
          <a:p>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5"/>
          <p:cNvGraphicFramePr>
            <a:graphicFrameLocks noGrp="1"/>
          </p:cNvGraphicFramePr>
          <p:nvPr>
            <p:extLst>
              <p:ext uri="{D42A27DB-BD31-4B8C-83A1-F6EECF244321}">
                <p14:modId xmlns:p14="http://schemas.microsoft.com/office/powerpoint/2010/main" val="2065066662"/>
              </p:ext>
            </p:extLst>
          </p:nvPr>
        </p:nvGraphicFramePr>
        <p:xfrm>
          <a:off x="533400" y="1905000"/>
          <a:ext cx="11353800" cy="4556242"/>
        </p:xfrm>
        <a:graphic>
          <a:graphicData uri="http://schemas.openxmlformats.org/drawingml/2006/table">
            <a:tbl>
              <a:tblPr firstRow="1" bandRow="1">
                <a:tableStyleId>{2D5ABB26-0587-4C30-8999-92F81FD0307C}</a:tableStyleId>
              </a:tblPr>
              <a:tblGrid>
                <a:gridCol w="3273715">
                  <a:extLst>
                    <a:ext uri="{9D8B030D-6E8A-4147-A177-3AD203B41FA5}">
                      <a16:colId xmlns="" xmlns:a16="http://schemas.microsoft.com/office/drawing/2014/main" val="20000"/>
                    </a:ext>
                  </a:extLst>
                </a:gridCol>
                <a:gridCol w="2879873">
                  <a:extLst>
                    <a:ext uri="{9D8B030D-6E8A-4147-A177-3AD203B41FA5}">
                      <a16:colId xmlns="" xmlns:a16="http://schemas.microsoft.com/office/drawing/2014/main" val="20001"/>
                    </a:ext>
                  </a:extLst>
                </a:gridCol>
                <a:gridCol w="2860117">
                  <a:extLst>
                    <a:ext uri="{9D8B030D-6E8A-4147-A177-3AD203B41FA5}">
                      <a16:colId xmlns="" xmlns:a16="http://schemas.microsoft.com/office/drawing/2014/main" val="20002"/>
                    </a:ext>
                  </a:extLst>
                </a:gridCol>
                <a:gridCol w="2340095">
                  <a:extLst>
                    <a:ext uri="{9D8B030D-6E8A-4147-A177-3AD203B41FA5}">
                      <a16:colId xmlns="" xmlns:a16="http://schemas.microsoft.com/office/drawing/2014/main" val="20003"/>
                    </a:ext>
                  </a:extLst>
                </a:gridCol>
              </a:tblGrid>
              <a:tr h="533400">
                <a:tc>
                  <a:txBody>
                    <a:bodyPr/>
                    <a:lstStyle/>
                    <a:p>
                      <a:pPr marL="91440" marR="104775">
                        <a:lnSpc>
                          <a:spcPct val="100000"/>
                        </a:lnSpc>
                        <a:spcBef>
                          <a:spcPts val="244"/>
                        </a:spcBef>
                      </a:pPr>
                      <a:r>
                        <a:rPr sz="1800" b="1" dirty="0">
                          <a:solidFill>
                            <a:srgbClr val="FFFFFF"/>
                          </a:solidFill>
                          <a:latin typeface="Calibri"/>
                          <a:cs typeface="Calibri"/>
                        </a:rPr>
                        <a:t>Details</a:t>
                      </a:r>
                      <a:r>
                        <a:rPr sz="1800" b="1" spc="-70" dirty="0">
                          <a:solidFill>
                            <a:srgbClr val="FFFFFF"/>
                          </a:solidFill>
                          <a:latin typeface="Calibri"/>
                          <a:cs typeface="Calibri"/>
                        </a:rPr>
                        <a:t> </a:t>
                      </a:r>
                      <a:r>
                        <a:rPr sz="1800" b="1" dirty="0">
                          <a:solidFill>
                            <a:srgbClr val="FFFFFF"/>
                          </a:solidFill>
                          <a:latin typeface="Calibri"/>
                          <a:cs typeface="Calibri"/>
                        </a:rPr>
                        <a:t>of</a:t>
                      </a:r>
                      <a:r>
                        <a:rPr sz="1800" b="1" spc="-35" dirty="0">
                          <a:solidFill>
                            <a:srgbClr val="FFFFFF"/>
                          </a:solidFill>
                          <a:latin typeface="Calibri"/>
                          <a:cs typeface="Calibri"/>
                        </a:rPr>
                        <a:t> </a:t>
                      </a:r>
                      <a:r>
                        <a:rPr sz="1800" b="1" spc="-10" dirty="0">
                          <a:solidFill>
                            <a:srgbClr val="FFFFFF"/>
                          </a:solidFill>
                          <a:latin typeface="Calibri"/>
                          <a:cs typeface="Calibri"/>
                        </a:rPr>
                        <a:t>Paper- </a:t>
                      </a:r>
                      <a:r>
                        <a:rPr sz="1800" b="1" dirty="0">
                          <a:solidFill>
                            <a:srgbClr val="FFFFFF"/>
                          </a:solidFill>
                          <a:latin typeface="Calibri"/>
                          <a:cs typeface="Calibri"/>
                        </a:rPr>
                        <a:t>Title,</a:t>
                      </a:r>
                      <a:r>
                        <a:rPr sz="1800" b="1" spc="-20" dirty="0">
                          <a:solidFill>
                            <a:srgbClr val="FFFFFF"/>
                          </a:solidFill>
                          <a:latin typeface="Calibri"/>
                          <a:cs typeface="Calibri"/>
                        </a:rPr>
                        <a:t> </a:t>
                      </a:r>
                      <a:r>
                        <a:rPr sz="1800" b="1" spc="-10" dirty="0">
                          <a:solidFill>
                            <a:srgbClr val="FFFFFF"/>
                          </a:solidFill>
                          <a:latin typeface="Calibri"/>
                          <a:cs typeface="Calibri"/>
                        </a:rPr>
                        <a:t>author, conference</a:t>
                      </a:r>
                      <a:r>
                        <a:rPr sz="1800" b="1" spc="-40" dirty="0">
                          <a:solidFill>
                            <a:srgbClr val="FFFFFF"/>
                          </a:solidFill>
                          <a:latin typeface="Calibri"/>
                          <a:cs typeface="Calibri"/>
                        </a:rPr>
                        <a:t> </a:t>
                      </a:r>
                      <a:r>
                        <a:rPr sz="1800" b="1" spc="-10" dirty="0">
                          <a:solidFill>
                            <a:srgbClr val="FFFFFF"/>
                          </a:solidFill>
                          <a:latin typeface="Calibri"/>
                          <a:cs typeface="Calibri"/>
                        </a:rPr>
                        <a:t>/Journal</a:t>
                      </a:r>
                      <a:endParaRPr sz="1800" dirty="0">
                        <a:latin typeface="Calibri"/>
                        <a:cs typeface="Calibri"/>
                      </a:endParaRPr>
                    </a:p>
                  </a:txBody>
                  <a:tcPr marL="0" marR="0" marT="31114"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471C4"/>
                    </a:solidFill>
                  </a:tcPr>
                </a:tc>
                <a:tc>
                  <a:txBody>
                    <a:bodyPr/>
                    <a:lstStyle/>
                    <a:p>
                      <a:pPr marL="91440">
                        <a:lnSpc>
                          <a:spcPct val="100000"/>
                        </a:lnSpc>
                        <a:spcBef>
                          <a:spcPts val="244"/>
                        </a:spcBef>
                      </a:pPr>
                      <a:r>
                        <a:rPr sz="1800" b="1" dirty="0">
                          <a:solidFill>
                            <a:srgbClr val="FFFFFF"/>
                          </a:solidFill>
                          <a:latin typeface="Calibri"/>
                          <a:cs typeface="Calibri"/>
                        </a:rPr>
                        <a:t>Methodology</a:t>
                      </a:r>
                      <a:r>
                        <a:rPr sz="1800" b="1" spc="-45" dirty="0">
                          <a:solidFill>
                            <a:srgbClr val="FFFFFF"/>
                          </a:solidFill>
                          <a:latin typeface="Calibri"/>
                          <a:cs typeface="Calibri"/>
                        </a:rPr>
                        <a:t> </a:t>
                      </a:r>
                      <a:r>
                        <a:rPr sz="1800" b="1" spc="-20" dirty="0">
                          <a:solidFill>
                            <a:srgbClr val="FFFFFF"/>
                          </a:solidFill>
                          <a:latin typeface="Calibri"/>
                          <a:cs typeface="Calibri"/>
                        </a:rPr>
                        <a:t>Used</a:t>
                      </a:r>
                      <a:endParaRPr sz="1800">
                        <a:latin typeface="Calibri"/>
                        <a:cs typeface="Calibri"/>
                      </a:endParaRPr>
                    </a:p>
                  </a:txBody>
                  <a:tcPr marL="0" marR="0" marT="31114"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471C4"/>
                    </a:solidFill>
                  </a:tcPr>
                </a:tc>
                <a:tc>
                  <a:txBody>
                    <a:bodyPr/>
                    <a:lstStyle/>
                    <a:p>
                      <a:pPr marL="92075">
                        <a:lnSpc>
                          <a:spcPct val="100000"/>
                        </a:lnSpc>
                        <a:spcBef>
                          <a:spcPts val="244"/>
                        </a:spcBef>
                      </a:pPr>
                      <a:r>
                        <a:rPr sz="1800" b="1" spc="-10" dirty="0">
                          <a:solidFill>
                            <a:srgbClr val="FFFFFF"/>
                          </a:solidFill>
                          <a:latin typeface="Calibri"/>
                          <a:cs typeface="Calibri"/>
                        </a:rPr>
                        <a:t>Result</a:t>
                      </a:r>
                      <a:endParaRPr sz="1800" dirty="0">
                        <a:latin typeface="Calibri"/>
                        <a:cs typeface="Calibri"/>
                      </a:endParaRPr>
                    </a:p>
                  </a:txBody>
                  <a:tcPr marL="0" marR="0" marT="31114"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471C4"/>
                    </a:solidFill>
                  </a:tcPr>
                </a:tc>
                <a:tc>
                  <a:txBody>
                    <a:bodyPr/>
                    <a:lstStyle/>
                    <a:p>
                      <a:pPr marL="92075">
                        <a:lnSpc>
                          <a:spcPct val="100000"/>
                        </a:lnSpc>
                        <a:spcBef>
                          <a:spcPts val="244"/>
                        </a:spcBef>
                      </a:pPr>
                      <a:r>
                        <a:rPr sz="1800" b="1" spc="-10" dirty="0">
                          <a:solidFill>
                            <a:srgbClr val="FFFFFF"/>
                          </a:solidFill>
                          <a:latin typeface="Calibri"/>
                          <a:cs typeface="Calibri"/>
                        </a:rPr>
                        <a:t>Limitations</a:t>
                      </a:r>
                      <a:endParaRPr sz="1800" dirty="0">
                        <a:latin typeface="Calibri"/>
                        <a:cs typeface="Calibri"/>
                      </a:endParaRPr>
                    </a:p>
                  </a:txBody>
                  <a:tcPr marL="0" marR="0" marT="31114"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471C4"/>
                    </a:solidFill>
                  </a:tcPr>
                </a:tc>
                <a:extLst>
                  <a:ext uri="{0D108BD9-81ED-4DB2-BD59-A6C34878D82A}">
                    <a16:rowId xmlns="" xmlns:a16="http://schemas.microsoft.com/office/drawing/2014/main" val="10000"/>
                  </a:ext>
                </a:extLst>
              </a:tr>
              <a:tr h="1988244">
                <a:tc>
                  <a:txBody>
                    <a:bodyPr/>
                    <a:lstStyle/>
                    <a:p>
                      <a:pPr>
                        <a:lnSpc>
                          <a:spcPct val="100000"/>
                        </a:lnSpc>
                      </a:pPr>
                      <a:r>
                        <a:rPr lang="en-US" b="1" dirty="0"/>
                        <a:t>Naturalistic Driving Data-Based Anomalous Driving Behavior Detection Using </a:t>
                      </a:r>
                      <a:r>
                        <a:rPr lang="en-US" b="1" dirty="0" err="1"/>
                        <a:t>Hypertuned</a:t>
                      </a:r>
                      <a:r>
                        <a:rPr lang="en-US" b="1" dirty="0"/>
                        <a:t> Deep </a:t>
                      </a:r>
                      <a:r>
                        <a:rPr lang="en-US" b="1" dirty="0" err="1"/>
                        <a:t>Autoencoders</a:t>
                      </a:r>
                      <a:r>
                        <a:rPr lang="en-US" dirty="0"/>
                        <a:t/>
                      </a:r>
                      <a:br>
                        <a:rPr lang="en-US" dirty="0"/>
                      </a:br>
                      <a:r>
                        <a:rPr lang="en-US" i="1" dirty="0"/>
                        <a:t>(</a:t>
                      </a:r>
                      <a:r>
                        <a:rPr lang="en-US" i="1" dirty="0" err="1"/>
                        <a:t>Shafqat</a:t>
                      </a:r>
                      <a:r>
                        <a:rPr lang="en-US" i="1" dirty="0"/>
                        <a:t> Abbas et al., Electronics, 2023)</a:t>
                      </a:r>
                      <a:endParaRPr sz="1800" dirty="0">
                        <a:latin typeface="Times New Roman"/>
                        <a:cs typeface="Times New Roman"/>
                      </a:endParaRPr>
                    </a:p>
                  </a:txBody>
                  <a:tcPr marL="0" marR="0" marT="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FD4EA"/>
                    </a:solidFill>
                  </a:tcPr>
                </a:tc>
                <a:tc>
                  <a:txBody>
                    <a:bodyPr/>
                    <a:lstStyle/>
                    <a:p>
                      <a:pPr>
                        <a:lnSpc>
                          <a:spcPct val="100000"/>
                        </a:lnSpc>
                      </a:pPr>
                      <a:r>
                        <a:rPr lang="en-US" dirty="0"/>
                        <a:t>Used </a:t>
                      </a:r>
                      <a:r>
                        <a:rPr lang="en-US" b="1" dirty="0"/>
                        <a:t>Modified Z-score–based Deep </a:t>
                      </a:r>
                      <a:r>
                        <a:rPr lang="en-US" b="1" dirty="0" err="1"/>
                        <a:t>Autoencoder</a:t>
                      </a:r>
                      <a:r>
                        <a:rPr lang="en-US" dirty="0"/>
                        <a:t> to detect anomalies in </a:t>
                      </a:r>
                      <a:r>
                        <a:rPr lang="en-US" b="1" dirty="0"/>
                        <a:t>NGSIM vehicle trajectory data</a:t>
                      </a:r>
                      <a:r>
                        <a:rPr lang="en-US" dirty="0"/>
                        <a:t>; focused on unsupervised anomaly detection.</a:t>
                      </a:r>
                      <a:endParaRPr sz="1800" dirty="0">
                        <a:latin typeface="Times New Roman"/>
                        <a:cs typeface="Times New Roman"/>
                      </a:endParaRPr>
                    </a:p>
                  </a:txBody>
                  <a:tcPr marL="0" marR="0" marT="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FD4EA"/>
                    </a:solidFill>
                  </a:tcPr>
                </a:tc>
                <a:tc>
                  <a:txBody>
                    <a:bodyPr/>
                    <a:lstStyle/>
                    <a:p>
                      <a:pPr>
                        <a:lnSpc>
                          <a:spcPct val="100000"/>
                        </a:lnSpc>
                      </a:pPr>
                      <a:r>
                        <a:rPr lang="en-US" dirty="0"/>
                        <a:t>Detected </a:t>
                      </a:r>
                      <a:r>
                        <a:rPr lang="en-US" b="1" dirty="0"/>
                        <a:t>7.86% anomalies (96.31% accuracy)</a:t>
                      </a:r>
                      <a:r>
                        <a:rPr lang="en-US" dirty="0"/>
                        <a:t> without early stopping; </a:t>
                      </a:r>
                      <a:r>
                        <a:rPr lang="en-US" b="1" dirty="0"/>
                        <a:t>95.25%</a:t>
                      </a:r>
                      <a:r>
                        <a:rPr lang="en-US" dirty="0"/>
                        <a:t> with early stopping.</a:t>
                      </a:r>
                      <a:endParaRPr sz="1800" dirty="0">
                        <a:latin typeface="Times New Roman"/>
                        <a:cs typeface="Times New Roman"/>
                      </a:endParaRPr>
                    </a:p>
                  </a:txBody>
                  <a:tcPr marL="0" marR="0" marT="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FD4EA"/>
                    </a:solidFill>
                  </a:tcPr>
                </a:tc>
                <a:tc>
                  <a:txBody>
                    <a:bodyPr/>
                    <a:lstStyle/>
                    <a:p>
                      <a:pPr>
                        <a:lnSpc>
                          <a:spcPct val="100000"/>
                        </a:lnSpc>
                      </a:pPr>
                      <a:r>
                        <a:rPr lang="en-US" dirty="0"/>
                        <a:t>Focused only on vehicle trajectory data; limited to simulated (not real-time) environments.</a:t>
                      </a:r>
                      <a:endParaRPr sz="1800" dirty="0">
                        <a:latin typeface="Times New Roman"/>
                        <a:cs typeface="Times New Roman"/>
                      </a:endParaRPr>
                    </a:p>
                  </a:txBody>
                  <a:tcPr marL="0" marR="0" marT="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FD4EA"/>
                    </a:solidFill>
                  </a:tcPr>
                </a:tc>
                <a:extLst>
                  <a:ext uri="{0D108BD9-81ED-4DB2-BD59-A6C34878D82A}">
                    <a16:rowId xmlns="" xmlns:a16="http://schemas.microsoft.com/office/drawing/2014/main" val="10001"/>
                  </a:ext>
                </a:extLst>
              </a:tr>
              <a:tr h="1988244">
                <a:tc>
                  <a:txBody>
                    <a:bodyPr/>
                    <a:lstStyle/>
                    <a:p>
                      <a:pPr>
                        <a:lnSpc>
                          <a:spcPct val="100000"/>
                        </a:lnSpc>
                      </a:pPr>
                      <a:r>
                        <a:rPr lang="en-US" b="1" dirty="0"/>
                        <a:t>An Enhanced Deep Neural Network Model for Detection of Anomalous Behavior of Drivers in Road Traffic</a:t>
                      </a:r>
                      <a:r>
                        <a:rPr lang="en-US" dirty="0"/>
                        <a:t/>
                      </a:r>
                      <a:br>
                        <a:rPr lang="en-US" dirty="0"/>
                      </a:br>
                      <a:r>
                        <a:rPr lang="en-US" i="1" dirty="0"/>
                        <a:t>(2024, Wiley Journal of Surveillance)</a:t>
                      </a:r>
                      <a:endParaRPr sz="1800" dirty="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a:txBody>
                    <a:bodyPr/>
                    <a:lstStyle/>
                    <a:p>
                      <a:pPr>
                        <a:lnSpc>
                          <a:spcPct val="100000"/>
                        </a:lnSpc>
                      </a:pPr>
                      <a:r>
                        <a:rPr lang="en-US" dirty="0"/>
                        <a:t>Designed a </a:t>
                      </a:r>
                      <a:r>
                        <a:rPr lang="en-US" b="1" dirty="0"/>
                        <a:t>hybrid deep model</a:t>
                      </a:r>
                      <a:r>
                        <a:rPr lang="en-US" dirty="0"/>
                        <a:t> using </a:t>
                      </a:r>
                      <a:r>
                        <a:rPr lang="en-US" b="1" dirty="0" err="1"/>
                        <a:t>MobileNet</a:t>
                      </a:r>
                      <a:r>
                        <a:rPr lang="en-US" b="1" dirty="0"/>
                        <a:t> + ResNet50 + VGG19</a:t>
                      </a:r>
                      <a:r>
                        <a:rPr lang="en-US" dirty="0"/>
                        <a:t> with </a:t>
                      </a:r>
                      <a:r>
                        <a:rPr lang="en-US" b="1" dirty="0"/>
                        <a:t>YOLOv3</a:t>
                      </a:r>
                      <a:r>
                        <a:rPr lang="en-US" dirty="0"/>
                        <a:t> for video-based detection of </a:t>
                      </a:r>
                      <a:r>
                        <a:rPr lang="en-US" dirty="0" err="1"/>
                        <a:t>overspeeding</a:t>
                      </a:r>
                      <a:r>
                        <a:rPr lang="en-US" dirty="0"/>
                        <a:t>, no-stopping, spacing, and signal violations.</a:t>
                      </a:r>
                      <a:endParaRPr sz="1800" dirty="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a:txBody>
                    <a:bodyPr/>
                    <a:lstStyle/>
                    <a:p>
                      <a:pPr>
                        <a:lnSpc>
                          <a:spcPct val="100000"/>
                        </a:lnSpc>
                      </a:pPr>
                      <a:r>
                        <a:rPr lang="en-US" dirty="0"/>
                        <a:t>Achieved </a:t>
                      </a:r>
                      <a:r>
                        <a:rPr lang="en-US" b="1" dirty="0"/>
                        <a:t>95% accuracy</a:t>
                      </a:r>
                      <a:r>
                        <a:rPr lang="en-US" dirty="0"/>
                        <a:t> across four anomaly types using 60,000+ video frames.</a:t>
                      </a:r>
                      <a:endParaRPr sz="1800" dirty="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a:txBody>
                    <a:bodyPr/>
                    <a:lstStyle/>
                    <a:p>
                      <a:pPr>
                        <a:lnSpc>
                          <a:spcPct val="100000"/>
                        </a:lnSpc>
                      </a:pPr>
                      <a:r>
                        <a:rPr lang="en-US" dirty="0"/>
                        <a:t>Limited anomaly categories; requires large annotated video data; not yet real-time.</a:t>
                      </a:r>
                      <a:endParaRPr sz="1800" dirty="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extLst>
                  <a:ext uri="{0D108BD9-81ED-4DB2-BD59-A6C34878D82A}">
                    <a16:rowId xmlns="" xmlns:a16="http://schemas.microsoft.com/office/drawing/2014/main" val="10002"/>
                  </a:ext>
                </a:extLst>
              </a:tr>
            </a:tbl>
          </a:graphicData>
        </a:graphic>
      </p:graphicFrame>
      <p:sp>
        <p:nvSpPr>
          <p:cNvPr id="3" name="object 2"/>
          <p:cNvSpPr/>
          <p:nvPr/>
        </p:nvSpPr>
        <p:spPr>
          <a:xfrm>
            <a:off x="3581400" y="1676400"/>
            <a:ext cx="7620000" cy="36830"/>
          </a:xfrm>
          <a:custGeom>
            <a:avLst/>
            <a:gdLst/>
            <a:ahLst/>
            <a:cxnLst/>
            <a:rect l="l" t="t" r="r" b="b"/>
            <a:pathLst>
              <a:path w="7620000" h="36830">
                <a:moveTo>
                  <a:pt x="7620000" y="0"/>
                </a:moveTo>
                <a:lnTo>
                  <a:pt x="0" y="0"/>
                </a:lnTo>
                <a:lnTo>
                  <a:pt x="0" y="36512"/>
                </a:lnTo>
                <a:lnTo>
                  <a:pt x="7620000" y="36512"/>
                </a:lnTo>
                <a:lnTo>
                  <a:pt x="7620000" y="0"/>
                </a:lnTo>
                <a:close/>
              </a:path>
            </a:pathLst>
          </a:custGeom>
          <a:solidFill>
            <a:srgbClr val="33CCCC"/>
          </a:solidFill>
        </p:spPr>
        <p:txBody>
          <a:bodyPr wrap="square" lIns="0" tIns="0" rIns="0" bIns="0" rtlCol="0"/>
          <a:lstStyle/>
          <a:p>
            <a:endParaRPr/>
          </a:p>
        </p:txBody>
      </p:sp>
      <p:sp>
        <p:nvSpPr>
          <p:cNvPr id="4" name="Rectangle 3"/>
          <p:cNvSpPr/>
          <p:nvPr/>
        </p:nvSpPr>
        <p:spPr>
          <a:xfrm>
            <a:off x="6172200" y="1143000"/>
            <a:ext cx="4824398" cy="461665"/>
          </a:xfrm>
          <a:prstGeom prst="rect">
            <a:avLst/>
          </a:prstGeom>
        </p:spPr>
        <p:txBody>
          <a:bodyPr wrap="none">
            <a:spAutoFit/>
          </a:bodyPr>
          <a:lstStyle/>
          <a:p>
            <a:r>
              <a:rPr lang="en-US" sz="2400" dirty="0">
                <a:solidFill>
                  <a:srgbClr val="FF0000"/>
                </a:solidFill>
                <a:latin typeface="Trebuchet MS" panose="020B0603020202020204" pitchFamily="34" charset="0"/>
              </a:rPr>
              <a:t>Literature</a:t>
            </a:r>
            <a:r>
              <a:rPr lang="en-US" sz="2400" spc="-145" dirty="0">
                <a:solidFill>
                  <a:srgbClr val="FF0000"/>
                </a:solidFill>
                <a:latin typeface="Trebuchet MS" panose="020B0603020202020204" pitchFamily="34" charset="0"/>
              </a:rPr>
              <a:t> </a:t>
            </a:r>
            <a:r>
              <a:rPr lang="en-US" sz="2400" dirty="0">
                <a:solidFill>
                  <a:srgbClr val="FF0000"/>
                </a:solidFill>
                <a:latin typeface="Trebuchet MS" panose="020B0603020202020204" pitchFamily="34" charset="0"/>
              </a:rPr>
              <a:t>Survey/Existing</a:t>
            </a:r>
            <a:r>
              <a:rPr lang="en-US" sz="2400" spc="-140" dirty="0">
                <a:solidFill>
                  <a:srgbClr val="FF0000"/>
                </a:solidFill>
                <a:latin typeface="Trebuchet MS" panose="020B0603020202020204" pitchFamily="34" charset="0"/>
              </a:rPr>
              <a:t> </a:t>
            </a:r>
            <a:r>
              <a:rPr lang="en-US" sz="2400" spc="-10" dirty="0">
                <a:solidFill>
                  <a:srgbClr val="FF0000"/>
                </a:solidFill>
                <a:latin typeface="Trebuchet MS" panose="020B0603020202020204" pitchFamily="34" charset="0"/>
              </a:rPr>
              <a:t>System</a:t>
            </a:r>
            <a:endParaRPr lang="en-US" sz="2400" dirty="0">
              <a:solidFill>
                <a:srgbClr val="FF0000"/>
              </a:solidFill>
              <a:latin typeface="Trebuchet MS" panose="020B0603020202020204" pitchFamily="34" charset="0"/>
            </a:endParaRPr>
          </a:p>
        </p:txBody>
      </p:sp>
    </p:spTree>
    <p:extLst>
      <p:ext uri="{BB962C8B-B14F-4D97-AF65-F5344CB8AC3E}">
        <p14:creationId xmlns:p14="http://schemas.microsoft.com/office/powerpoint/2010/main" val="210193606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4235F170-28C6-0FE5-4F24-BDD1B3B3AE33}"/>
            </a:ext>
          </a:extLst>
        </p:cNvPr>
        <p:cNvGrpSpPr/>
        <p:nvPr/>
      </p:nvGrpSpPr>
      <p:grpSpPr>
        <a:xfrm>
          <a:off x="0" y="0"/>
          <a:ext cx="0" cy="0"/>
          <a:chOff x="0" y="0"/>
          <a:chExt cx="0" cy="0"/>
        </a:xfrm>
      </p:grpSpPr>
      <p:graphicFrame>
        <p:nvGraphicFramePr>
          <p:cNvPr id="5" name="object 5">
            <a:extLst>
              <a:ext uri="{FF2B5EF4-FFF2-40B4-BE49-F238E27FC236}">
                <a16:creationId xmlns="" xmlns:a16="http://schemas.microsoft.com/office/drawing/2014/main" id="{134DE965-2C87-89C9-7161-8F1F56BEBE80}"/>
              </a:ext>
            </a:extLst>
          </p:cNvPr>
          <p:cNvGraphicFramePr>
            <a:graphicFrameLocks noGrp="1"/>
          </p:cNvGraphicFramePr>
          <p:nvPr>
            <p:extLst>
              <p:ext uri="{D42A27DB-BD31-4B8C-83A1-F6EECF244321}">
                <p14:modId xmlns:p14="http://schemas.microsoft.com/office/powerpoint/2010/main" val="123586349"/>
              </p:ext>
            </p:extLst>
          </p:nvPr>
        </p:nvGraphicFramePr>
        <p:xfrm>
          <a:off x="685800" y="1752600"/>
          <a:ext cx="11353800" cy="4762558"/>
        </p:xfrm>
        <a:graphic>
          <a:graphicData uri="http://schemas.openxmlformats.org/drawingml/2006/table">
            <a:tbl>
              <a:tblPr firstRow="1" bandRow="1">
                <a:tableStyleId>{2D5ABB26-0587-4C30-8999-92F81FD0307C}</a:tableStyleId>
              </a:tblPr>
              <a:tblGrid>
                <a:gridCol w="3273715">
                  <a:extLst>
                    <a:ext uri="{9D8B030D-6E8A-4147-A177-3AD203B41FA5}">
                      <a16:colId xmlns="" xmlns:a16="http://schemas.microsoft.com/office/drawing/2014/main" val="20000"/>
                    </a:ext>
                  </a:extLst>
                </a:gridCol>
                <a:gridCol w="2898485">
                  <a:extLst>
                    <a:ext uri="{9D8B030D-6E8A-4147-A177-3AD203B41FA5}">
                      <a16:colId xmlns="" xmlns:a16="http://schemas.microsoft.com/office/drawing/2014/main" val="20001"/>
                    </a:ext>
                  </a:extLst>
                </a:gridCol>
                <a:gridCol w="2841505">
                  <a:extLst>
                    <a:ext uri="{9D8B030D-6E8A-4147-A177-3AD203B41FA5}">
                      <a16:colId xmlns="" xmlns:a16="http://schemas.microsoft.com/office/drawing/2014/main" val="20002"/>
                    </a:ext>
                  </a:extLst>
                </a:gridCol>
                <a:gridCol w="2340095">
                  <a:extLst>
                    <a:ext uri="{9D8B030D-6E8A-4147-A177-3AD203B41FA5}">
                      <a16:colId xmlns="" xmlns:a16="http://schemas.microsoft.com/office/drawing/2014/main" val="20003"/>
                    </a:ext>
                  </a:extLst>
                </a:gridCol>
              </a:tblGrid>
              <a:tr h="533400">
                <a:tc>
                  <a:txBody>
                    <a:bodyPr/>
                    <a:lstStyle/>
                    <a:p>
                      <a:pPr marL="91440" marR="104775">
                        <a:lnSpc>
                          <a:spcPct val="100000"/>
                        </a:lnSpc>
                        <a:spcBef>
                          <a:spcPts val="244"/>
                        </a:spcBef>
                      </a:pPr>
                      <a:r>
                        <a:rPr sz="1800" b="1" dirty="0">
                          <a:solidFill>
                            <a:srgbClr val="FFFFFF"/>
                          </a:solidFill>
                          <a:latin typeface="Calibri"/>
                          <a:cs typeface="Calibri"/>
                        </a:rPr>
                        <a:t>Details</a:t>
                      </a:r>
                      <a:r>
                        <a:rPr sz="1800" b="1" spc="-70" dirty="0">
                          <a:solidFill>
                            <a:srgbClr val="FFFFFF"/>
                          </a:solidFill>
                          <a:latin typeface="Calibri"/>
                          <a:cs typeface="Calibri"/>
                        </a:rPr>
                        <a:t> </a:t>
                      </a:r>
                      <a:r>
                        <a:rPr sz="1800" b="1" dirty="0">
                          <a:solidFill>
                            <a:srgbClr val="FFFFFF"/>
                          </a:solidFill>
                          <a:latin typeface="Calibri"/>
                          <a:cs typeface="Calibri"/>
                        </a:rPr>
                        <a:t>of</a:t>
                      </a:r>
                      <a:r>
                        <a:rPr sz="1800" b="1" spc="-35" dirty="0">
                          <a:solidFill>
                            <a:srgbClr val="FFFFFF"/>
                          </a:solidFill>
                          <a:latin typeface="Calibri"/>
                          <a:cs typeface="Calibri"/>
                        </a:rPr>
                        <a:t> </a:t>
                      </a:r>
                      <a:r>
                        <a:rPr sz="1800" b="1" spc="-10" dirty="0">
                          <a:solidFill>
                            <a:srgbClr val="FFFFFF"/>
                          </a:solidFill>
                          <a:latin typeface="Calibri"/>
                          <a:cs typeface="Calibri"/>
                        </a:rPr>
                        <a:t>Paper- </a:t>
                      </a:r>
                      <a:r>
                        <a:rPr sz="1800" b="1" dirty="0">
                          <a:solidFill>
                            <a:srgbClr val="FFFFFF"/>
                          </a:solidFill>
                          <a:latin typeface="Calibri"/>
                          <a:cs typeface="Calibri"/>
                        </a:rPr>
                        <a:t>Title,</a:t>
                      </a:r>
                      <a:r>
                        <a:rPr sz="1800" b="1" spc="-20" dirty="0">
                          <a:solidFill>
                            <a:srgbClr val="FFFFFF"/>
                          </a:solidFill>
                          <a:latin typeface="Calibri"/>
                          <a:cs typeface="Calibri"/>
                        </a:rPr>
                        <a:t> </a:t>
                      </a:r>
                      <a:r>
                        <a:rPr sz="1800" b="1" spc="-10" dirty="0">
                          <a:solidFill>
                            <a:srgbClr val="FFFFFF"/>
                          </a:solidFill>
                          <a:latin typeface="Calibri"/>
                          <a:cs typeface="Calibri"/>
                        </a:rPr>
                        <a:t>author, conference</a:t>
                      </a:r>
                      <a:r>
                        <a:rPr sz="1800" b="1" spc="-40" dirty="0">
                          <a:solidFill>
                            <a:srgbClr val="FFFFFF"/>
                          </a:solidFill>
                          <a:latin typeface="Calibri"/>
                          <a:cs typeface="Calibri"/>
                        </a:rPr>
                        <a:t> </a:t>
                      </a:r>
                      <a:r>
                        <a:rPr sz="1800" b="1" spc="-10" dirty="0">
                          <a:solidFill>
                            <a:srgbClr val="FFFFFF"/>
                          </a:solidFill>
                          <a:latin typeface="Calibri"/>
                          <a:cs typeface="Calibri"/>
                        </a:rPr>
                        <a:t>/Journal</a:t>
                      </a:r>
                      <a:endParaRPr sz="1800" dirty="0">
                        <a:latin typeface="Calibri"/>
                        <a:cs typeface="Calibri"/>
                      </a:endParaRPr>
                    </a:p>
                  </a:txBody>
                  <a:tcPr marL="0" marR="0" marT="31114"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471C4"/>
                    </a:solidFill>
                  </a:tcPr>
                </a:tc>
                <a:tc>
                  <a:txBody>
                    <a:bodyPr/>
                    <a:lstStyle/>
                    <a:p>
                      <a:pPr marL="91440">
                        <a:lnSpc>
                          <a:spcPct val="100000"/>
                        </a:lnSpc>
                        <a:spcBef>
                          <a:spcPts val="244"/>
                        </a:spcBef>
                      </a:pPr>
                      <a:r>
                        <a:rPr sz="1800" b="1" dirty="0">
                          <a:solidFill>
                            <a:srgbClr val="FFFFFF"/>
                          </a:solidFill>
                          <a:latin typeface="Calibri"/>
                          <a:cs typeface="Calibri"/>
                        </a:rPr>
                        <a:t>Methodology</a:t>
                      </a:r>
                      <a:r>
                        <a:rPr sz="1800" b="1" spc="-45" dirty="0">
                          <a:solidFill>
                            <a:srgbClr val="FFFFFF"/>
                          </a:solidFill>
                          <a:latin typeface="Calibri"/>
                          <a:cs typeface="Calibri"/>
                        </a:rPr>
                        <a:t> </a:t>
                      </a:r>
                      <a:r>
                        <a:rPr sz="1800" b="1" spc="-20" dirty="0">
                          <a:solidFill>
                            <a:srgbClr val="FFFFFF"/>
                          </a:solidFill>
                          <a:latin typeface="Calibri"/>
                          <a:cs typeface="Calibri"/>
                        </a:rPr>
                        <a:t>Used</a:t>
                      </a:r>
                      <a:endParaRPr sz="1800" dirty="0">
                        <a:latin typeface="Calibri"/>
                        <a:cs typeface="Calibri"/>
                      </a:endParaRPr>
                    </a:p>
                  </a:txBody>
                  <a:tcPr marL="0" marR="0" marT="31114"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471C4"/>
                    </a:solidFill>
                  </a:tcPr>
                </a:tc>
                <a:tc>
                  <a:txBody>
                    <a:bodyPr/>
                    <a:lstStyle/>
                    <a:p>
                      <a:pPr marL="92075">
                        <a:lnSpc>
                          <a:spcPct val="100000"/>
                        </a:lnSpc>
                        <a:spcBef>
                          <a:spcPts val="244"/>
                        </a:spcBef>
                      </a:pPr>
                      <a:r>
                        <a:rPr sz="1800" b="1" spc="-10" dirty="0">
                          <a:solidFill>
                            <a:srgbClr val="FFFFFF"/>
                          </a:solidFill>
                          <a:latin typeface="Calibri"/>
                          <a:cs typeface="Calibri"/>
                        </a:rPr>
                        <a:t>Result</a:t>
                      </a:r>
                      <a:endParaRPr sz="1800" dirty="0">
                        <a:latin typeface="Calibri"/>
                        <a:cs typeface="Calibri"/>
                      </a:endParaRPr>
                    </a:p>
                  </a:txBody>
                  <a:tcPr marL="0" marR="0" marT="31114"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471C4"/>
                    </a:solidFill>
                  </a:tcPr>
                </a:tc>
                <a:tc>
                  <a:txBody>
                    <a:bodyPr/>
                    <a:lstStyle/>
                    <a:p>
                      <a:pPr marL="92075">
                        <a:lnSpc>
                          <a:spcPct val="100000"/>
                        </a:lnSpc>
                        <a:spcBef>
                          <a:spcPts val="244"/>
                        </a:spcBef>
                      </a:pPr>
                      <a:r>
                        <a:rPr sz="1800" b="1" spc="-10" dirty="0">
                          <a:solidFill>
                            <a:srgbClr val="FFFFFF"/>
                          </a:solidFill>
                          <a:latin typeface="Calibri"/>
                          <a:cs typeface="Calibri"/>
                        </a:rPr>
                        <a:t>Limitations</a:t>
                      </a:r>
                      <a:endParaRPr sz="1800" dirty="0">
                        <a:latin typeface="Calibri"/>
                        <a:cs typeface="Calibri"/>
                      </a:endParaRPr>
                    </a:p>
                  </a:txBody>
                  <a:tcPr marL="0" marR="0" marT="31114" marB="0">
                    <a:lnL w="12700">
                      <a:solidFill>
                        <a:srgbClr val="FFFFFF"/>
                      </a:solidFill>
                      <a:prstDash val="solid"/>
                    </a:lnL>
                    <a:lnR w="12700">
                      <a:solidFill>
                        <a:srgbClr val="FFFFFF"/>
                      </a:solidFill>
                      <a:prstDash val="solid"/>
                    </a:lnR>
                    <a:lnT w="12700">
                      <a:solidFill>
                        <a:srgbClr val="FFFFFF"/>
                      </a:solidFill>
                      <a:prstDash val="solid"/>
                    </a:lnT>
                    <a:lnB w="38100" cap="flat" cmpd="sng" algn="ctr">
                      <a:solidFill>
                        <a:srgbClr val="FFFFFF"/>
                      </a:solidFill>
                      <a:prstDash val="solid"/>
                      <a:round/>
                      <a:headEnd type="none" w="med" len="med"/>
                      <a:tailEnd type="none" w="med" len="med"/>
                    </a:lnB>
                    <a:solidFill>
                      <a:srgbClr val="4471C4"/>
                    </a:solidFill>
                  </a:tcPr>
                </a:tc>
                <a:extLst>
                  <a:ext uri="{0D108BD9-81ED-4DB2-BD59-A6C34878D82A}">
                    <a16:rowId xmlns="" xmlns:a16="http://schemas.microsoft.com/office/drawing/2014/main" val="10000"/>
                  </a:ext>
                </a:extLst>
              </a:tr>
              <a:tr h="1988244">
                <a:tc>
                  <a:txBody>
                    <a:bodyPr/>
                    <a:lstStyle/>
                    <a:p>
                      <a:r>
                        <a:rPr lang="en-IN" b="1" dirty="0"/>
                        <a:t>Driver Drowsiness Detection Using CNN-LSTM Hybrid Deep Learning Model</a:t>
                      </a:r>
                    </a:p>
                    <a:p>
                      <a:r>
                        <a:rPr lang="en-IN" i="1" dirty="0"/>
                        <a:t>(R. Kumar &amp; S. Gupta, IEEE Sensors Journal, 2023)</a:t>
                      </a:r>
                      <a:endParaRPr lang="en-IN" dirty="0"/>
                    </a:p>
                  </a:txBody>
                  <a:tcPr marL="0" marR="0" marT="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FD4EA"/>
                    </a:solidFill>
                  </a:tcPr>
                </a:tc>
                <a:tc>
                  <a:txBody>
                    <a:bodyPr/>
                    <a:lstStyle/>
                    <a:p>
                      <a:pPr>
                        <a:lnSpc>
                          <a:spcPct val="100000"/>
                        </a:lnSpc>
                      </a:pPr>
                      <a:r>
                        <a:rPr lang="en-IN" dirty="0"/>
                        <a:t>Developed a hybrid </a:t>
                      </a:r>
                      <a:r>
                        <a:rPr lang="en-IN" b="1" dirty="0"/>
                        <a:t>CNN-LSTM</a:t>
                      </a:r>
                      <a:r>
                        <a:rPr lang="en-IN" dirty="0"/>
                        <a:t> model to capture spatial features (CNN) and temporal eye-blink/yawn sequences (LSTM). Used </a:t>
                      </a:r>
                      <a:r>
                        <a:rPr lang="en-IN" b="1" dirty="0"/>
                        <a:t>NTHU Drowsiness Dataset</a:t>
                      </a:r>
                      <a:r>
                        <a:rPr lang="en-IN" dirty="0"/>
                        <a:t> with frame extraction + sequence </a:t>
                      </a:r>
                      <a:r>
                        <a:rPr lang="en-IN" dirty="0" err="1"/>
                        <a:t>modeling</a:t>
                      </a:r>
                      <a:r>
                        <a:rPr lang="en-IN" dirty="0"/>
                        <a:t>.</a:t>
                      </a:r>
                      <a:endParaRPr sz="1800" dirty="0">
                        <a:latin typeface="Times New Roman"/>
                        <a:cs typeface="Times New Roman"/>
                      </a:endParaRPr>
                    </a:p>
                  </a:txBody>
                  <a:tcPr marL="0" marR="0" marT="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FD4EA"/>
                    </a:solidFill>
                  </a:tcPr>
                </a:tc>
                <a:tc>
                  <a:txBody>
                    <a:bodyPr/>
                    <a:lstStyle/>
                    <a:p>
                      <a:pPr>
                        <a:lnSpc>
                          <a:spcPct val="100000"/>
                        </a:lnSpc>
                      </a:pPr>
                      <a:r>
                        <a:rPr lang="en-US" dirty="0"/>
                        <a:t>Achieved </a:t>
                      </a:r>
                      <a:r>
                        <a:rPr lang="en-US" b="1" dirty="0"/>
                        <a:t>96.7% accuracy</a:t>
                      </a:r>
                      <a:r>
                        <a:rPr lang="en-US" dirty="0"/>
                        <a:t> for multi-class drowsiness; strong performance on long-blink and yawning sequences.</a:t>
                      </a:r>
                      <a:endParaRPr sz="1800" dirty="0">
                        <a:latin typeface="Times New Roman"/>
                        <a:cs typeface="Times New Roman"/>
                      </a:endParaRPr>
                    </a:p>
                  </a:txBody>
                  <a:tcPr marL="0" marR="0" marT="0" marB="0">
                    <a:lnL w="12700">
                      <a:solidFill>
                        <a:srgbClr val="FFFFFF"/>
                      </a:solidFill>
                      <a:prstDash val="solid"/>
                    </a:lnL>
                    <a:lnR w="12700" cap="flat" cmpd="sng" algn="ctr">
                      <a:solidFill>
                        <a:srgbClr val="FFFFFF"/>
                      </a:solidFill>
                      <a:prstDash val="solid"/>
                      <a:round/>
                      <a:headEnd type="none" w="med" len="med"/>
                      <a:tailEnd type="none" w="med" len="med"/>
                    </a:lnR>
                    <a:lnT w="38100">
                      <a:solidFill>
                        <a:srgbClr val="FFFFFF"/>
                      </a:solidFill>
                      <a:prstDash val="solid"/>
                    </a:lnT>
                    <a:lnB w="12700">
                      <a:solidFill>
                        <a:srgbClr val="FFFFFF"/>
                      </a:solidFill>
                      <a:prstDash val="solid"/>
                    </a:lnB>
                    <a:solidFill>
                      <a:srgbClr val="CFD4EA"/>
                    </a:solidFill>
                  </a:tcPr>
                </a:tc>
                <a:tc>
                  <a:txBody>
                    <a:bodyPr/>
                    <a:lstStyle/>
                    <a:p>
                      <a:pPr>
                        <a:buNone/>
                      </a:pPr>
                      <a:r>
                        <a:rPr lang="en-US" dirty="0"/>
                        <a:t>Requires long continuous video data; high training time; reduced accuracy in low-light environments.</a:t>
                      </a:r>
                    </a:p>
                  </a:txBody>
                  <a:tcPr anchor="ctr">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FD4EA"/>
                    </a:solidFill>
                  </a:tcPr>
                </a:tc>
                <a:extLst>
                  <a:ext uri="{0D108BD9-81ED-4DB2-BD59-A6C34878D82A}">
                    <a16:rowId xmlns="" xmlns:a16="http://schemas.microsoft.com/office/drawing/2014/main" val="10001"/>
                  </a:ext>
                </a:extLst>
              </a:tr>
              <a:tr h="1988244">
                <a:tc>
                  <a:txBody>
                    <a:bodyPr/>
                    <a:lstStyle/>
                    <a:p>
                      <a:r>
                        <a:rPr lang="en-IN" b="1" dirty="0"/>
                        <a:t>Multi-Modal Driver Fatigue Detection Using Infrared + RGB Fusion</a:t>
                      </a:r>
                    </a:p>
                    <a:p>
                      <a:r>
                        <a:rPr lang="en-IN" i="1" dirty="0"/>
                        <a:t>(H. Zhang et al., IEEE Transactions on Intelligent Vehicles, 2023)</a:t>
                      </a:r>
                      <a:endParaRPr lang="en-IN" dirty="0"/>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a:txBody>
                    <a:bodyPr/>
                    <a:lstStyle/>
                    <a:p>
                      <a:pPr>
                        <a:lnSpc>
                          <a:spcPct val="100000"/>
                        </a:lnSpc>
                      </a:pPr>
                      <a:r>
                        <a:rPr lang="en-US" dirty="0"/>
                        <a:t>Combined </a:t>
                      </a:r>
                      <a:r>
                        <a:rPr lang="en-US" b="1" dirty="0"/>
                        <a:t>infrared (IR)</a:t>
                      </a:r>
                      <a:r>
                        <a:rPr lang="en-US" dirty="0"/>
                        <a:t> and </a:t>
                      </a:r>
                      <a:r>
                        <a:rPr lang="en-US" b="1" dirty="0"/>
                        <a:t>RGB</a:t>
                      </a:r>
                      <a:r>
                        <a:rPr lang="en-US" dirty="0"/>
                        <a:t> video inputs using a dual-stream CNN with feature fusion. Detects micro-sleep, long blink duration, and yawning..</a:t>
                      </a:r>
                      <a:endParaRPr sz="1800" dirty="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a:txBody>
                    <a:bodyPr/>
                    <a:lstStyle/>
                    <a:p>
                      <a:pPr>
                        <a:lnSpc>
                          <a:spcPct val="100000"/>
                        </a:lnSpc>
                      </a:pPr>
                      <a:r>
                        <a:rPr lang="en-US" dirty="0"/>
                        <a:t>Achieved </a:t>
                      </a:r>
                      <a:r>
                        <a:rPr lang="en-US" b="1" dirty="0"/>
                        <a:t>97.3% accuracy</a:t>
                      </a:r>
                      <a:r>
                        <a:rPr lang="en-US" dirty="0"/>
                        <a:t> on night-time datasets; robust in low-light</a:t>
                      </a:r>
                      <a:endParaRPr sz="1800" dirty="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a:txBody>
                    <a:bodyPr/>
                    <a:lstStyle/>
                    <a:p>
                      <a:pPr>
                        <a:lnSpc>
                          <a:spcPct val="100000"/>
                        </a:lnSpc>
                      </a:pPr>
                      <a:r>
                        <a:rPr lang="en-US" dirty="0"/>
                        <a:t>Needs dual-camera setup; costly hardware; dataset labeling is complex.</a:t>
                      </a:r>
                      <a:endParaRPr sz="1800" dirty="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cap="flat" cmpd="sng" algn="ctr">
                      <a:solidFill>
                        <a:srgbClr val="FFFFFF"/>
                      </a:solidFill>
                      <a:prstDash val="solid"/>
                      <a:round/>
                      <a:headEnd type="none" w="med" len="med"/>
                      <a:tailEnd type="none" w="med" len="med"/>
                    </a:lnT>
                    <a:lnB w="12700">
                      <a:solidFill>
                        <a:srgbClr val="FFFFFF"/>
                      </a:solidFill>
                      <a:prstDash val="solid"/>
                    </a:lnB>
                    <a:solidFill>
                      <a:srgbClr val="E9EBF5"/>
                    </a:solidFill>
                  </a:tcPr>
                </a:tc>
                <a:extLst>
                  <a:ext uri="{0D108BD9-81ED-4DB2-BD59-A6C34878D82A}">
                    <a16:rowId xmlns="" xmlns:a16="http://schemas.microsoft.com/office/drawing/2014/main" val="10002"/>
                  </a:ext>
                </a:extLst>
              </a:tr>
            </a:tbl>
          </a:graphicData>
        </a:graphic>
      </p:graphicFrame>
      <p:sp>
        <p:nvSpPr>
          <p:cNvPr id="3" name="object 2"/>
          <p:cNvSpPr/>
          <p:nvPr/>
        </p:nvSpPr>
        <p:spPr>
          <a:xfrm>
            <a:off x="3581400" y="1600200"/>
            <a:ext cx="7620000" cy="36830"/>
          </a:xfrm>
          <a:custGeom>
            <a:avLst/>
            <a:gdLst/>
            <a:ahLst/>
            <a:cxnLst/>
            <a:rect l="l" t="t" r="r" b="b"/>
            <a:pathLst>
              <a:path w="7620000" h="36830">
                <a:moveTo>
                  <a:pt x="7620000" y="0"/>
                </a:moveTo>
                <a:lnTo>
                  <a:pt x="0" y="0"/>
                </a:lnTo>
                <a:lnTo>
                  <a:pt x="0" y="36512"/>
                </a:lnTo>
                <a:lnTo>
                  <a:pt x="7620000" y="36512"/>
                </a:lnTo>
                <a:lnTo>
                  <a:pt x="7620000" y="0"/>
                </a:lnTo>
                <a:close/>
              </a:path>
            </a:pathLst>
          </a:custGeom>
          <a:solidFill>
            <a:srgbClr val="33CCCC"/>
          </a:solidFill>
        </p:spPr>
        <p:txBody>
          <a:bodyPr wrap="square" lIns="0" tIns="0" rIns="0" bIns="0" rtlCol="0"/>
          <a:lstStyle/>
          <a:p>
            <a:endParaRPr/>
          </a:p>
        </p:txBody>
      </p:sp>
      <p:sp>
        <p:nvSpPr>
          <p:cNvPr id="4" name="object 4"/>
          <p:cNvSpPr txBox="1">
            <a:spLocks noGrp="1"/>
          </p:cNvSpPr>
          <p:nvPr>
            <p:ph type="title"/>
          </p:nvPr>
        </p:nvSpPr>
        <p:spPr>
          <a:xfrm>
            <a:off x="6172200" y="1190879"/>
            <a:ext cx="4666869" cy="427736"/>
          </a:xfrm>
          <a:prstGeom prst="rect">
            <a:avLst/>
          </a:prstGeom>
        </p:spPr>
        <p:txBody>
          <a:bodyPr vert="horz" wrap="square" lIns="0" tIns="12700" rIns="0" bIns="0" rtlCol="0">
            <a:spAutoFit/>
          </a:bodyPr>
          <a:lstStyle/>
          <a:p>
            <a:pPr marL="12700">
              <a:lnSpc>
                <a:spcPct val="100000"/>
              </a:lnSpc>
              <a:spcBef>
                <a:spcPts val="100"/>
              </a:spcBef>
            </a:pPr>
            <a:r>
              <a:rPr dirty="0"/>
              <a:t>Literature</a:t>
            </a:r>
            <a:r>
              <a:rPr spc="-145" dirty="0"/>
              <a:t> </a:t>
            </a:r>
            <a:r>
              <a:rPr dirty="0"/>
              <a:t>Survey/Existing</a:t>
            </a:r>
            <a:r>
              <a:rPr spc="-140" dirty="0"/>
              <a:t> </a:t>
            </a:r>
            <a:r>
              <a:rPr spc="-10" dirty="0"/>
              <a:t>System</a:t>
            </a:r>
          </a:p>
        </p:txBody>
      </p:sp>
    </p:spTree>
    <p:extLst>
      <p:ext uri="{BB962C8B-B14F-4D97-AF65-F5344CB8AC3E}">
        <p14:creationId xmlns:p14="http://schemas.microsoft.com/office/powerpoint/2010/main" val="103527485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a:spLocks noChangeArrowheads="1"/>
          </p:cNvSpPr>
          <p:nvPr/>
        </p:nvSpPr>
        <p:spPr bwMode="auto">
          <a:xfrm>
            <a:off x="2703871" y="1571949"/>
            <a:ext cx="7964129" cy="45719"/>
          </a:xfrm>
          <a:prstGeom prst="rect">
            <a:avLst/>
          </a:prstGeom>
          <a:solidFill>
            <a:srgbClr val="33CCCC"/>
          </a:solidFill>
          <a:ln w="9525">
            <a:noFill/>
            <a:miter lim="800000"/>
            <a:headEnd/>
            <a:tailEnd/>
          </a:ln>
        </p:spPr>
        <p:txBody>
          <a:bodyPr wrap="none" anchor="ctr"/>
          <a:lstStyle/>
          <a:p>
            <a:endParaRPr lang="en-US"/>
          </a:p>
        </p:txBody>
      </p:sp>
      <p:sp>
        <p:nvSpPr>
          <p:cNvPr id="13" name="Text Box 34"/>
          <p:cNvSpPr txBox="1">
            <a:spLocks noChangeArrowheads="1"/>
          </p:cNvSpPr>
          <p:nvPr/>
        </p:nvSpPr>
        <p:spPr bwMode="auto">
          <a:xfrm>
            <a:off x="2286000" y="1013116"/>
            <a:ext cx="8458199" cy="461665"/>
          </a:xfrm>
          <a:prstGeom prst="rect">
            <a:avLst/>
          </a:prstGeom>
          <a:noFill/>
          <a:ln w="9525">
            <a:noFill/>
            <a:miter lim="800000"/>
            <a:headEnd/>
            <a:tailEnd/>
          </a:ln>
        </p:spPr>
        <p:txBody>
          <a:bodyPr wrap="square">
            <a:spAutoFit/>
          </a:bodyPr>
          <a:lstStyle/>
          <a:p>
            <a:pPr marL="342900" indent="-342900" algn="r"/>
            <a:r>
              <a:rPr lang="en-US" sz="2400" dirty="0">
                <a:solidFill>
                  <a:srgbClr val="FF0000"/>
                </a:solidFill>
              </a:rPr>
              <a:t>State Farm Distracted Driver Detection Dataset</a:t>
            </a:r>
            <a:r>
              <a:rPr lang="en-US" sz="2400" dirty="0">
                <a:solidFill>
                  <a:srgbClr val="FF0000"/>
                </a:solidFill>
                <a:latin typeface="Trebuchet MS"/>
                <a:sym typeface="Trebuchet MS"/>
              </a:rPr>
              <a:t> Exploration</a:t>
            </a:r>
            <a:endParaRPr lang="en-US" sz="2400" dirty="0">
              <a:solidFill>
                <a:srgbClr val="FF0000"/>
              </a:solidFill>
            </a:endParaRPr>
          </a:p>
        </p:txBody>
      </p:sp>
      <p:sp>
        <p:nvSpPr>
          <p:cNvPr id="6" name="Content Placeholder 2"/>
          <p:cNvSpPr txBox="1">
            <a:spLocks/>
          </p:cNvSpPr>
          <p:nvPr/>
        </p:nvSpPr>
        <p:spPr>
          <a:xfrm>
            <a:off x="1447800" y="1368407"/>
            <a:ext cx="8610600" cy="5489593"/>
          </a:xfrm>
          <a:prstGeom prst="rect">
            <a:avLst/>
          </a:prstGeom>
        </p:spPr>
        <p:txBody>
          <a:bodyPr/>
          <a:lstStyle/>
          <a:p>
            <a:pPr algn="just">
              <a:spcBef>
                <a:spcPts val="0"/>
              </a:spcBef>
              <a:spcAft>
                <a:spcPts val="0"/>
              </a:spcAft>
            </a:pPr>
            <a:endParaRPr lang="en-US" sz="2400" dirty="0">
              <a:solidFill>
                <a:srgbClr val="0033CC"/>
              </a:solidFill>
              <a:latin typeface="Trebuchet MS" panose="020B0603020202020204" pitchFamily="34" charset="0"/>
              <a:ea typeface="Trebuchet MS"/>
              <a:cs typeface="Trebuchet MS"/>
              <a:sym typeface="Trebuchet MS"/>
            </a:endParaRPr>
          </a:p>
          <a:p>
            <a:pPr marL="342900" indent="-342900" algn="just">
              <a:spcBef>
                <a:spcPts val="0"/>
              </a:spcBef>
              <a:spcAft>
                <a:spcPts val="0"/>
              </a:spcAft>
              <a:buFont typeface="Wingdings" panose="05000000000000000000" pitchFamily="2" charset="2"/>
              <a:buChar char="q"/>
            </a:pPr>
            <a:r>
              <a:rPr lang="en-US" sz="2400" dirty="0">
                <a:solidFill>
                  <a:srgbClr val="0033CC"/>
                </a:solidFill>
                <a:latin typeface="Trebuchet MS" panose="020B0603020202020204" pitchFamily="34" charset="0"/>
                <a:ea typeface="Trebuchet MS"/>
                <a:cs typeface="Trebuchet MS"/>
                <a:sym typeface="Trebuchet MS"/>
              </a:rPr>
              <a:t>Availability of dataset</a:t>
            </a:r>
          </a:p>
          <a:p>
            <a:pPr algn="just">
              <a:spcBef>
                <a:spcPts val="0"/>
              </a:spcBef>
              <a:spcAft>
                <a:spcPts val="0"/>
              </a:spcAft>
            </a:pPr>
            <a:r>
              <a:rPr lang="en-US" b="1" dirty="0">
                <a:latin typeface="Trebuchet MS" panose="020B0603020202020204" pitchFamily="34" charset="0"/>
              </a:rPr>
              <a:t>This dataset is publicly available through the Kaggle platform as part of the State Farm Distracted Driver Detection competition. It can be downloaded freely after logging into Kaggle and is intended for academic and research use.</a:t>
            </a:r>
          </a:p>
          <a:p>
            <a:pPr algn="just">
              <a:spcBef>
                <a:spcPts val="0"/>
              </a:spcBef>
              <a:spcAft>
                <a:spcPts val="0"/>
              </a:spcAft>
            </a:pPr>
            <a:endParaRPr lang="en-US" b="1" dirty="0">
              <a:solidFill>
                <a:srgbClr val="0033CC"/>
              </a:solidFill>
              <a:latin typeface="Trebuchet MS" panose="020B0603020202020204" pitchFamily="34" charset="0"/>
              <a:ea typeface="Trebuchet MS"/>
              <a:cs typeface="Trebuchet MS"/>
              <a:sym typeface="Trebuchet MS"/>
            </a:endParaRPr>
          </a:p>
          <a:p>
            <a:pPr marL="342900" indent="-342900" algn="just">
              <a:spcBef>
                <a:spcPts val="0"/>
              </a:spcBef>
              <a:spcAft>
                <a:spcPts val="0"/>
              </a:spcAft>
              <a:buFont typeface="Wingdings" panose="05000000000000000000" pitchFamily="2" charset="2"/>
              <a:buChar char="q"/>
            </a:pPr>
            <a:r>
              <a:rPr lang="en-US" sz="2400" dirty="0">
                <a:solidFill>
                  <a:srgbClr val="0033CC"/>
                </a:solidFill>
                <a:latin typeface="Trebuchet MS" panose="020B0603020202020204" pitchFamily="34" charset="0"/>
                <a:ea typeface="Trebuchet MS"/>
                <a:cs typeface="Trebuchet MS"/>
                <a:sym typeface="Trebuchet MS"/>
              </a:rPr>
              <a:t>Source of dataset</a:t>
            </a:r>
          </a:p>
          <a:p>
            <a:pPr algn="just">
              <a:spcBef>
                <a:spcPts val="0"/>
              </a:spcBef>
              <a:spcAft>
                <a:spcPts val="0"/>
              </a:spcAft>
            </a:pPr>
            <a:r>
              <a:rPr lang="en-US" b="1" dirty="0">
                <a:latin typeface="Trebuchet MS" panose="020B0603020202020204" pitchFamily="34" charset="0"/>
              </a:rPr>
              <a:t>The dataset was released by State Farm Insurance Company and hosted on Kaggle for the 2016 computer vision competition.</a:t>
            </a:r>
          </a:p>
          <a:p>
            <a:pPr algn="just">
              <a:spcBef>
                <a:spcPts val="0"/>
              </a:spcBef>
              <a:spcAft>
                <a:spcPts val="0"/>
              </a:spcAft>
            </a:pPr>
            <a:endParaRPr lang="en-US" b="1" dirty="0">
              <a:solidFill>
                <a:srgbClr val="0033CC"/>
              </a:solidFill>
              <a:latin typeface="Trebuchet MS" panose="020B0603020202020204" pitchFamily="34" charset="0"/>
              <a:ea typeface="Trebuchet MS"/>
              <a:cs typeface="Trebuchet MS"/>
              <a:sym typeface="Trebuchet MS"/>
            </a:endParaRPr>
          </a:p>
          <a:p>
            <a:pPr marL="342900" indent="-342900" algn="just">
              <a:spcBef>
                <a:spcPts val="0"/>
              </a:spcBef>
              <a:spcAft>
                <a:spcPts val="0"/>
              </a:spcAft>
              <a:buFont typeface="Wingdings" panose="05000000000000000000" pitchFamily="2" charset="2"/>
              <a:buChar char="q"/>
            </a:pPr>
            <a:r>
              <a:rPr lang="en-US" sz="2400" dirty="0">
                <a:solidFill>
                  <a:srgbClr val="0033CC"/>
                </a:solidFill>
                <a:latin typeface="Trebuchet MS" panose="020B0603020202020204" pitchFamily="34" charset="0"/>
                <a:ea typeface="Trebuchet MS"/>
                <a:cs typeface="Trebuchet MS"/>
                <a:sym typeface="Trebuchet MS"/>
              </a:rPr>
              <a:t>Size of dataset</a:t>
            </a:r>
          </a:p>
          <a:p>
            <a:pPr algn="just">
              <a:spcBef>
                <a:spcPts val="0"/>
              </a:spcBef>
              <a:spcAft>
                <a:spcPts val="0"/>
              </a:spcAft>
            </a:pPr>
            <a:r>
              <a:rPr lang="en-US" b="1" dirty="0">
                <a:latin typeface="Trebuchet MS" panose="020B0603020202020204" pitchFamily="34" charset="0"/>
              </a:rPr>
              <a:t>The downloaded dataset is approximately 4 GB in size and contains labeled and unlabeled RGB driving images. It includes about 22,424 training images and around 79,000 test images across 10 distraction categories.</a:t>
            </a:r>
            <a:endParaRPr lang="en-US" b="1" dirty="0">
              <a:solidFill>
                <a:srgbClr val="0033CC"/>
              </a:solidFill>
              <a:latin typeface="Trebuchet MS" panose="020B0603020202020204" pitchFamily="34" charset="0"/>
              <a:ea typeface="Trebuchet MS"/>
              <a:cs typeface="Trebuchet MS"/>
              <a:sym typeface="Trebuchet MS"/>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a:spLocks noChangeArrowheads="1"/>
          </p:cNvSpPr>
          <p:nvPr/>
        </p:nvSpPr>
        <p:spPr bwMode="auto">
          <a:xfrm>
            <a:off x="3048000" y="1581155"/>
            <a:ext cx="7620000" cy="36513"/>
          </a:xfrm>
          <a:prstGeom prst="rect">
            <a:avLst/>
          </a:prstGeom>
          <a:solidFill>
            <a:srgbClr val="33CCCC"/>
          </a:solidFill>
          <a:ln w="9525">
            <a:noFill/>
            <a:miter lim="800000"/>
            <a:headEnd/>
            <a:tailEnd/>
          </a:ln>
        </p:spPr>
        <p:txBody>
          <a:bodyPr wrap="none" anchor="ctr"/>
          <a:lstStyle/>
          <a:p>
            <a:endParaRPr lang="en-US"/>
          </a:p>
        </p:txBody>
      </p:sp>
      <p:sp>
        <p:nvSpPr>
          <p:cNvPr id="13" name="Text Box 34"/>
          <p:cNvSpPr txBox="1">
            <a:spLocks noChangeArrowheads="1"/>
          </p:cNvSpPr>
          <p:nvPr/>
        </p:nvSpPr>
        <p:spPr bwMode="auto">
          <a:xfrm>
            <a:off x="1905000" y="1143002"/>
            <a:ext cx="8763000" cy="461665"/>
          </a:xfrm>
          <a:prstGeom prst="rect">
            <a:avLst/>
          </a:prstGeom>
          <a:noFill/>
          <a:ln w="9525">
            <a:noFill/>
            <a:miter lim="800000"/>
            <a:headEnd/>
            <a:tailEnd/>
          </a:ln>
        </p:spPr>
        <p:txBody>
          <a:bodyPr wrap="square">
            <a:spAutoFit/>
          </a:bodyPr>
          <a:lstStyle/>
          <a:p>
            <a:pPr marL="342900" indent="-342900" algn="r">
              <a:spcBef>
                <a:spcPts val="0"/>
              </a:spcBef>
              <a:spcAft>
                <a:spcPts val="0"/>
              </a:spcAft>
            </a:pPr>
            <a:r>
              <a:rPr lang="en-IN" sz="2400" b="1" dirty="0">
                <a:solidFill>
                  <a:srgbClr val="FF0000"/>
                </a:solidFill>
              </a:rPr>
              <a:t>Driver Drowsiness Dataset (D3S)</a:t>
            </a:r>
            <a:r>
              <a:rPr lang="en-US" sz="2400" b="1" dirty="0">
                <a:solidFill>
                  <a:srgbClr val="FF0000"/>
                </a:solidFill>
                <a:latin typeface="Trebuchet MS"/>
                <a:sym typeface="Trebuchet MS"/>
              </a:rPr>
              <a:t> </a:t>
            </a:r>
            <a:r>
              <a:rPr lang="en-US" sz="2400" dirty="0">
                <a:solidFill>
                  <a:srgbClr val="FF0000"/>
                </a:solidFill>
                <a:latin typeface="Trebuchet MS"/>
                <a:sym typeface="Trebuchet MS"/>
              </a:rPr>
              <a:t>Exploration</a:t>
            </a:r>
            <a:endParaRPr lang="en-US" sz="2400" dirty="0"/>
          </a:p>
        </p:txBody>
      </p:sp>
      <p:sp>
        <p:nvSpPr>
          <p:cNvPr id="6" name="Content Placeholder 2"/>
          <p:cNvSpPr txBox="1">
            <a:spLocks/>
          </p:cNvSpPr>
          <p:nvPr/>
        </p:nvSpPr>
        <p:spPr>
          <a:xfrm>
            <a:off x="1905000" y="1373834"/>
            <a:ext cx="8229600" cy="5374625"/>
          </a:xfrm>
          <a:prstGeom prst="rect">
            <a:avLst/>
          </a:prstGeom>
        </p:spPr>
        <p:txBody>
          <a:bodyPr/>
          <a:lstStyle/>
          <a:p>
            <a:pPr algn="just">
              <a:spcBef>
                <a:spcPts val="0"/>
              </a:spcBef>
              <a:spcAft>
                <a:spcPts val="0"/>
              </a:spcAft>
            </a:pPr>
            <a:endParaRPr lang="en-US" sz="2400" dirty="0">
              <a:solidFill>
                <a:srgbClr val="0033CC"/>
              </a:solidFill>
              <a:latin typeface="Trebuchet MS" panose="020B0603020202020204" pitchFamily="34" charset="0"/>
              <a:ea typeface="Trebuchet MS"/>
              <a:cs typeface="Trebuchet MS"/>
              <a:sym typeface="Trebuchet MS"/>
            </a:endParaRPr>
          </a:p>
          <a:p>
            <a:pPr marL="342900" indent="-342900" algn="just">
              <a:spcBef>
                <a:spcPts val="0"/>
              </a:spcBef>
              <a:spcAft>
                <a:spcPts val="0"/>
              </a:spcAft>
              <a:buFont typeface="Wingdings" panose="05000000000000000000" pitchFamily="2" charset="2"/>
              <a:buChar char="q"/>
            </a:pPr>
            <a:r>
              <a:rPr lang="en-US" sz="2400" dirty="0">
                <a:solidFill>
                  <a:srgbClr val="0033CC"/>
                </a:solidFill>
                <a:latin typeface="Trebuchet MS" panose="020B0603020202020204" pitchFamily="34" charset="0"/>
                <a:ea typeface="Trebuchet MS"/>
                <a:cs typeface="Trebuchet MS"/>
                <a:sym typeface="Trebuchet MS"/>
              </a:rPr>
              <a:t>Availability of dataset</a:t>
            </a:r>
          </a:p>
          <a:p>
            <a:pPr algn="just">
              <a:spcBef>
                <a:spcPts val="0"/>
              </a:spcBef>
              <a:spcAft>
                <a:spcPts val="0"/>
              </a:spcAft>
            </a:pPr>
            <a:r>
              <a:rPr lang="en-US" b="1" dirty="0">
                <a:latin typeface="Trebuchet MS" panose="020B0603020202020204" pitchFamily="34" charset="0"/>
              </a:rPr>
              <a:t>The D3S dataset is publicly available for academic research. It can be accessed through the official GitHub repository, which provides video files, extracted frames, and annotation data.</a:t>
            </a:r>
          </a:p>
          <a:p>
            <a:pPr algn="just">
              <a:spcBef>
                <a:spcPts val="0"/>
              </a:spcBef>
              <a:spcAft>
                <a:spcPts val="0"/>
              </a:spcAft>
            </a:pPr>
            <a:endParaRPr lang="en-US" b="1" dirty="0">
              <a:solidFill>
                <a:srgbClr val="0033CC"/>
              </a:solidFill>
              <a:latin typeface="Trebuchet MS" panose="020B0603020202020204" pitchFamily="34" charset="0"/>
              <a:ea typeface="Trebuchet MS"/>
              <a:cs typeface="Trebuchet MS"/>
              <a:sym typeface="Trebuchet MS"/>
            </a:endParaRPr>
          </a:p>
          <a:p>
            <a:pPr marL="342900" indent="-342900" algn="just">
              <a:spcBef>
                <a:spcPts val="0"/>
              </a:spcBef>
              <a:spcAft>
                <a:spcPts val="0"/>
              </a:spcAft>
              <a:buFont typeface="Wingdings" panose="05000000000000000000" pitchFamily="2" charset="2"/>
              <a:buChar char="q"/>
            </a:pPr>
            <a:r>
              <a:rPr lang="en-US" sz="2400" dirty="0">
                <a:solidFill>
                  <a:srgbClr val="0033CC"/>
                </a:solidFill>
                <a:latin typeface="Trebuchet MS" panose="020B0603020202020204" pitchFamily="34" charset="0"/>
                <a:ea typeface="Trebuchet MS"/>
                <a:cs typeface="Trebuchet MS"/>
                <a:sym typeface="Trebuchet MS"/>
              </a:rPr>
              <a:t>Source of dataset</a:t>
            </a:r>
          </a:p>
          <a:p>
            <a:pPr algn="just">
              <a:spcBef>
                <a:spcPts val="0"/>
              </a:spcBef>
              <a:spcAft>
                <a:spcPts val="0"/>
              </a:spcAft>
            </a:pPr>
            <a:r>
              <a:rPr lang="en-US" b="1" dirty="0">
                <a:latin typeface="Trebuchet MS" panose="020B0603020202020204" pitchFamily="34" charset="0"/>
              </a:rPr>
              <a:t>The dataset is released through the GitHub project “Driver-Drowsiness-Dataset-D3S” created by independent researchers. The repository contains the original drowsiness videos and corresponding frame-level annotations.</a:t>
            </a:r>
          </a:p>
          <a:p>
            <a:pPr algn="just">
              <a:spcBef>
                <a:spcPts val="0"/>
              </a:spcBef>
              <a:spcAft>
                <a:spcPts val="0"/>
              </a:spcAft>
            </a:pPr>
            <a:endParaRPr lang="en-US" b="1" dirty="0">
              <a:solidFill>
                <a:srgbClr val="0033CC"/>
              </a:solidFill>
              <a:latin typeface="Trebuchet MS" panose="020B0603020202020204" pitchFamily="34" charset="0"/>
              <a:ea typeface="Trebuchet MS"/>
              <a:cs typeface="Trebuchet MS"/>
              <a:sym typeface="Trebuchet MS"/>
            </a:endParaRPr>
          </a:p>
          <a:p>
            <a:pPr marL="342900" indent="-342900" algn="just">
              <a:spcBef>
                <a:spcPts val="0"/>
              </a:spcBef>
              <a:spcAft>
                <a:spcPts val="0"/>
              </a:spcAft>
              <a:buFont typeface="Wingdings" panose="05000000000000000000" pitchFamily="2" charset="2"/>
              <a:buChar char="q"/>
            </a:pPr>
            <a:r>
              <a:rPr lang="en-US" sz="2400" dirty="0">
                <a:solidFill>
                  <a:srgbClr val="0033CC"/>
                </a:solidFill>
                <a:latin typeface="Trebuchet MS" panose="020B0603020202020204" pitchFamily="34" charset="0"/>
                <a:ea typeface="Trebuchet MS"/>
                <a:cs typeface="Trebuchet MS"/>
                <a:sym typeface="Trebuchet MS"/>
              </a:rPr>
              <a:t>Size of dataset</a:t>
            </a:r>
          </a:p>
          <a:p>
            <a:pPr algn="just">
              <a:spcBef>
                <a:spcPts val="0"/>
              </a:spcBef>
              <a:spcAft>
                <a:spcPts val="0"/>
              </a:spcAft>
            </a:pPr>
            <a:r>
              <a:rPr lang="en-US" b="1" dirty="0">
                <a:latin typeface="Trebuchet MS" panose="020B0603020202020204" pitchFamily="34" charset="0"/>
              </a:rPr>
              <a:t>The dataset consists of approximately 3 minutes of drowsiness-related video recordings, with an overall size of around 300–500 MB. It includes 3 subjects and multiple facial behavior classes such as eye closing, yawning, neutral</a:t>
            </a:r>
            <a:r>
              <a:rPr lang="en-US" sz="2400" b="1" dirty="0">
                <a:latin typeface="Trebuchet MS" panose="020B0603020202020204" pitchFamily="34" charset="0"/>
              </a:rPr>
              <a:t>, </a:t>
            </a:r>
            <a:r>
              <a:rPr lang="en-US" b="1" dirty="0">
                <a:latin typeface="Trebuchet MS" panose="020B0603020202020204" pitchFamily="34" charset="0"/>
              </a:rPr>
              <a:t>and happy expressions.</a:t>
            </a:r>
            <a:endParaRPr lang="en-US" b="1" dirty="0">
              <a:solidFill>
                <a:srgbClr val="0033CC"/>
              </a:solidFill>
              <a:latin typeface="Trebuchet MS" panose="020B0603020202020204" pitchFamily="34" charset="0"/>
              <a:ea typeface="Trebuchet MS"/>
              <a:cs typeface="Trebuchet MS"/>
              <a:sym typeface="Trebuchet MS"/>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a:spLocks noChangeArrowheads="1"/>
          </p:cNvSpPr>
          <p:nvPr/>
        </p:nvSpPr>
        <p:spPr bwMode="auto">
          <a:xfrm>
            <a:off x="3048000" y="1581155"/>
            <a:ext cx="7620000" cy="36513"/>
          </a:xfrm>
          <a:prstGeom prst="rect">
            <a:avLst/>
          </a:prstGeom>
          <a:solidFill>
            <a:srgbClr val="33CCCC"/>
          </a:solidFill>
          <a:ln w="9525">
            <a:noFill/>
            <a:miter lim="800000"/>
            <a:headEnd/>
            <a:tailEnd/>
          </a:ln>
        </p:spPr>
        <p:txBody>
          <a:bodyPr wrap="none" anchor="ctr"/>
          <a:lstStyle/>
          <a:p>
            <a:endParaRPr lang="en-US"/>
          </a:p>
        </p:txBody>
      </p:sp>
      <p:sp>
        <p:nvSpPr>
          <p:cNvPr id="13" name="Text Box 34"/>
          <p:cNvSpPr txBox="1">
            <a:spLocks noChangeArrowheads="1"/>
          </p:cNvSpPr>
          <p:nvPr/>
        </p:nvSpPr>
        <p:spPr bwMode="auto">
          <a:xfrm>
            <a:off x="1905000" y="1143002"/>
            <a:ext cx="8763000" cy="461665"/>
          </a:xfrm>
          <a:prstGeom prst="rect">
            <a:avLst/>
          </a:prstGeom>
          <a:noFill/>
          <a:ln w="9525">
            <a:noFill/>
            <a:miter lim="800000"/>
            <a:headEnd/>
            <a:tailEnd/>
          </a:ln>
        </p:spPr>
        <p:txBody>
          <a:bodyPr wrap="square">
            <a:spAutoFit/>
          </a:bodyPr>
          <a:lstStyle/>
          <a:p>
            <a:pPr marL="342900" indent="-342900" algn="r">
              <a:spcBef>
                <a:spcPts val="0"/>
              </a:spcBef>
              <a:spcAft>
                <a:spcPts val="0"/>
              </a:spcAft>
            </a:pPr>
            <a:r>
              <a:rPr lang="en-US" sz="2400" dirty="0">
                <a:solidFill>
                  <a:srgbClr val="FF0000"/>
                </a:solidFill>
              </a:rPr>
              <a:t>Driver Anomaly Detection (DAD) Dataset</a:t>
            </a:r>
            <a:r>
              <a:rPr lang="en-US" sz="2400" dirty="0">
                <a:solidFill>
                  <a:srgbClr val="FF0000"/>
                </a:solidFill>
                <a:latin typeface="Trebuchet MS"/>
                <a:sym typeface="Trebuchet MS"/>
              </a:rPr>
              <a:t> Exploration</a:t>
            </a:r>
            <a:endParaRPr lang="en-US" sz="2400" dirty="0"/>
          </a:p>
        </p:txBody>
      </p:sp>
      <p:sp>
        <p:nvSpPr>
          <p:cNvPr id="6" name="Content Placeholder 2"/>
          <p:cNvSpPr txBox="1">
            <a:spLocks/>
          </p:cNvSpPr>
          <p:nvPr/>
        </p:nvSpPr>
        <p:spPr>
          <a:xfrm>
            <a:off x="609600" y="1605636"/>
            <a:ext cx="11353800" cy="5105400"/>
          </a:xfrm>
          <a:prstGeom prst="rect">
            <a:avLst/>
          </a:prstGeom>
        </p:spPr>
        <p:txBody>
          <a:bodyPr/>
          <a:lstStyle/>
          <a:p>
            <a:pPr algn="just">
              <a:spcBef>
                <a:spcPts val="0"/>
              </a:spcBef>
              <a:spcAft>
                <a:spcPts val="0"/>
              </a:spcAft>
            </a:pPr>
            <a:endParaRPr lang="en-US" sz="2400" dirty="0">
              <a:solidFill>
                <a:srgbClr val="0033CC"/>
              </a:solidFill>
              <a:latin typeface="Trebuchet MS" panose="020B0603020202020204" pitchFamily="34" charset="0"/>
              <a:ea typeface="Trebuchet MS"/>
              <a:cs typeface="Trebuchet MS"/>
              <a:sym typeface="Trebuchet MS"/>
            </a:endParaRPr>
          </a:p>
          <a:p>
            <a:pPr marL="342900" indent="-342900" algn="just">
              <a:spcBef>
                <a:spcPts val="0"/>
              </a:spcBef>
              <a:spcAft>
                <a:spcPts val="0"/>
              </a:spcAft>
              <a:buFont typeface="Wingdings" panose="05000000000000000000" pitchFamily="2" charset="2"/>
              <a:buChar char="q"/>
            </a:pPr>
            <a:r>
              <a:rPr lang="en-US" sz="2400" dirty="0">
                <a:solidFill>
                  <a:srgbClr val="0033CC"/>
                </a:solidFill>
                <a:latin typeface="Trebuchet MS" panose="020B0603020202020204" pitchFamily="34" charset="0"/>
                <a:ea typeface="Trebuchet MS"/>
                <a:cs typeface="Trebuchet MS"/>
                <a:sym typeface="Trebuchet MS"/>
              </a:rPr>
              <a:t>Availability of dataset</a:t>
            </a:r>
          </a:p>
          <a:p>
            <a:pPr algn="l">
              <a:spcBef>
                <a:spcPts val="0"/>
              </a:spcBef>
              <a:spcAft>
                <a:spcPts val="0"/>
              </a:spcAft>
            </a:pPr>
            <a:r>
              <a:rPr lang="en-US" sz="1400" b="1" dirty="0">
                <a:latin typeface="Trebuchet MS" panose="020B0603020202020204" pitchFamily="34" charset="0"/>
              </a:rPr>
              <a:t>The Driver Anomaly Detection (DAD) dataset is publicly available for academic and research purposes.</a:t>
            </a:r>
            <a:br>
              <a:rPr lang="en-US" sz="1400" b="1" dirty="0">
                <a:latin typeface="Trebuchet MS" panose="020B0603020202020204" pitchFamily="34" charset="0"/>
              </a:rPr>
            </a:br>
            <a:r>
              <a:rPr lang="en-US" sz="1400" b="1" dirty="0">
                <a:latin typeface="Trebuchet MS" panose="020B0603020202020204" pitchFamily="34" charset="0"/>
              </a:rPr>
              <a:t>It can be accessed and downloaded only after agreeing to the terms of the official license issued by the Institute for Human-Machine Communication (MMK), </a:t>
            </a:r>
            <a:r>
              <a:rPr lang="en-US" sz="1400" b="1" dirty="0" err="1">
                <a:latin typeface="Trebuchet MS" panose="020B0603020202020204" pitchFamily="34" charset="0"/>
              </a:rPr>
              <a:t>Technische</a:t>
            </a:r>
            <a:r>
              <a:rPr lang="en-US" sz="1400" b="1" dirty="0">
                <a:latin typeface="Trebuchet MS" panose="020B0603020202020204" pitchFamily="34" charset="0"/>
              </a:rPr>
              <a:t> Universität München (TUM).</a:t>
            </a:r>
          </a:p>
          <a:p>
            <a:pPr algn="l">
              <a:spcBef>
                <a:spcPts val="0"/>
              </a:spcBef>
              <a:spcAft>
                <a:spcPts val="0"/>
              </a:spcAft>
            </a:pPr>
            <a:endParaRPr lang="en-US" sz="1400" dirty="0">
              <a:solidFill>
                <a:srgbClr val="0033CC"/>
              </a:solidFill>
              <a:latin typeface="Trebuchet MS" panose="020B0603020202020204" pitchFamily="34" charset="0"/>
              <a:ea typeface="Trebuchet MS"/>
              <a:cs typeface="Trebuchet MS"/>
              <a:sym typeface="Trebuchet MS"/>
            </a:endParaRPr>
          </a:p>
          <a:p>
            <a:pPr marL="342900" indent="-342900" algn="just">
              <a:spcBef>
                <a:spcPts val="0"/>
              </a:spcBef>
              <a:spcAft>
                <a:spcPts val="0"/>
              </a:spcAft>
              <a:buFont typeface="Wingdings" panose="05000000000000000000" pitchFamily="2" charset="2"/>
              <a:buChar char="q"/>
            </a:pPr>
            <a:r>
              <a:rPr lang="en-US" sz="2400" dirty="0">
                <a:solidFill>
                  <a:srgbClr val="0033CC"/>
                </a:solidFill>
                <a:latin typeface="Trebuchet MS" panose="020B0603020202020204" pitchFamily="34" charset="0"/>
                <a:ea typeface="Trebuchet MS"/>
                <a:cs typeface="Trebuchet MS"/>
                <a:sym typeface="Trebuchet MS"/>
              </a:rPr>
              <a:t>Source of dataset</a:t>
            </a:r>
          </a:p>
          <a:p>
            <a:pPr algn="l">
              <a:spcBef>
                <a:spcPts val="0"/>
              </a:spcBef>
              <a:spcAft>
                <a:spcPts val="0"/>
              </a:spcAft>
            </a:pPr>
            <a:r>
              <a:rPr lang="en-IN" sz="1400" b="1" dirty="0">
                <a:latin typeface="Trebuchet MS" panose="020B0603020202020204" pitchFamily="34" charset="0"/>
              </a:rPr>
              <a:t>Driver Anomaly Detection (DAD) Dataset</a:t>
            </a:r>
            <a:br>
              <a:rPr lang="en-IN" sz="1400" b="1" dirty="0">
                <a:latin typeface="Trebuchet MS" panose="020B0603020202020204" pitchFamily="34" charset="0"/>
              </a:rPr>
            </a:br>
            <a:r>
              <a:rPr lang="en-IN" sz="1400" b="1" dirty="0">
                <a:latin typeface="Trebuchet MS" panose="020B0603020202020204" pitchFamily="34" charset="0"/>
              </a:rPr>
              <a:t>Institute for Human-Machine Communication (MMK)</a:t>
            </a:r>
            <a:br>
              <a:rPr lang="en-IN" sz="1400" b="1" dirty="0">
                <a:latin typeface="Trebuchet MS" panose="020B0603020202020204" pitchFamily="34" charset="0"/>
              </a:rPr>
            </a:br>
            <a:r>
              <a:rPr lang="en-IN" sz="1400" b="1" dirty="0" err="1">
                <a:latin typeface="Trebuchet MS" panose="020B0603020202020204" pitchFamily="34" charset="0"/>
              </a:rPr>
              <a:t>Technische</a:t>
            </a:r>
            <a:r>
              <a:rPr lang="en-IN" sz="1400" b="1" dirty="0">
                <a:latin typeface="Trebuchet MS" panose="020B0603020202020204" pitchFamily="34" charset="0"/>
              </a:rPr>
              <a:t> Universität München (TUM), Germany.</a:t>
            </a:r>
            <a:endParaRPr lang="en-US" sz="1400" b="1" dirty="0">
              <a:solidFill>
                <a:srgbClr val="0033CC"/>
              </a:solidFill>
              <a:latin typeface="Trebuchet MS" panose="020B0603020202020204" pitchFamily="34" charset="0"/>
              <a:ea typeface="Trebuchet MS"/>
              <a:cs typeface="Trebuchet MS"/>
              <a:sym typeface="Trebuchet MS"/>
            </a:endParaRPr>
          </a:p>
          <a:p>
            <a:pPr algn="just">
              <a:spcBef>
                <a:spcPts val="0"/>
              </a:spcBef>
              <a:spcAft>
                <a:spcPts val="0"/>
              </a:spcAft>
            </a:pPr>
            <a:endParaRPr lang="en-US" sz="2400" dirty="0">
              <a:solidFill>
                <a:srgbClr val="0033CC"/>
              </a:solidFill>
              <a:latin typeface="Trebuchet MS" panose="020B0603020202020204" pitchFamily="34" charset="0"/>
              <a:ea typeface="Trebuchet MS"/>
              <a:cs typeface="Trebuchet MS"/>
              <a:sym typeface="Trebuchet MS"/>
            </a:endParaRPr>
          </a:p>
          <a:p>
            <a:pPr marL="342900" indent="-342900" algn="just">
              <a:spcBef>
                <a:spcPts val="0"/>
              </a:spcBef>
              <a:spcAft>
                <a:spcPts val="0"/>
              </a:spcAft>
              <a:buFont typeface="Wingdings" panose="05000000000000000000" pitchFamily="2" charset="2"/>
              <a:buChar char="q"/>
            </a:pPr>
            <a:r>
              <a:rPr lang="en-US" sz="2400" dirty="0">
                <a:solidFill>
                  <a:srgbClr val="0033CC"/>
                </a:solidFill>
                <a:latin typeface="Trebuchet MS" panose="020B0603020202020204" pitchFamily="34" charset="0"/>
                <a:ea typeface="Trebuchet MS"/>
                <a:cs typeface="Trebuchet MS"/>
                <a:sym typeface="Trebuchet MS"/>
              </a:rPr>
              <a:t>Size of dataset</a:t>
            </a:r>
          </a:p>
          <a:p>
            <a:pPr algn="l">
              <a:spcBef>
                <a:spcPts val="0"/>
              </a:spcBef>
              <a:spcAft>
                <a:spcPts val="0"/>
              </a:spcAft>
            </a:pPr>
            <a:r>
              <a:rPr lang="en-US" sz="1600" b="1" dirty="0">
                <a:latin typeface="Trebuchet MS" panose="020B0603020202020204" pitchFamily="34" charset="0"/>
              </a:rPr>
              <a:t>The downloaded version contains approximately 9 GB of night-vision image frames.</a:t>
            </a:r>
            <a:br>
              <a:rPr lang="en-US" sz="1600" b="1" dirty="0">
                <a:latin typeface="Trebuchet MS" panose="020B0603020202020204" pitchFamily="34" charset="0"/>
              </a:rPr>
            </a:br>
            <a:r>
              <a:rPr lang="en-US" sz="1600" b="1" dirty="0">
                <a:latin typeface="Trebuchet MS" panose="020B0603020202020204" pitchFamily="34" charset="0"/>
              </a:rPr>
              <a:t>This version includes images only (no video files) extracted from the original DAD dataset.</a:t>
            </a:r>
            <a:br>
              <a:rPr lang="en-US" sz="1600" b="1" dirty="0">
                <a:latin typeface="Trebuchet MS" panose="020B0603020202020204" pitchFamily="34" charset="0"/>
              </a:rPr>
            </a:br>
            <a:r>
              <a:rPr lang="en-US" sz="1600" b="1" dirty="0">
                <a:latin typeface="Trebuchet MS" panose="020B0603020202020204" pitchFamily="34" charset="0"/>
              </a:rPr>
              <a:t>Resolution ranges from 640×480 to 1280×720 depending on the frame set.</a:t>
            </a:r>
            <a:endParaRPr lang="en-US" sz="1600" b="1" dirty="0">
              <a:solidFill>
                <a:srgbClr val="0033CC"/>
              </a:solidFill>
              <a:latin typeface="Trebuchet MS" panose="020B0603020202020204" pitchFamily="34" charset="0"/>
              <a:ea typeface="Trebuchet MS"/>
              <a:cs typeface="Trebuchet MS"/>
              <a:sym typeface="Trebuchet MS"/>
            </a:endParaRPr>
          </a:p>
          <a:p>
            <a:pPr algn="just">
              <a:spcBef>
                <a:spcPts val="0"/>
              </a:spcBef>
              <a:spcAft>
                <a:spcPts val="0"/>
              </a:spcAft>
            </a:pPr>
            <a:endParaRPr lang="en-US" sz="2400" dirty="0">
              <a:solidFill>
                <a:srgbClr val="0033CC"/>
              </a:solidFill>
              <a:latin typeface="Trebuchet MS" panose="020B0603020202020204" pitchFamily="34" charset="0"/>
              <a:ea typeface="Trebuchet MS"/>
              <a:cs typeface="Trebuchet MS"/>
              <a:sym typeface="Trebuchet MS"/>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a:spLocks noChangeArrowheads="1"/>
          </p:cNvSpPr>
          <p:nvPr/>
        </p:nvSpPr>
        <p:spPr bwMode="auto">
          <a:xfrm>
            <a:off x="2743200" y="1407444"/>
            <a:ext cx="7620000" cy="36513"/>
          </a:xfrm>
          <a:prstGeom prst="rect">
            <a:avLst/>
          </a:prstGeom>
          <a:solidFill>
            <a:srgbClr val="33CCCC"/>
          </a:solidFill>
          <a:ln w="9525">
            <a:noFill/>
            <a:miter lim="800000"/>
            <a:headEnd/>
            <a:tailEnd/>
          </a:ln>
        </p:spPr>
        <p:txBody>
          <a:bodyPr wrap="none" anchor="ctr"/>
          <a:lstStyle/>
          <a:p>
            <a:endParaRPr lang="en-US"/>
          </a:p>
        </p:txBody>
      </p:sp>
      <p:sp>
        <p:nvSpPr>
          <p:cNvPr id="13" name="Text Box 34"/>
          <p:cNvSpPr txBox="1">
            <a:spLocks noChangeArrowheads="1"/>
          </p:cNvSpPr>
          <p:nvPr/>
        </p:nvSpPr>
        <p:spPr bwMode="auto">
          <a:xfrm>
            <a:off x="1600200" y="945779"/>
            <a:ext cx="8763000" cy="461665"/>
          </a:xfrm>
          <a:prstGeom prst="rect">
            <a:avLst/>
          </a:prstGeom>
          <a:noFill/>
          <a:ln w="9525">
            <a:noFill/>
            <a:miter lim="800000"/>
            <a:headEnd/>
            <a:tailEnd/>
          </a:ln>
        </p:spPr>
        <p:txBody>
          <a:bodyPr wrap="square">
            <a:spAutoFit/>
          </a:bodyPr>
          <a:lstStyle/>
          <a:p>
            <a:pPr marL="342900" indent="-342900" algn="r">
              <a:spcBef>
                <a:spcPts val="0"/>
              </a:spcBef>
              <a:spcAft>
                <a:spcPts val="0"/>
              </a:spcAft>
            </a:pPr>
            <a:r>
              <a:rPr lang="en-US" sz="2400" dirty="0">
                <a:solidFill>
                  <a:srgbClr val="FF0000"/>
                </a:solidFill>
                <a:latin typeface="Trebuchet MS"/>
                <a:ea typeface="Trebuchet MS"/>
                <a:cs typeface="Trebuchet MS"/>
                <a:sym typeface="Trebuchet MS"/>
              </a:rPr>
              <a:t>Expected Deliverables</a:t>
            </a:r>
            <a:endParaRPr lang="en-US" sz="2400" dirty="0"/>
          </a:p>
        </p:txBody>
      </p:sp>
      <p:sp>
        <p:nvSpPr>
          <p:cNvPr id="6" name="Content Placeholder 2"/>
          <p:cNvSpPr txBox="1">
            <a:spLocks/>
          </p:cNvSpPr>
          <p:nvPr/>
        </p:nvSpPr>
        <p:spPr>
          <a:xfrm>
            <a:off x="685800" y="1752600"/>
            <a:ext cx="9982200" cy="4724400"/>
          </a:xfrm>
          <a:prstGeom prst="rect">
            <a:avLst/>
          </a:prstGeom>
        </p:spPr>
        <p:txBody>
          <a:bodyPr/>
          <a:lstStyle/>
          <a:p>
            <a:pPr algn="just">
              <a:spcBef>
                <a:spcPts val="0"/>
              </a:spcBef>
              <a:spcAft>
                <a:spcPts val="0"/>
              </a:spcAft>
            </a:pPr>
            <a:r>
              <a:rPr lang="en-US" sz="2600" b="1" dirty="0">
                <a:solidFill>
                  <a:srgbClr val="0000FF"/>
                </a:solidFill>
                <a:latin typeface="Trebuchet MS" panose="020B0603020202020204" pitchFamily="34" charset="0"/>
              </a:rPr>
              <a:t>Capstone-I → Research &amp; Baseline :</a:t>
            </a:r>
            <a:endParaRPr lang="en-US" sz="2400" dirty="0">
              <a:latin typeface="Trebuchet MS" panose="020B0603020202020204" pitchFamily="34" charset="0"/>
            </a:endParaRPr>
          </a:p>
          <a:p>
            <a:pPr marL="457200" indent="-457200" algn="just">
              <a:spcBef>
                <a:spcPts val="0"/>
              </a:spcBef>
              <a:spcAft>
                <a:spcPts val="0"/>
              </a:spcAft>
              <a:buFont typeface="Arial" panose="020B0604020202020204" pitchFamily="34" charset="0"/>
              <a:buChar char="•"/>
            </a:pPr>
            <a:r>
              <a:rPr lang="en-US" sz="2400" dirty="0">
                <a:latin typeface="Trebuchet MS" panose="020B0603020202020204" pitchFamily="34" charset="0"/>
                <a:ea typeface="Calibri" panose="020F0502020204030204" pitchFamily="34" charset="0"/>
                <a:cs typeface="Calibri" panose="020F0502020204030204" pitchFamily="34" charset="0"/>
              </a:rPr>
              <a:t>Collect and preprocess datasets (e.g., </a:t>
            </a:r>
            <a:r>
              <a:rPr lang="en-US" sz="2400" dirty="0" err="1">
                <a:latin typeface="Trebuchet MS" panose="020B0603020202020204" pitchFamily="34" charset="0"/>
                <a:ea typeface="Calibri" panose="020F0502020204030204" pitchFamily="34" charset="0"/>
                <a:cs typeface="Calibri" panose="020F0502020204030204" pitchFamily="34" charset="0"/>
              </a:rPr>
              <a:t>AICity</a:t>
            </a:r>
            <a:r>
              <a:rPr lang="en-US" sz="2400" dirty="0">
                <a:latin typeface="Trebuchet MS" panose="020B0603020202020204" pitchFamily="34" charset="0"/>
                <a:ea typeface="Calibri" panose="020F0502020204030204" pitchFamily="34" charset="0"/>
                <a:cs typeface="Calibri" panose="020F0502020204030204" pitchFamily="34" charset="0"/>
              </a:rPr>
              <a:t> Challenge</a:t>
            </a:r>
            <a:r>
              <a:rPr lang="en-US" sz="2400" dirty="0">
                <a:latin typeface="Trebuchet MS" panose="020B0603020202020204" pitchFamily="34" charset="0"/>
              </a:rPr>
              <a:t>).</a:t>
            </a:r>
          </a:p>
          <a:p>
            <a:pPr marL="457200" indent="-457200" algn="just">
              <a:spcBef>
                <a:spcPts val="0"/>
              </a:spcBef>
              <a:spcAft>
                <a:spcPts val="0"/>
              </a:spcAft>
              <a:buFont typeface="Arial" panose="020B0604020202020204" pitchFamily="34" charset="0"/>
              <a:buChar char="•"/>
            </a:pPr>
            <a:r>
              <a:rPr lang="en-US" sz="2400" dirty="0">
                <a:latin typeface="Trebuchet MS" panose="020B0603020202020204" pitchFamily="34" charset="0"/>
                <a:ea typeface="Calibri" panose="020F0502020204030204" pitchFamily="34" charset="0"/>
                <a:cs typeface="Calibri" panose="020F0502020204030204" pitchFamily="34" charset="0"/>
              </a:rPr>
              <a:t>Build a </a:t>
            </a:r>
            <a:r>
              <a:rPr lang="en-US" sz="2400" b="1" dirty="0">
                <a:latin typeface="Trebuchet MS" panose="020B0603020202020204" pitchFamily="34" charset="0"/>
                <a:ea typeface="Calibri" panose="020F0502020204030204" pitchFamily="34" charset="0"/>
                <a:cs typeface="Calibri" panose="020F0502020204030204" pitchFamily="34" charset="0"/>
              </a:rPr>
              <a:t>baseline model</a:t>
            </a:r>
            <a:r>
              <a:rPr lang="en-US" sz="2400" dirty="0">
                <a:latin typeface="Trebuchet MS" panose="020B0603020202020204" pitchFamily="34" charset="0"/>
                <a:ea typeface="Calibri" panose="020F0502020204030204" pitchFamily="34" charset="0"/>
                <a:cs typeface="Calibri" panose="020F0502020204030204" pitchFamily="34" charset="0"/>
              </a:rPr>
              <a:t> (simple CNN or </a:t>
            </a:r>
            <a:r>
              <a:rPr lang="en-US" sz="2400" dirty="0" err="1">
                <a:latin typeface="Trebuchet MS" panose="020B0603020202020204" pitchFamily="34" charset="0"/>
                <a:ea typeface="Calibri" panose="020F0502020204030204" pitchFamily="34" charset="0"/>
                <a:cs typeface="Calibri" panose="020F0502020204030204" pitchFamily="34" charset="0"/>
              </a:rPr>
              <a:t>Autoencoder</a:t>
            </a:r>
            <a:r>
              <a:rPr lang="en-US" sz="2400" dirty="0">
                <a:latin typeface="Trebuchet MS" panose="020B0603020202020204" pitchFamily="34" charset="0"/>
                <a:ea typeface="Calibri" panose="020F0502020204030204" pitchFamily="34" charset="0"/>
                <a:cs typeface="Calibri" panose="020F0502020204030204" pitchFamily="34" charset="0"/>
              </a:rPr>
              <a:t>) for anomaly detection.</a:t>
            </a:r>
          </a:p>
          <a:p>
            <a:pPr algn="just">
              <a:spcBef>
                <a:spcPts val="0"/>
              </a:spcBef>
              <a:spcAft>
                <a:spcPts val="0"/>
              </a:spcAft>
            </a:pPr>
            <a:endParaRPr lang="en-US" sz="2400" dirty="0">
              <a:latin typeface="Trebuchet MS" panose="020B0603020202020204" pitchFamily="34" charset="0"/>
              <a:ea typeface="Calibri" panose="020F0502020204030204" pitchFamily="34" charset="0"/>
              <a:cs typeface="Calibri" panose="020F0502020204030204" pitchFamily="34" charset="0"/>
            </a:endParaRPr>
          </a:p>
          <a:p>
            <a:pPr algn="just">
              <a:spcBef>
                <a:spcPts val="0"/>
              </a:spcBef>
              <a:spcAft>
                <a:spcPts val="0"/>
              </a:spcAft>
            </a:pPr>
            <a:r>
              <a:rPr lang="en-US" sz="2600" b="1" dirty="0">
                <a:solidFill>
                  <a:srgbClr val="0000FF"/>
                </a:solidFill>
                <a:latin typeface="Trebuchet MS" panose="020B0603020202020204" pitchFamily="34" charset="0"/>
              </a:rPr>
              <a:t>Capstone-II → Model Development :</a:t>
            </a:r>
          </a:p>
          <a:p>
            <a:pPr marL="342900" indent="-342900" algn="just">
              <a:spcBef>
                <a:spcPts val="0"/>
              </a:spcBef>
              <a:spcAft>
                <a:spcPts val="0"/>
              </a:spcAft>
              <a:buFont typeface="Arial" panose="020B0604020202020204" pitchFamily="34" charset="0"/>
              <a:buChar char="•"/>
            </a:pPr>
            <a:r>
              <a:rPr lang="en-US" sz="2400" dirty="0">
                <a:latin typeface="Trebuchet MS" panose="020B0603020202020204" pitchFamily="34" charset="0"/>
              </a:rPr>
              <a:t>Design </a:t>
            </a:r>
            <a:r>
              <a:rPr lang="en-US" sz="2400" b="1" dirty="0">
                <a:latin typeface="Trebuchet MS" panose="020B0603020202020204" pitchFamily="34" charset="0"/>
              </a:rPr>
              <a:t>multi-modal deep learning models</a:t>
            </a:r>
            <a:r>
              <a:rPr lang="en-US" sz="2400" dirty="0">
                <a:latin typeface="Trebuchet MS" panose="020B0603020202020204" pitchFamily="34" charset="0"/>
              </a:rPr>
              <a:t> (CNN–LSTM).</a:t>
            </a:r>
          </a:p>
          <a:p>
            <a:pPr marL="342900" indent="-342900" algn="just">
              <a:spcBef>
                <a:spcPts val="0"/>
              </a:spcBef>
              <a:spcAft>
                <a:spcPts val="0"/>
              </a:spcAft>
              <a:buFont typeface="Arial" panose="020B0604020202020204" pitchFamily="34" charset="0"/>
              <a:buChar char="•"/>
            </a:pPr>
            <a:r>
              <a:rPr lang="en-US" sz="2400" dirty="0">
                <a:latin typeface="Trebuchet MS" panose="020B0603020202020204" pitchFamily="34" charset="0"/>
              </a:rPr>
              <a:t>Evaluate accuracy, precision, recall, F1-score for anomaly detection.</a:t>
            </a:r>
          </a:p>
          <a:p>
            <a:pPr marL="342900" indent="-342900" algn="just">
              <a:spcBef>
                <a:spcPts val="0"/>
              </a:spcBef>
              <a:spcAft>
                <a:spcPts val="0"/>
              </a:spcAft>
              <a:buFont typeface="Arial" panose="020B0604020202020204" pitchFamily="34" charset="0"/>
              <a:buChar char="•"/>
            </a:pPr>
            <a:r>
              <a:rPr lang="en-US" sz="2400" dirty="0">
                <a:latin typeface="Trebuchet MS" panose="020B0603020202020204" pitchFamily="34" charset="0"/>
              </a:rPr>
              <a:t>Compare different deep learning methods (CNN vs LSTM vs </a:t>
            </a:r>
            <a:r>
              <a:rPr lang="en-US" sz="2400" dirty="0" err="1">
                <a:latin typeface="Trebuchet MS" panose="020B0603020202020204" pitchFamily="34" charset="0"/>
              </a:rPr>
              <a:t>Autoencoder</a:t>
            </a:r>
            <a:r>
              <a:rPr lang="en-US" sz="2400" dirty="0">
                <a:latin typeface="Trebuchet MS" panose="020B0603020202020204" pitchFamily="34" charset="0"/>
              </a:rPr>
              <a:t>).</a:t>
            </a:r>
            <a:endParaRPr lang="en-US" sz="2400" dirty="0">
              <a:latin typeface="Trebuchet MS" panose="020B060302020202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71356796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a:spLocks noChangeArrowheads="1"/>
          </p:cNvSpPr>
          <p:nvPr/>
        </p:nvSpPr>
        <p:spPr bwMode="auto">
          <a:xfrm>
            <a:off x="2743200" y="1286615"/>
            <a:ext cx="7620000" cy="36513"/>
          </a:xfrm>
          <a:prstGeom prst="rect">
            <a:avLst/>
          </a:prstGeom>
          <a:solidFill>
            <a:srgbClr val="33CCCC"/>
          </a:solidFill>
          <a:ln w="9525">
            <a:noFill/>
            <a:miter lim="800000"/>
            <a:headEnd/>
            <a:tailEnd/>
          </a:ln>
        </p:spPr>
        <p:txBody>
          <a:bodyPr wrap="none" anchor="ctr"/>
          <a:lstStyle/>
          <a:p>
            <a:endParaRPr lang="en-US"/>
          </a:p>
        </p:txBody>
      </p:sp>
      <p:sp>
        <p:nvSpPr>
          <p:cNvPr id="13" name="Text Box 34"/>
          <p:cNvSpPr txBox="1">
            <a:spLocks noChangeArrowheads="1"/>
          </p:cNvSpPr>
          <p:nvPr/>
        </p:nvSpPr>
        <p:spPr bwMode="auto">
          <a:xfrm>
            <a:off x="1714500" y="824950"/>
            <a:ext cx="8763000" cy="461665"/>
          </a:xfrm>
          <a:prstGeom prst="rect">
            <a:avLst/>
          </a:prstGeom>
          <a:noFill/>
          <a:ln w="9525">
            <a:noFill/>
            <a:miter lim="800000"/>
            <a:headEnd/>
            <a:tailEnd/>
          </a:ln>
        </p:spPr>
        <p:txBody>
          <a:bodyPr wrap="square">
            <a:spAutoFit/>
          </a:bodyPr>
          <a:lstStyle/>
          <a:p>
            <a:pPr marL="342900" indent="-342900" algn="r">
              <a:spcBef>
                <a:spcPts val="0"/>
              </a:spcBef>
              <a:spcAft>
                <a:spcPts val="0"/>
              </a:spcAft>
            </a:pPr>
            <a:r>
              <a:rPr lang="en-US" sz="2400" dirty="0">
                <a:solidFill>
                  <a:srgbClr val="FF0000"/>
                </a:solidFill>
                <a:latin typeface="Trebuchet MS"/>
                <a:ea typeface="Trebuchet MS"/>
                <a:cs typeface="Trebuchet MS"/>
                <a:sym typeface="Trebuchet MS"/>
              </a:rPr>
              <a:t>Expected Deliverables</a:t>
            </a:r>
            <a:endParaRPr lang="en-US" sz="2400" dirty="0"/>
          </a:p>
        </p:txBody>
      </p:sp>
      <p:sp>
        <p:nvSpPr>
          <p:cNvPr id="6" name="Content Placeholder 2"/>
          <p:cNvSpPr txBox="1">
            <a:spLocks/>
          </p:cNvSpPr>
          <p:nvPr/>
        </p:nvSpPr>
        <p:spPr>
          <a:xfrm>
            <a:off x="914400" y="1676400"/>
            <a:ext cx="9753600" cy="4724400"/>
          </a:xfrm>
          <a:prstGeom prst="rect">
            <a:avLst/>
          </a:prstGeom>
        </p:spPr>
        <p:txBody>
          <a:bodyPr/>
          <a:lstStyle/>
          <a:p>
            <a:pPr algn="just">
              <a:spcBef>
                <a:spcPts val="0"/>
              </a:spcBef>
              <a:spcAft>
                <a:spcPts val="0"/>
              </a:spcAft>
            </a:pPr>
            <a:r>
              <a:rPr lang="en-US" sz="2600" b="1" dirty="0">
                <a:solidFill>
                  <a:srgbClr val="0000FF"/>
                </a:solidFill>
                <a:latin typeface="Trebuchet MS" panose="020B0603020202020204" pitchFamily="34" charset="0"/>
              </a:rPr>
              <a:t>Capstone-III → Integration &amp; Testing :</a:t>
            </a:r>
          </a:p>
          <a:p>
            <a:pPr marL="342900" indent="-342900" algn="just">
              <a:spcBef>
                <a:spcPts val="0"/>
              </a:spcBef>
              <a:spcAft>
                <a:spcPts val="0"/>
              </a:spcAft>
              <a:buFont typeface="Arial" panose="020B0604020202020204" pitchFamily="34" charset="0"/>
              <a:buChar char="•"/>
            </a:pPr>
            <a:r>
              <a:rPr lang="en-US" sz="2400" dirty="0">
                <a:latin typeface="Trebuchet MS" panose="020B0603020202020204" pitchFamily="34" charset="0"/>
                <a:ea typeface="Calibri" panose="020F0502020204030204" pitchFamily="34" charset="0"/>
                <a:cs typeface="Calibri" panose="020F0502020204030204" pitchFamily="34" charset="0"/>
              </a:rPr>
              <a:t>Integrate system into an </a:t>
            </a:r>
            <a:r>
              <a:rPr lang="en-US" sz="2400" b="1" dirty="0">
                <a:latin typeface="Trebuchet MS" panose="020B0603020202020204" pitchFamily="34" charset="0"/>
                <a:ea typeface="Calibri" panose="020F0502020204030204" pitchFamily="34" charset="0"/>
                <a:cs typeface="Calibri" panose="020F0502020204030204" pitchFamily="34" charset="0"/>
              </a:rPr>
              <a:t>Intelligent Transportation System (ITS) simulation</a:t>
            </a:r>
            <a:r>
              <a:rPr lang="en-US" sz="2400" dirty="0">
                <a:latin typeface="Trebuchet MS" panose="020B0603020202020204" pitchFamily="34" charset="0"/>
                <a:ea typeface="Calibri" panose="020F0502020204030204" pitchFamily="34" charset="0"/>
                <a:cs typeface="Calibri" panose="020F0502020204030204" pitchFamily="34" charset="0"/>
              </a:rPr>
              <a:t>.</a:t>
            </a:r>
          </a:p>
          <a:p>
            <a:pPr marL="342900" indent="-342900" algn="just">
              <a:spcBef>
                <a:spcPts val="0"/>
              </a:spcBef>
              <a:spcAft>
                <a:spcPts val="0"/>
              </a:spcAft>
              <a:buFont typeface="Arial" panose="020B0604020202020204" pitchFamily="34" charset="0"/>
              <a:buChar char="•"/>
            </a:pPr>
            <a:r>
              <a:rPr lang="en-US" sz="2400" dirty="0">
                <a:latin typeface="Trebuchet MS" panose="020B0603020202020204" pitchFamily="34" charset="0"/>
                <a:ea typeface="Calibri" panose="020F0502020204030204" pitchFamily="34" charset="0"/>
                <a:cs typeface="Calibri" panose="020F0502020204030204" pitchFamily="34" charset="0"/>
              </a:rPr>
              <a:t>Implement </a:t>
            </a:r>
            <a:r>
              <a:rPr lang="en-US" sz="2400" b="1" dirty="0">
                <a:latin typeface="Trebuchet MS" panose="020B0603020202020204" pitchFamily="34" charset="0"/>
                <a:ea typeface="Calibri" panose="020F0502020204030204" pitchFamily="34" charset="0"/>
                <a:cs typeface="Calibri" panose="020F0502020204030204" pitchFamily="34" charset="0"/>
              </a:rPr>
              <a:t>real-time driver monitoring</a:t>
            </a:r>
            <a:r>
              <a:rPr lang="en-US" sz="2400" dirty="0">
                <a:latin typeface="Trebuchet MS" panose="020B0603020202020204" pitchFamily="34" charset="0"/>
                <a:ea typeface="Calibri" panose="020F0502020204030204" pitchFamily="34" charset="0"/>
                <a:cs typeface="Calibri" panose="020F0502020204030204" pitchFamily="34" charset="0"/>
              </a:rPr>
              <a:t> (latency &lt; 200 </a:t>
            </a:r>
            <a:r>
              <a:rPr lang="en-US" sz="2400" dirty="0" err="1">
                <a:latin typeface="Trebuchet MS" panose="020B0603020202020204" pitchFamily="34" charset="0"/>
                <a:ea typeface="Calibri" panose="020F0502020204030204" pitchFamily="34" charset="0"/>
                <a:cs typeface="Calibri" panose="020F0502020204030204" pitchFamily="34" charset="0"/>
              </a:rPr>
              <a:t>ms</a:t>
            </a:r>
            <a:r>
              <a:rPr lang="en-US" sz="2400" dirty="0">
                <a:latin typeface="Trebuchet MS" panose="020B0603020202020204" pitchFamily="34" charset="0"/>
                <a:ea typeface="Calibri" panose="020F0502020204030204" pitchFamily="34" charset="0"/>
                <a:cs typeface="Calibri" panose="020F0502020204030204" pitchFamily="34" charset="0"/>
              </a:rPr>
              <a:t>).</a:t>
            </a:r>
          </a:p>
          <a:p>
            <a:pPr marL="342900" indent="-342900" algn="just">
              <a:spcBef>
                <a:spcPts val="0"/>
              </a:spcBef>
              <a:spcAft>
                <a:spcPts val="0"/>
              </a:spcAft>
              <a:buFont typeface="Arial" panose="020B0604020202020204" pitchFamily="34" charset="0"/>
              <a:buChar char="•"/>
            </a:pPr>
            <a:r>
              <a:rPr lang="en-US" sz="2400" dirty="0">
                <a:latin typeface="Trebuchet MS" panose="020B0603020202020204" pitchFamily="34" charset="0"/>
                <a:ea typeface="Calibri" panose="020F0502020204030204" pitchFamily="34" charset="0"/>
                <a:cs typeface="Calibri" panose="020F0502020204030204" pitchFamily="34" charset="0"/>
              </a:rPr>
              <a:t>Add an </a:t>
            </a:r>
            <a:r>
              <a:rPr lang="en-US" sz="2400" b="1" dirty="0">
                <a:latin typeface="Trebuchet MS" panose="020B0603020202020204" pitchFamily="34" charset="0"/>
                <a:ea typeface="Calibri" panose="020F0502020204030204" pitchFamily="34" charset="0"/>
                <a:cs typeface="Calibri" panose="020F0502020204030204" pitchFamily="34" charset="0"/>
              </a:rPr>
              <a:t>alerting mechanism</a:t>
            </a:r>
            <a:r>
              <a:rPr lang="en-US" sz="2400" dirty="0">
                <a:latin typeface="Trebuchet MS" panose="020B0603020202020204" pitchFamily="34" charset="0"/>
                <a:ea typeface="Calibri" panose="020F0502020204030204" pitchFamily="34" charset="0"/>
                <a:cs typeface="Calibri" panose="020F0502020204030204" pitchFamily="34" charset="0"/>
              </a:rPr>
              <a:t> (buzzer, screen alert, braking).</a:t>
            </a:r>
          </a:p>
          <a:p>
            <a:pPr marL="342900" indent="-342900" algn="just">
              <a:spcBef>
                <a:spcPts val="0"/>
              </a:spcBef>
              <a:spcAft>
                <a:spcPts val="0"/>
              </a:spcAft>
              <a:buFont typeface="Arial" panose="020B0604020202020204" pitchFamily="34" charset="0"/>
              <a:buChar char="•"/>
            </a:pPr>
            <a:r>
              <a:rPr lang="en-US" sz="2400" dirty="0">
                <a:latin typeface="Trebuchet MS" panose="020B0603020202020204" pitchFamily="34" charset="0"/>
                <a:ea typeface="Calibri" panose="020F0502020204030204" pitchFamily="34" charset="0"/>
                <a:cs typeface="Calibri" panose="020F0502020204030204" pitchFamily="34" charset="0"/>
              </a:rPr>
              <a:t>Test prototype under </a:t>
            </a:r>
            <a:r>
              <a:rPr lang="en-US" sz="2400" b="1" dirty="0">
                <a:latin typeface="Trebuchet MS" panose="020B0603020202020204" pitchFamily="34" charset="0"/>
                <a:ea typeface="Calibri" panose="020F0502020204030204" pitchFamily="34" charset="0"/>
                <a:cs typeface="Calibri" panose="020F0502020204030204" pitchFamily="34" charset="0"/>
              </a:rPr>
              <a:t>different driving scenarios</a:t>
            </a:r>
            <a:r>
              <a:rPr lang="en-US" sz="2400" dirty="0">
                <a:latin typeface="Trebuchet MS" panose="020B0603020202020204" pitchFamily="34" charset="0"/>
                <a:ea typeface="Calibri" panose="020F0502020204030204" pitchFamily="34" charset="0"/>
                <a:cs typeface="Calibri" panose="020F0502020204030204" pitchFamily="34" charset="0"/>
              </a:rPr>
              <a:t> (day/night, highway/city).</a:t>
            </a:r>
          </a:p>
          <a:p>
            <a:pPr marL="342900" indent="-342900" algn="just">
              <a:spcBef>
                <a:spcPts val="0"/>
              </a:spcBef>
              <a:spcAft>
                <a:spcPts val="0"/>
              </a:spcAft>
              <a:buFont typeface="Arial" panose="020B0604020202020204" pitchFamily="34" charset="0"/>
              <a:buChar char="•"/>
            </a:pPr>
            <a:endParaRPr lang="en-US" sz="2400" dirty="0">
              <a:latin typeface="Trebuchet MS" panose="020B0603020202020204" pitchFamily="34" charset="0"/>
              <a:ea typeface="Calibri" panose="020F0502020204030204" pitchFamily="34" charset="0"/>
              <a:cs typeface="Calibri" panose="020F0502020204030204" pitchFamily="34" charset="0"/>
            </a:endParaRPr>
          </a:p>
          <a:p>
            <a:pPr algn="just">
              <a:spcBef>
                <a:spcPts val="0"/>
              </a:spcBef>
              <a:spcAft>
                <a:spcPts val="0"/>
              </a:spcAft>
            </a:pPr>
            <a:r>
              <a:rPr lang="en-US" sz="2600" b="1" dirty="0">
                <a:solidFill>
                  <a:srgbClr val="0000FF"/>
                </a:solidFill>
                <a:latin typeface="Trebuchet MS" panose="020B0603020202020204" pitchFamily="34" charset="0"/>
              </a:rPr>
              <a:t>Capstone-IV → Deployment &amp; Finalization :</a:t>
            </a:r>
          </a:p>
          <a:p>
            <a:pPr marL="342900" indent="-342900" algn="just">
              <a:spcBef>
                <a:spcPts val="0"/>
              </a:spcBef>
              <a:spcAft>
                <a:spcPts val="0"/>
              </a:spcAft>
              <a:buFont typeface="Arial" panose="020B0604020202020204" pitchFamily="34" charset="0"/>
              <a:buChar char="•"/>
            </a:pPr>
            <a:r>
              <a:rPr lang="en-US" sz="2400" dirty="0">
                <a:latin typeface="Trebuchet MS" panose="020B0603020202020204" pitchFamily="34" charset="0"/>
              </a:rPr>
              <a:t>Deploy the anomaly detection system.</a:t>
            </a:r>
          </a:p>
          <a:p>
            <a:pPr marL="342900" indent="-342900" algn="just">
              <a:spcBef>
                <a:spcPts val="0"/>
              </a:spcBef>
              <a:spcAft>
                <a:spcPts val="0"/>
              </a:spcAft>
              <a:buFont typeface="Arial" panose="020B0604020202020204" pitchFamily="34" charset="0"/>
              <a:buChar char="•"/>
            </a:pPr>
            <a:r>
              <a:rPr lang="en-US" sz="2400" dirty="0">
                <a:latin typeface="Trebuchet MS" panose="020B0603020202020204" pitchFamily="34" charset="0"/>
              </a:rPr>
              <a:t>Conduct </a:t>
            </a:r>
            <a:r>
              <a:rPr lang="en-US" sz="2400" b="1" dirty="0">
                <a:latin typeface="Trebuchet MS" panose="020B0603020202020204" pitchFamily="34" charset="0"/>
              </a:rPr>
              <a:t>final validation</a:t>
            </a:r>
            <a:r>
              <a:rPr lang="en-US" sz="2400" dirty="0">
                <a:latin typeface="Trebuchet MS" panose="020B0603020202020204" pitchFamily="34" charset="0"/>
              </a:rPr>
              <a:t> with live test </a:t>
            </a:r>
          </a:p>
          <a:p>
            <a:pPr marL="342900" indent="-342900" algn="just">
              <a:spcBef>
                <a:spcPts val="0"/>
              </a:spcBef>
              <a:spcAft>
                <a:spcPts val="0"/>
              </a:spcAft>
              <a:buFont typeface="Arial" panose="020B0604020202020204" pitchFamily="34" charset="0"/>
              <a:buChar char="•"/>
            </a:pPr>
            <a:r>
              <a:rPr lang="en-US" sz="2400" dirty="0" err="1">
                <a:latin typeface="Trebuchet MS" panose="020B0603020202020204" pitchFamily="34" charset="0"/>
              </a:rPr>
              <a:t>repare</a:t>
            </a:r>
            <a:r>
              <a:rPr lang="en-US" sz="2400" dirty="0">
                <a:latin typeface="Trebuchet MS" panose="020B0603020202020204" pitchFamily="34" charset="0"/>
              </a:rPr>
              <a:t> final </a:t>
            </a:r>
            <a:r>
              <a:rPr lang="en-US" sz="2400" b="1" dirty="0">
                <a:latin typeface="Trebuchet MS" panose="020B0603020202020204" pitchFamily="34" charset="0"/>
              </a:rPr>
              <a:t>documentation, publication paper(s), and project report</a:t>
            </a:r>
            <a:r>
              <a:rPr lang="en-US" sz="2400" dirty="0">
                <a:latin typeface="Trebuchet MS" panose="020B0603020202020204" pitchFamily="34" charset="0"/>
              </a:rPr>
              <a:t>.</a:t>
            </a:r>
          </a:p>
          <a:p>
            <a:pPr algn="just">
              <a:spcBef>
                <a:spcPts val="0"/>
              </a:spcBef>
              <a:spcAft>
                <a:spcPts val="0"/>
              </a:spcAft>
            </a:pPr>
            <a:endParaRPr lang="en-US" sz="2400" b="1" dirty="0">
              <a:solidFill>
                <a:srgbClr val="0000FF"/>
              </a:solidFill>
              <a:latin typeface="Trebuchet MS" panose="020B0603020202020204" pitchFamily="34" charset="0"/>
            </a:endParaRPr>
          </a:p>
          <a:p>
            <a:pPr marL="342900" indent="-342900" algn="just">
              <a:spcBef>
                <a:spcPts val="0"/>
              </a:spcBef>
              <a:spcAft>
                <a:spcPts val="0"/>
              </a:spcAft>
              <a:buFont typeface="Arial" panose="020B0604020202020204" pitchFamily="34" charset="0"/>
              <a:buChar char="•"/>
            </a:pPr>
            <a:endParaRPr lang="en-US" sz="2400" dirty="0">
              <a:latin typeface="Trebuchet MS" panose="020B060302020202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38940403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ChangeArrowheads="1"/>
          </p:cNvSpPr>
          <p:nvPr/>
        </p:nvSpPr>
        <p:spPr bwMode="auto">
          <a:xfrm>
            <a:off x="3276600" y="1404151"/>
            <a:ext cx="7620000" cy="36513"/>
          </a:xfrm>
          <a:prstGeom prst="rect">
            <a:avLst/>
          </a:prstGeom>
          <a:solidFill>
            <a:srgbClr val="33CCCC"/>
          </a:solidFill>
          <a:ln w="9525">
            <a:noFill/>
            <a:miter lim="800000"/>
            <a:headEnd/>
            <a:tailEnd/>
          </a:ln>
        </p:spPr>
        <p:txBody>
          <a:bodyPr wrap="none" anchor="ctr"/>
          <a:lstStyle/>
          <a:p>
            <a:endParaRPr lang="en-US"/>
          </a:p>
        </p:txBody>
      </p:sp>
      <p:sp>
        <p:nvSpPr>
          <p:cNvPr id="3" name="Text Box 34"/>
          <p:cNvSpPr txBox="1">
            <a:spLocks noChangeArrowheads="1"/>
          </p:cNvSpPr>
          <p:nvPr/>
        </p:nvSpPr>
        <p:spPr bwMode="auto">
          <a:xfrm>
            <a:off x="3200400" y="942486"/>
            <a:ext cx="7772400" cy="461665"/>
          </a:xfrm>
          <a:prstGeom prst="rect">
            <a:avLst/>
          </a:prstGeom>
          <a:noFill/>
          <a:ln w="9525">
            <a:noFill/>
            <a:miter lim="800000"/>
            <a:headEnd/>
            <a:tailEnd/>
          </a:ln>
        </p:spPr>
        <p:txBody>
          <a:bodyPr wrap="square">
            <a:spAutoFit/>
          </a:bodyPr>
          <a:lstStyle/>
          <a:p>
            <a:pPr marL="342900" indent="-342900" algn="r" eaLnBrk="0" hangingPunct="0">
              <a:spcBef>
                <a:spcPts val="0"/>
              </a:spcBef>
              <a:spcAft>
                <a:spcPts val="0"/>
              </a:spcAft>
              <a:defRPr/>
            </a:pPr>
            <a:r>
              <a:rPr lang="en-IN" sz="2400" b="1" dirty="0">
                <a:solidFill>
                  <a:schemeClr val="tx1">
                    <a:lumMod val="75000"/>
                    <a:lumOff val="25000"/>
                  </a:schemeClr>
                </a:solidFill>
                <a:latin typeface="Trebuchet MS"/>
              </a:rPr>
              <a:t>Capstone Project Timeline</a:t>
            </a:r>
            <a:endParaRPr lang="en-US" sz="2400" b="1" dirty="0">
              <a:solidFill>
                <a:schemeClr val="tx1">
                  <a:lumMod val="75000"/>
                  <a:lumOff val="25000"/>
                </a:schemeClr>
              </a:solidFill>
              <a:latin typeface="Trebuchet MS"/>
            </a:endParaRPr>
          </a:p>
        </p:txBody>
      </p:sp>
      <p:graphicFrame>
        <p:nvGraphicFramePr>
          <p:cNvPr id="48" name="Content Placeholder 47"/>
          <p:cNvGraphicFramePr>
            <a:graphicFrameLocks noGrp="1"/>
          </p:cNvGraphicFramePr>
          <p:nvPr>
            <p:ph idx="1"/>
          </p:nvPr>
        </p:nvGraphicFramePr>
        <p:xfrm>
          <a:off x="914400" y="1825624"/>
          <a:ext cx="11201400" cy="4803775"/>
        </p:xfrm>
        <a:graphic>
          <a:graphicData uri="http://schemas.openxmlformats.org/drawingml/2006/chart">
            <c:chart xmlns:c="http://schemas.openxmlformats.org/drawingml/2006/chart" xmlns:r="http://schemas.openxmlformats.org/officeDocument/2006/relationships" r:id="rId2"/>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3048000" y="1581213"/>
            <a:ext cx="7620000" cy="36830"/>
          </a:xfrm>
          <a:custGeom>
            <a:avLst/>
            <a:gdLst/>
            <a:ahLst/>
            <a:cxnLst/>
            <a:rect l="l" t="t" r="r" b="b"/>
            <a:pathLst>
              <a:path w="7620000" h="36830">
                <a:moveTo>
                  <a:pt x="7620000" y="0"/>
                </a:moveTo>
                <a:lnTo>
                  <a:pt x="0" y="0"/>
                </a:lnTo>
                <a:lnTo>
                  <a:pt x="0" y="36512"/>
                </a:lnTo>
                <a:lnTo>
                  <a:pt x="7620000" y="36512"/>
                </a:lnTo>
                <a:lnTo>
                  <a:pt x="7620000" y="0"/>
                </a:lnTo>
                <a:close/>
              </a:path>
            </a:pathLst>
          </a:custGeom>
          <a:solidFill>
            <a:srgbClr val="33CCCC"/>
          </a:solidFill>
        </p:spPr>
        <p:txBody>
          <a:bodyPr wrap="square" lIns="0" tIns="0" rIns="0" bIns="0" rtlCol="0"/>
          <a:lstStyle/>
          <a:p>
            <a:endParaRPr/>
          </a:p>
        </p:txBody>
      </p:sp>
      <p:sp>
        <p:nvSpPr>
          <p:cNvPr id="3" name="object 3"/>
          <p:cNvSpPr txBox="1">
            <a:spLocks noGrp="1"/>
          </p:cNvSpPr>
          <p:nvPr>
            <p:ph type="title"/>
          </p:nvPr>
        </p:nvSpPr>
        <p:spPr>
          <a:prstGeom prst="rect">
            <a:avLst/>
          </a:prstGeom>
        </p:spPr>
        <p:txBody>
          <a:bodyPr vert="horz" wrap="square" lIns="0" tIns="12700" rIns="0" bIns="0" rtlCol="0">
            <a:spAutoFit/>
          </a:bodyPr>
          <a:lstStyle/>
          <a:p>
            <a:pPr marL="3193415">
              <a:lnSpc>
                <a:spcPct val="100000"/>
              </a:lnSpc>
              <a:spcBef>
                <a:spcPts val="100"/>
              </a:spcBef>
            </a:pPr>
            <a:r>
              <a:rPr spc="-10" dirty="0"/>
              <a:t>Conclusion</a:t>
            </a:r>
          </a:p>
        </p:txBody>
      </p:sp>
      <p:sp>
        <p:nvSpPr>
          <p:cNvPr id="4" name="TextBox 3">
            <a:extLst>
              <a:ext uri="{FF2B5EF4-FFF2-40B4-BE49-F238E27FC236}">
                <a16:creationId xmlns="" xmlns:a16="http://schemas.microsoft.com/office/drawing/2014/main" id="{68D4AC5B-6B65-AEC2-EFEB-D9573523772D}"/>
              </a:ext>
            </a:extLst>
          </p:cNvPr>
          <p:cNvSpPr txBox="1"/>
          <p:nvPr/>
        </p:nvSpPr>
        <p:spPr>
          <a:xfrm>
            <a:off x="1371600" y="2133600"/>
            <a:ext cx="9829800" cy="1754326"/>
          </a:xfrm>
          <a:prstGeom prst="rect">
            <a:avLst/>
          </a:prstGeom>
          <a:noFill/>
        </p:spPr>
        <p:txBody>
          <a:bodyPr wrap="square" rtlCol="0">
            <a:spAutoFit/>
          </a:bodyPr>
          <a:lstStyle/>
          <a:p>
            <a:r>
              <a:rPr lang="en-US" b="1" dirty="0">
                <a:latin typeface="Trebuchet MS" panose="020B0603020202020204" pitchFamily="34" charset="0"/>
              </a:rPr>
              <a:t>The project </a:t>
            </a:r>
            <a:r>
              <a:rPr lang="en-US" b="1" i="1" dirty="0">
                <a:latin typeface="Trebuchet MS" panose="020B0603020202020204" pitchFamily="34" charset="0"/>
              </a:rPr>
              <a:t>“Driver Behavior Anomaly Detection using Deep Learning ”</a:t>
            </a:r>
            <a:r>
              <a:rPr lang="en-US" b="1" dirty="0">
                <a:latin typeface="Trebuchet MS" panose="020B0603020202020204" pitchFamily="34" charset="0"/>
              </a:rPr>
              <a:t> lays the foundation for an intelligent system that detects unsafe driver behaviors like drowsiness, distraction, and rash driving using CNN and LSTM models.</a:t>
            </a:r>
            <a:br>
              <a:rPr lang="en-US" b="1" dirty="0">
                <a:latin typeface="Trebuchet MS" panose="020B0603020202020204" pitchFamily="34" charset="0"/>
              </a:rPr>
            </a:br>
            <a:r>
              <a:rPr lang="en-US" b="1" dirty="0">
                <a:latin typeface="Trebuchet MS" panose="020B0603020202020204" pitchFamily="34" charset="0"/>
              </a:rPr>
              <a:t>By analyzing real-time data, it enhances road safety and minimizes human error.</a:t>
            </a:r>
            <a:br>
              <a:rPr lang="en-US" b="1" dirty="0">
                <a:latin typeface="Trebuchet MS" panose="020B0603020202020204" pitchFamily="34" charset="0"/>
              </a:rPr>
            </a:br>
            <a:r>
              <a:rPr lang="en-US" b="1" dirty="0">
                <a:latin typeface="Trebuchet MS" panose="020B0603020202020204" pitchFamily="34" charset="0"/>
              </a:rPr>
              <a:t>Future improvements include integrating multi-modal data, lightweight on-device models, and explainable AI to build safer and smarter transportation systems.</a:t>
            </a:r>
            <a:endParaRPr lang="en-IN" b="1" dirty="0">
              <a:latin typeface="Trebuchet MS" panose="020B0603020202020204" pitchFamily="34" charset="0"/>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a:spLocks noChangeArrowheads="1"/>
          </p:cNvSpPr>
          <p:nvPr/>
        </p:nvSpPr>
        <p:spPr bwMode="auto">
          <a:xfrm>
            <a:off x="3048000" y="1581155"/>
            <a:ext cx="7620000" cy="36513"/>
          </a:xfrm>
          <a:prstGeom prst="rect">
            <a:avLst/>
          </a:prstGeom>
          <a:solidFill>
            <a:srgbClr val="33CCCC"/>
          </a:solidFill>
          <a:ln w="9525">
            <a:noFill/>
            <a:miter lim="800000"/>
            <a:headEnd/>
            <a:tailEnd/>
          </a:ln>
        </p:spPr>
        <p:txBody>
          <a:bodyPr wrap="none" anchor="ctr"/>
          <a:lstStyle/>
          <a:p>
            <a:endParaRPr lang="en-US"/>
          </a:p>
        </p:txBody>
      </p:sp>
      <p:sp>
        <p:nvSpPr>
          <p:cNvPr id="13" name="Text Box 34"/>
          <p:cNvSpPr txBox="1">
            <a:spLocks noChangeArrowheads="1"/>
          </p:cNvSpPr>
          <p:nvPr/>
        </p:nvSpPr>
        <p:spPr bwMode="auto">
          <a:xfrm>
            <a:off x="2895600" y="1143002"/>
            <a:ext cx="7772400" cy="461665"/>
          </a:xfrm>
          <a:prstGeom prst="rect">
            <a:avLst/>
          </a:prstGeom>
          <a:noFill/>
          <a:ln w="9525">
            <a:noFill/>
            <a:miter lim="800000"/>
            <a:headEnd/>
            <a:tailEnd/>
          </a:ln>
        </p:spPr>
        <p:txBody>
          <a:bodyPr wrap="square">
            <a:spAutoFit/>
          </a:bodyPr>
          <a:lstStyle/>
          <a:p>
            <a:pPr marL="342891" indent="-342891" algn="r" eaLnBrk="0" hangingPunct="0">
              <a:defRPr/>
            </a:pPr>
            <a:r>
              <a:rPr lang="en-US" sz="2400" dirty="0">
                <a:solidFill>
                  <a:srgbClr val="FF0000"/>
                </a:solidFill>
                <a:latin typeface="Trebuchet MS" pitchFamily="34" charset="0"/>
              </a:rPr>
              <a:t>References</a:t>
            </a:r>
          </a:p>
        </p:txBody>
      </p:sp>
      <p:sp>
        <p:nvSpPr>
          <p:cNvPr id="6" name="Content Placeholder 2"/>
          <p:cNvSpPr txBox="1">
            <a:spLocks/>
          </p:cNvSpPr>
          <p:nvPr/>
        </p:nvSpPr>
        <p:spPr>
          <a:xfrm>
            <a:off x="1828800" y="1828799"/>
            <a:ext cx="8610600" cy="4919659"/>
          </a:xfrm>
          <a:prstGeom prst="rect">
            <a:avLst/>
          </a:prstGeom>
        </p:spPr>
        <p:txBody>
          <a:bodyPr/>
          <a:lstStyle/>
          <a:p>
            <a:pPr marL="342900" indent="12700" algn="l" eaLnBrk="0" hangingPunct="0">
              <a:spcBef>
                <a:spcPct val="20000"/>
              </a:spcBef>
              <a:defRPr/>
            </a:pPr>
            <a:r>
              <a:rPr lang="en-IN" b="1" dirty="0">
                <a:latin typeface="Trebuchet MS" pitchFamily="34" charset="0"/>
              </a:rPr>
              <a:t>[1] M. A. Uddin et al., “Abnormal Driving </a:t>
            </a:r>
            <a:r>
              <a:rPr lang="en-IN" b="1" dirty="0" err="1">
                <a:latin typeface="Trebuchet MS" pitchFamily="34" charset="0"/>
              </a:rPr>
              <a:t>Behavior</a:t>
            </a:r>
            <a:r>
              <a:rPr lang="en-IN" b="1" dirty="0">
                <a:latin typeface="Trebuchet MS" pitchFamily="34" charset="0"/>
              </a:rPr>
              <a:t> Detection: A Machine and Deep Learning Based Hybrid Model,” Int. J. </a:t>
            </a:r>
            <a:r>
              <a:rPr lang="en-IN" b="1" dirty="0" err="1">
                <a:latin typeface="Trebuchet MS" pitchFamily="34" charset="0"/>
              </a:rPr>
              <a:t>Intell</a:t>
            </a:r>
            <a:r>
              <a:rPr lang="en-IN" b="1" dirty="0">
                <a:latin typeface="Trebuchet MS" pitchFamily="34" charset="0"/>
              </a:rPr>
              <a:t>. Transp. Syst. Res., 2025.</a:t>
            </a:r>
          </a:p>
          <a:p>
            <a:pPr marL="342900" indent="12700" algn="l" eaLnBrk="0" hangingPunct="0">
              <a:spcBef>
                <a:spcPct val="20000"/>
              </a:spcBef>
              <a:defRPr/>
            </a:pPr>
            <a:endParaRPr lang="en-IN" b="1" dirty="0">
              <a:latin typeface="Trebuchet MS" pitchFamily="34" charset="0"/>
            </a:endParaRPr>
          </a:p>
          <a:p>
            <a:pPr marL="342900" indent="12700" algn="l" eaLnBrk="0" hangingPunct="0">
              <a:spcBef>
                <a:spcPct val="20000"/>
              </a:spcBef>
              <a:defRPr/>
            </a:pPr>
            <a:r>
              <a:rPr lang="en-IN" b="1" dirty="0">
                <a:latin typeface="Trebuchet MS" pitchFamily="34" charset="0"/>
              </a:rPr>
              <a:t>[2] E. </a:t>
            </a:r>
            <a:r>
              <a:rPr lang="en-IN" b="1" dirty="0" err="1">
                <a:latin typeface="Trebuchet MS" pitchFamily="34" charset="0"/>
              </a:rPr>
              <a:t>Civik</a:t>
            </a:r>
            <a:r>
              <a:rPr lang="en-IN" b="1" dirty="0">
                <a:latin typeface="Trebuchet MS" pitchFamily="34" charset="0"/>
              </a:rPr>
              <a:t> and U. </a:t>
            </a:r>
            <a:r>
              <a:rPr lang="en-IN" b="1" dirty="0" err="1">
                <a:latin typeface="Trebuchet MS" pitchFamily="34" charset="0"/>
              </a:rPr>
              <a:t>Yuzgec</a:t>
            </a:r>
            <a:r>
              <a:rPr lang="en-IN" b="1" dirty="0">
                <a:latin typeface="Trebuchet MS" pitchFamily="34" charset="0"/>
              </a:rPr>
              <a:t>, “Real-Time Driver Fatigue Detection System with Deep Learning on a Low-Cost Embedded System,” Microprocessors </a:t>
            </a:r>
            <a:r>
              <a:rPr lang="en-IN" b="1" dirty="0" err="1">
                <a:latin typeface="Trebuchet MS" pitchFamily="34" charset="0"/>
              </a:rPr>
              <a:t>Microsyst</a:t>
            </a:r>
            <a:r>
              <a:rPr lang="en-IN" b="1" dirty="0">
                <a:latin typeface="Trebuchet MS" pitchFamily="34" charset="0"/>
              </a:rPr>
              <a:t>., 2023.</a:t>
            </a:r>
          </a:p>
          <a:p>
            <a:pPr marL="342900" indent="12700" algn="l" eaLnBrk="0" hangingPunct="0">
              <a:spcBef>
                <a:spcPct val="20000"/>
              </a:spcBef>
              <a:defRPr/>
            </a:pPr>
            <a:endParaRPr lang="en-IN" b="1" kern="0" dirty="0">
              <a:latin typeface="Trebuchet MS" pitchFamily="34" charset="0"/>
            </a:endParaRPr>
          </a:p>
          <a:p>
            <a:pPr marL="342900" indent="12700" algn="l" eaLnBrk="0" hangingPunct="0">
              <a:spcBef>
                <a:spcPct val="20000"/>
              </a:spcBef>
              <a:defRPr/>
            </a:pPr>
            <a:r>
              <a:rPr lang="en-IN" b="1" dirty="0">
                <a:latin typeface="Trebuchet MS" pitchFamily="34" charset="0"/>
              </a:rPr>
              <a:t>[3] F. Qu et al., “Comprehensive Study of Driver </a:t>
            </a:r>
            <a:r>
              <a:rPr lang="en-IN" b="1" dirty="0" err="1">
                <a:latin typeface="Trebuchet MS" pitchFamily="34" charset="0"/>
              </a:rPr>
              <a:t>Behavior</a:t>
            </a:r>
            <a:r>
              <a:rPr lang="en-IN" b="1" dirty="0">
                <a:latin typeface="Trebuchet MS" pitchFamily="34" charset="0"/>
              </a:rPr>
              <a:t> Monitoring Systems Using Computer Vision and Machine Learning Techniques,” J. Big Data, 2024.</a:t>
            </a:r>
          </a:p>
          <a:p>
            <a:pPr marL="342900" indent="12700" algn="l" eaLnBrk="0" hangingPunct="0">
              <a:spcBef>
                <a:spcPct val="20000"/>
              </a:spcBef>
              <a:defRPr/>
            </a:pPr>
            <a:endParaRPr lang="en-IN" b="1" dirty="0">
              <a:latin typeface="Trebuchet MS" pitchFamily="34" charset="0"/>
            </a:endParaRPr>
          </a:p>
          <a:p>
            <a:pPr marL="342900" indent="12700" algn="l" eaLnBrk="0" hangingPunct="0">
              <a:spcBef>
                <a:spcPct val="20000"/>
              </a:spcBef>
              <a:defRPr/>
            </a:pPr>
            <a:r>
              <a:rPr lang="en-IN" b="1" dirty="0">
                <a:latin typeface="Trebuchet MS" pitchFamily="34" charset="0"/>
              </a:rPr>
              <a:t>[4] B. B. Gupta et al., “Deep Learning Model for Driver </a:t>
            </a:r>
            <a:r>
              <a:rPr lang="en-IN" b="1" dirty="0" err="1">
                <a:latin typeface="Trebuchet MS" pitchFamily="34" charset="0"/>
              </a:rPr>
              <a:t>Behavior</a:t>
            </a:r>
            <a:r>
              <a:rPr lang="en-IN" b="1" dirty="0">
                <a:latin typeface="Trebuchet MS" pitchFamily="34" charset="0"/>
              </a:rPr>
              <a:t> Detection in Cyber-Physical System-Based Intelligent Transport Systems,” IEEE Access, 2024.</a:t>
            </a:r>
          </a:p>
          <a:p>
            <a:pPr marL="342900" indent="12700" algn="l" eaLnBrk="0" hangingPunct="0">
              <a:spcBef>
                <a:spcPct val="20000"/>
              </a:spcBef>
              <a:defRPr/>
            </a:pPr>
            <a:endParaRPr lang="en-IN" b="1" kern="0" dirty="0">
              <a:latin typeface="Trebuchet MS" pitchFamily="34" charset="0"/>
            </a:endParaRPr>
          </a:p>
        </p:txBody>
      </p:sp>
    </p:spTree>
    <p:extLst>
      <p:ext uri="{BB962C8B-B14F-4D97-AF65-F5344CB8AC3E}">
        <p14:creationId xmlns:p14="http://schemas.microsoft.com/office/powerpoint/2010/main" val="390235878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3048000" y="1581213"/>
            <a:ext cx="7620000" cy="36830"/>
          </a:xfrm>
          <a:custGeom>
            <a:avLst/>
            <a:gdLst/>
            <a:ahLst/>
            <a:cxnLst/>
            <a:rect l="l" t="t" r="r" b="b"/>
            <a:pathLst>
              <a:path w="7620000" h="36830">
                <a:moveTo>
                  <a:pt x="7620000" y="0"/>
                </a:moveTo>
                <a:lnTo>
                  <a:pt x="0" y="0"/>
                </a:lnTo>
                <a:lnTo>
                  <a:pt x="0" y="36512"/>
                </a:lnTo>
                <a:lnTo>
                  <a:pt x="7620000" y="36512"/>
                </a:lnTo>
                <a:lnTo>
                  <a:pt x="7620000" y="0"/>
                </a:lnTo>
                <a:close/>
              </a:path>
            </a:pathLst>
          </a:custGeom>
          <a:solidFill>
            <a:srgbClr val="33CCCC"/>
          </a:solidFill>
        </p:spPr>
        <p:txBody>
          <a:bodyPr wrap="square" lIns="0" tIns="0" rIns="0" bIns="0" rtlCol="0"/>
          <a:lstStyle/>
          <a:p>
            <a:endParaRPr/>
          </a:p>
        </p:txBody>
      </p:sp>
      <p:sp>
        <p:nvSpPr>
          <p:cNvPr id="3" name="object 3"/>
          <p:cNvSpPr txBox="1">
            <a:spLocks noGrp="1"/>
          </p:cNvSpPr>
          <p:nvPr>
            <p:ph type="title"/>
          </p:nvPr>
        </p:nvSpPr>
        <p:spPr>
          <a:xfrm>
            <a:off x="9062466" y="1167129"/>
            <a:ext cx="1527810" cy="391160"/>
          </a:xfrm>
          <a:prstGeom prst="rect">
            <a:avLst/>
          </a:prstGeom>
        </p:spPr>
        <p:txBody>
          <a:bodyPr vert="horz" wrap="square" lIns="0" tIns="12700" rIns="0" bIns="0" rtlCol="0">
            <a:spAutoFit/>
          </a:bodyPr>
          <a:lstStyle/>
          <a:p>
            <a:pPr marL="12700">
              <a:lnSpc>
                <a:spcPct val="100000"/>
              </a:lnSpc>
              <a:spcBef>
                <a:spcPts val="100"/>
              </a:spcBef>
            </a:pPr>
            <a:r>
              <a:rPr spc="-10" dirty="0"/>
              <a:t>References</a:t>
            </a:r>
          </a:p>
        </p:txBody>
      </p:sp>
      <p:sp>
        <p:nvSpPr>
          <p:cNvPr id="4" name="object 4"/>
          <p:cNvSpPr txBox="1"/>
          <p:nvPr/>
        </p:nvSpPr>
        <p:spPr>
          <a:xfrm>
            <a:off x="1905000" y="2057400"/>
            <a:ext cx="8990076" cy="3716402"/>
          </a:xfrm>
          <a:prstGeom prst="rect">
            <a:avLst/>
          </a:prstGeom>
        </p:spPr>
        <p:txBody>
          <a:bodyPr vert="horz" wrap="square" lIns="0" tIns="12700" rIns="0" bIns="0" rtlCol="0">
            <a:spAutoFit/>
          </a:bodyPr>
          <a:lstStyle/>
          <a:p>
            <a:pPr marL="12700" marR="5715" algn="l">
              <a:lnSpc>
                <a:spcPct val="100000"/>
              </a:lnSpc>
              <a:spcBef>
                <a:spcPts val="100"/>
              </a:spcBef>
            </a:pPr>
            <a:r>
              <a:rPr lang="en-US" b="1" dirty="0">
                <a:solidFill>
                  <a:schemeClr val="tx1"/>
                </a:solidFill>
                <a:latin typeface="Trebuchet MS"/>
                <a:cs typeface="Trebuchet MS"/>
              </a:rPr>
              <a:t>[5] S. Abbas et al., “Naturalistic Driving Data-Based Anomalous Driving Behavior Detection Using </a:t>
            </a:r>
            <a:r>
              <a:rPr lang="en-US" b="1" dirty="0" err="1">
                <a:solidFill>
                  <a:schemeClr val="tx1"/>
                </a:solidFill>
                <a:latin typeface="Trebuchet MS"/>
                <a:cs typeface="Trebuchet MS"/>
              </a:rPr>
              <a:t>Hypertuned</a:t>
            </a:r>
            <a:r>
              <a:rPr lang="en-US" b="1" dirty="0">
                <a:solidFill>
                  <a:schemeClr val="tx1"/>
                </a:solidFill>
                <a:latin typeface="Trebuchet MS"/>
                <a:cs typeface="Trebuchet MS"/>
              </a:rPr>
              <a:t> Deep Autoencoders,” Electronics, 2023.</a:t>
            </a:r>
          </a:p>
          <a:p>
            <a:pPr marL="12700" marR="5715" algn="l">
              <a:lnSpc>
                <a:spcPct val="100000"/>
              </a:lnSpc>
              <a:spcBef>
                <a:spcPts val="100"/>
              </a:spcBef>
            </a:pPr>
            <a:endParaRPr lang="en-US" b="1" dirty="0">
              <a:solidFill>
                <a:schemeClr val="tx1"/>
              </a:solidFill>
              <a:latin typeface="Trebuchet MS"/>
              <a:cs typeface="Trebuchet MS"/>
            </a:endParaRPr>
          </a:p>
          <a:p>
            <a:pPr marL="12700" marR="5715" algn="l">
              <a:lnSpc>
                <a:spcPct val="100000"/>
              </a:lnSpc>
              <a:spcBef>
                <a:spcPts val="100"/>
              </a:spcBef>
            </a:pPr>
            <a:r>
              <a:rPr lang="en-US" b="1" dirty="0">
                <a:solidFill>
                  <a:schemeClr val="tx1"/>
                </a:solidFill>
                <a:latin typeface="Trebuchet MS"/>
                <a:cs typeface="Trebuchet MS"/>
              </a:rPr>
              <a:t>[6] A. Author et al., “Enhanced Deep Neural Network Model for Anomalous Driving Behavior Detection,” Wiley J. Surveillance, 2024.</a:t>
            </a:r>
          </a:p>
          <a:p>
            <a:pPr marL="12700" marR="5715" algn="l">
              <a:lnSpc>
                <a:spcPct val="100000"/>
              </a:lnSpc>
              <a:spcBef>
                <a:spcPts val="100"/>
              </a:spcBef>
            </a:pPr>
            <a:endParaRPr lang="en-US" b="1" dirty="0">
              <a:solidFill>
                <a:schemeClr val="tx1"/>
              </a:solidFill>
              <a:latin typeface="Trebuchet MS"/>
              <a:cs typeface="Trebuchet MS"/>
            </a:endParaRPr>
          </a:p>
          <a:p>
            <a:pPr marL="12700" marR="5715" algn="l">
              <a:lnSpc>
                <a:spcPct val="100000"/>
              </a:lnSpc>
              <a:spcBef>
                <a:spcPts val="100"/>
              </a:spcBef>
            </a:pPr>
            <a:r>
              <a:rPr lang="en-US" b="1" dirty="0">
                <a:solidFill>
                  <a:schemeClr val="tx1"/>
                </a:solidFill>
                <a:latin typeface="Trebuchet MS"/>
                <a:cs typeface="Trebuchet MS"/>
              </a:rPr>
              <a:t>[7] R. Kumar and S. Gupta, “Driver Drowsiness Detection Using CNN-LSTM Hybrid Deep Learning Model,” IEEE Sensors J., 2023.</a:t>
            </a:r>
          </a:p>
          <a:p>
            <a:pPr marL="12700" marR="5715" algn="l">
              <a:lnSpc>
                <a:spcPct val="100000"/>
              </a:lnSpc>
              <a:spcBef>
                <a:spcPts val="100"/>
              </a:spcBef>
            </a:pPr>
            <a:endParaRPr lang="en-US" b="1" dirty="0">
              <a:solidFill>
                <a:schemeClr val="tx1"/>
              </a:solidFill>
              <a:latin typeface="Trebuchet MS"/>
              <a:cs typeface="Trebuchet MS"/>
            </a:endParaRPr>
          </a:p>
          <a:p>
            <a:pPr marL="12700" marR="5715" algn="l">
              <a:lnSpc>
                <a:spcPct val="100000"/>
              </a:lnSpc>
              <a:spcBef>
                <a:spcPts val="100"/>
              </a:spcBef>
            </a:pPr>
            <a:r>
              <a:rPr lang="en-US" b="1" dirty="0">
                <a:solidFill>
                  <a:schemeClr val="tx1"/>
                </a:solidFill>
                <a:latin typeface="Trebuchet MS"/>
                <a:cs typeface="Trebuchet MS"/>
              </a:rPr>
              <a:t>[8] H. Zhang et al., “Multi-Modal Driver Fatigue Detection Using Infrared and RGB Fusion,” IEEE Trans. </a:t>
            </a:r>
            <a:r>
              <a:rPr lang="en-US" b="1" dirty="0" err="1">
                <a:solidFill>
                  <a:schemeClr val="tx1"/>
                </a:solidFill>
                <a:latin typeface="Trebuchet MS"/>
                <a:cs typeface="Trebuchet MS"/>
              </a:rPr>
              <a:t>Intell</a:t>
            </a:r>
            <a:r>
              <a:rPr lang="en-US" b="1" dirty="0">
                <a:solidFill>
                  <a:schemeClr val="tx1"/>
                </a:solidFill>
                <a:latin typeface="Trebuchet MS"/>
                <a:cs typeface="Trebuchet MS"/>
              </a:rPr>
              <a:t>. Veh., 2023.</a:t>
            </a:r>
          </a:p>
          <a:p>
            <a:pPr marL="12700" marR="5715" algn="l">
              <a:lnSpc>
                <a:spcPct val="100000"/>
              </a:lnSpc>
              <a:spcBef>
                <a:spcPts val="100"/>
              </a:spcBef>
            </a:pPr>
            <a:endParaRPr lang="en-US" b="1" dirty="0">
              <a:solidFill>
                <a:schemeClr val="tx1"/>
              </a:solidFill>
              <a:latin typeface="Trebuchet MS"/>
              <a:cs typeface="Trebuchet MS"/>
            </a:endParaRPr>
          </a:p>
          <a:p>
            <a:pPr marL="12700" marR="5715" algn="l">
              <a:lnSpc>
                <a:spcPct val="100000"/>
              </a:lnSpc>
              <a:spcBef>
                <a:spcPts val="100"/>
              </a:spcBef>
            </a:pPr>
            <a:endParaRPr lang="en-US" b="1" dirty="0">
              <a:solidFill>
                <a:schemeClr val="tx1"/>
              </a:solidFill>
              <a:latin typeface="Trebuchet MS"/>
              <a:cs typeface="Trebuchet MS"/>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475226" y="3372992"/>
            <a:ext cx="2322195" cy="635000"/>
          </a:xfrm>
          <a:prstGeom prst="rect">
            <a:avLst/>
          </a:prstGeom>
        </p:spPr>
        <p:txBody>
          <a:bodyPr vert="horz" wrap="square" lIns="0" tIns="12065" rIns="0" bIns="0" rtlCol="0">
            <a:spAutoFit/>
          </a:bodyPr>
          <a:lstStyle/>
          <a:p>
            <a:pPr marL="12700">
              <a:lnSpc>
                <a:spcPct val="100000"/>
              </a:lnSpc>
              <a:spcBef>
                <a:spcPts val="95"/>
              </a:spcBef>
            </a:pPr>
            <a:r>
              <a:rPr sz="4000" dirty="0"/>
              <a:t>Thank</a:t>
            </a:r>
            <a:r>
              <a:rPr sz="4000" spc="-195" dirty="0"/>
              <a:t> </a:t>
            </a:r>
            <a:r>
              <a:rPr sz="4000" spc="-110" dirty="0"/>
              <a:t>You</a:t>
            </a:r>
            <a:endParaRPr sz="400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242</TotalTime>
  <Words>2156</Words>
  <Application>Microsoft Office PowerPoint</Application>
  <PresentationFormat>Widescreen</PresentationFormat>
  <Paragraphs>225</Paragraphs>
  <Slides>27</Slides>
  <Notes>7</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27</vt:i4>
      </vt:variant>
    </vt:vector>
  </HeadingPairs>
  <TitlesOfParts>
    <vt:vector size="34" baseType="lpstr">
      <vt:lpstr>Arial</vt:lpstr>
      <vt:lpstr>Arial MT</vt:lpstr>
      <vt:lpstr>Calibri</vt:lpstr>
      <vt:lpstr>Times New Roman</vt:lpstr>
      <vt:lpstr>Trebuchet MS</vt:lpstr>
      <vt:lpstr>Wingdings</vt:lpstr>
      <vt:lpstr>Office Theme</vt:lpstr>
      <vt:lpstr>PowerPoint Presentation</vt:lpstr>
      <vt:lpstr>   UE23CS320A– Project Phase – 1 End Semester Assessment</vt:lpstr>
      <vt:lpstr>PowerPoint Presentation</vt:lpstr>
      <vt:lpstr>PowerPoint Presentation</vt:lpstr>
      <vt:lpstr>PowerPoint Presentation</vt:lpstr>
      <vt:lpstr>Problem Statement</vt:lpstr>
      <vt:lpstr>Abstract</vt:lpstr>
      <vt:lpstr>PowerPoint Presentation</vt:lpstr>
      <vt:lpstr>PowerPoint Presentation</vt:lpstr>
      <vt:lpstr>Suggestions from Review - 1</vt:lpstr>
      <vt:lpstr>Challenges</vt:lpstr>
      <vt:lpstr>Research Gap</vt:lpstr>
      <vt:lpstr>Objectives</vt:lpstr>
      <vt:lpstr>Literature Survey/Existing System</vt:lpstr>
      <vt:lpstr>Literature Survey/Existing System</vt:lpstr>
      <vt:lpstr>PowerPoint Presentation</vt:lpstr>
      <vt:lpstr>Literature Survey/Existing System</vt:lpstr>
      <vt:lpstr>PowerPoint Presentation</vt:lpstr>
      <vt:lpstr>PowerPoint Presentation</vt:lpstr>
      <vt:lpstr>PowerPoint Presentation</vt:lpstr>
      <vt:lpstr>PowerPoint Presentation</vt:lpstr>
      <vt:lpstr>PowerPoint Presentation</vt:lpstr>
      <vt:lpstr>PowerPoint Presentation</vt:lpstr>
      <vt:lpstr>Conclusion</vt:lpstr>
      <vt:lpstr>PowerPoint Presentation</vt:lpstr>
      <vt:lpstr>References</vt:lpstr>
      <vt:lpstr>Thank You</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Sunitha R</dc:creator>
  <cp:lastModifiedBy>Microsoft account</cp:lastModifiedBy>
  <cp:revision>23</cp:revision>
  <dcterms:created xsi:type="dcterms:W3CDTF">2025-11-04T18:34:22Z</dcterms:created>
  <dcterms:modified xsi:type="dcterms:W3CDTF">2025-11-22T15:00:41Z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2025-11-04T00:00:00Z</vt:filetime>
  </property>
  <property fmtid="{D5CDD505-2E9C-101B-9397-08002B2CF9AE}" pid="3" name="Creator">
    <vt:lpwstr>Microsoft® PowerPoint® 2021</vt:lpwstr>
  </property>
  <property fmtid="{D5CDD505-2E9C-101B-9397-08002B2CF9AE}" pid="4" name="LastSaved">
    <vt:filetime>2025-11-04T00:00:00Z</vt:filetime>
  </property>
  <property fmtid="{D5CDD505-2E9C-101B-9397-08002B2CF9AE}" pid="5" name="Producer">
    <vt:lpwstr>Microsoft® PowerPoint® 2021</vt:lpwstr>
  </property>
</Properties>
</file>