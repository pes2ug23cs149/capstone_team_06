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9"/>
  </p:notesMasterIdLst>
  <p:handoutMasterIdLst>
    <p:handoutMasterId r:id="rId20"/>
  </p:handoutMasterIdLst>
  <p:sldIdLst>
    <p:sldId id="594" r:id="rId2"/>
    <p:sldId id="538" r:id="rId3"/>
    <p:sldId id="535" r:id="rId4"/>
    <p:sldId id="583" r:id="rId5"/>
    <p:sldId id="569" r:id="rId6"/>
    <p:sldId id="591" r:id="rId7"/>
    <p:sldId id="261" r:id="rId8"/>
    <p:sldId id="587" r:id="rId9"/>
    <p:sldId id="260" r:id="rId10"/>
    <p:sldId id="588" r:id="rId11"/>
    <p:sldId id="264" r:id="rId12"/>
    <p:sldId id="584" r:id="rId13"/>
    <p:sldId id="592" r:id="rId14"/>
    <p:sldId id="593" r:id="rId15"/>
    <p:sldId id="586" r:id="rId16"/>
    <p:sldId id="589" r:id="rId17"/>
    <p:sldId id="549" r:id="rId18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99FF"/>
    <a:srgbClr val="FF33CC"/>
    <a:srgbClr val="FF0066"/>
    <a:srgbClr val="33CC33"/>
    <a:srgbClr val="00FFFF"/>
    <a:srgbClr val="6600FF"/>
    <a:srgbClr val="CC66FF"/>
    <a:srgbClr val="62832D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B7C9C-8D96-4C7D-BF5F-82D179E3C630}" v="8" dt="2025-09-12T03:59:04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86811" autoAdjust="0"/>
  </p:normalViewPr>
  <p:slideViewPr>
    <p:cSldViewPr>
      <p:cViewPr varScale="1">
        <p:scale>
          <a:sx n="67" d="100"/>
          <a:sy n="67" d="100"/>
        </p:scale>
        <p:origin x="636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jith v" userId="2660a8e3a8b598cc" providerId="LiveId" clId="{51E44FCE-B4F6-40C8-85AB-746D126B7023}"/>
    <pc:docChg chg="addSld delSld modSld sldOrd modShowInfo">
      <pc:chgData name="ranjith v" userId="2660a8e3a8b598cc" providerId="LiveId" clId="{51E44FCE-B4F6-40C8-85AB-746D126B7023}" dt="2025-09-12T03:59:38.721" v="61" actId="47"/>
      <pc:docMkLst>
        <pc:docMk/>
      </pc:docMkLst>
      <pc:sldChg chg="modSp mod">
        <pc:chgData name="ranjith v" userId="2660a8e3a8b598cc" providerId="LiveId" clId="{51E44FCE-B4F6-40C8-85AB-746D126B7023}" dt="2025-09-12T02:56:07.488" v="30" actId="20577"/>
        <pc:sldMkLst>
          <pc:docMk/>
          <pc:sldMk cId="0" sldId="260"/>
        </pc:sldMkLst>
        <pc:spChg chg="mod">
          <ac:chgData name="ranjith v" userId="2660a8e3a8b598cc" providerId="LiveId" clId="{51E44FCE-B4F6-40C8-85AB-746D126B7023}" dt="2025-09-12T02:56:07.488" v="30" actId="20577"/>
          <ac:spMkLst>
            <pc:docMk/>
            <pc:sldMk cId="0" sldId="260"/>
            <ac:spMk id="12" creationId="{C9B8F04B-6CBD-4B67-85D1-C4CAD081CED6}"/>
          </ac:spMkLst>
        </pc:spChg>
        <pc:spChg chg="mod">
          <ac:chgData name="ranjith v" userId="2660a8e3a8b598cc" providerId="LiveId" clId="{51E44FCE-B4F6-40C8-85AB-746D126B7023}" dt="2025-09-11T17:23:55.700" v="15" actId="207"/>
          <ac:spMkLst>
            <pc:docMk/>
            <pc:sldMk cId="0" sldId="260"/>
            <ac:spMk id="104" creationId="{00000000-0000-0000-0000-000000000000}"/>
          </ac:spMkLst>
        </pc:spChg>
      </pc:sldChg>
      <pc:sldChg chg="modSp mod">
        <pc:chgData name="ranjith v" userId="2660a8e3a8b598cc" providerId="LiveId" clId="{51E44FCE-B4F6-40C8-85AB-746D126B7023}" dt="2025-09-11T17:24:19.178" v="17" actId="113"/>
        <pc:sldMkLst>
          <pc:docMk/>
          <pc:sldMk cId="0" sldId="264"/>
        </pc:sldMkLst>
        <pc:spChg chg="mod">
          <ac:chgData name="ranjith v" userId="2660a8e3a8b598cc" providerId="LiveId" clId="{51E44FCE-B4F6-40C8-85AB-746D126B7023}" dt="2025-09-11T17:24:19.178" v="17" actId="113"/>
          <ac:spMkLst>
            <pc:docMk/>
            <pc:sldMk cId="0" sldId="264"/>
            <ac:spMk id="169" creationId="{00000000-0000-0000-0000-000000000000}"/>
          </ac:spMkLst>
        </pc:spChg>
      </pc:sldChg>
      <pc:sldChg chg="modSp mod">
        <pc:chgData name="ranjith v" userId="2660a8e3a8b598cc" providerId="LiveId" clId="{51E44FCE-B4F6-40C8-85AB-746D126B7023}" dt="2025-09-11T17:23:29.284" v="12" actId="113"/>
        <pc:sldMkLst>
          <pc:docMk/>
          <pc:sldMk cId="3811030131" sldId="569"/>
        </pc:sldMkLst>
        <pc:spChg chg="mod">
          <ac:chgData name="ranjith v" userId="2660a8e3a8b598cc" providerId="LiveId" clId="{51E44FCE-B4F6-40C8-85AB-746D126B7023}" dt="2025-09-11T17:23:29.284" v="12" actId="113"/>
          <ac:spMkLst>
            <pc:docMk/>
            <pc:sldMk cId="3811030131" sldId="569"/>
            <ac:spMk id="14" creationId="{00000000-0000-0000-0000-000000000000}"/>
          </ac:spMkLst>
        </pc:spChg>
      </pc:sldChg>
      <pc:sldChg chg="modSp del mod">
        <pc:chgData name="ranjith v" userId="2660a8e3a8b598cc" providerId="LiveId" clId="{51E44FCE-B4F6-40C8-85AB-746D126B7023}" dt="2025-09-12T03:57:33.707" v="36" actId="47"/>
        <pc:sldMkLst>
          <pc:docMk/>
          <pc:sldMk cId="2437955636" sldId="579"/>
        </pc:sldMkLst>
        <pc:spChg chg="mod">
          <ac:chgData name="ranjith v" userId="2660a8e3a8b598cc" providerId="LiveId" clId="{51E44FCE-B4F6-40C8-85AB-746D126B7023}" dt="2025-09-11T17:24:33.479" v="20" actId="113"/>
          <ac:spMkLst>
            <pc:docMk/>
            <pc:sldMk cId="2437955636" sldId="579"/>
            <ac:spMk id="13" creationId="{00000000-0000-0000-0000-000000000000}"/>
          </ac:spMkLst>
        </pc:spChg>
      </pc:sldChg>
      <pc:sldChg chg="modSp del mod">
        <pc:chgData name="ranjith v" userId="2660a8e3a8b598cc" providerId="LiveId" clId="{51E44FCE-B4F6-40C8-85AB-746D126B7023}" dt="2025-09-12T03:57:37.469" v="37" actId="47"/>
        <pc:sldMkLst>
          <pc:docMk/>
          <pc:sldMk cId="520697293" sldId="581"/>
        </pc:sldMkLst>
        <pc:spChg chg="mod">
          <ac:chgData name="ranjith v" userId="2660a8e3a8b598cc" providerId="LiveId" clId="{51E44FCE-B4F6-40C8-85AB-746D126B7023}" dt="2025-09-11T17:24:37.693" v="21" actId="113"/>
          <ac:spMkLst>
            <pc:docMk/>
            <pc:sldMk cId="520697293" sldId="581"/>
            <ac:spMk id="13" creationId="{00000000-0000-0000-0000-000000000000}"/>
          </ac:spMkLst>
        </pc:spChg>
      </pc:sldChg>
      <pc:sldChg chg="modSp del mod">
        <pc:chgData name="ranjith v" userId="2660a8e3a8b598cc" providerId="LiveId" clId="{51E44FCE-B4F6-40C8-85AB-746D126B7023}" dt="2025-09-12T03:57:41.454" v="38" actId="47"/>
        <pc:sldMkLst>
          <pc:docMk/>
          <pc:sldMk cId="2269817445" sldId="582"/>
        </pc:sldMkLst>
        <pc:spChg chg="mod">
          <ac:chgData name="ranjith v" userId="2660a8e3a8b598cc" providerId="LiveId" clId="{51E44FCE-B4F6-40C8-85AB-746D126B7023}" dt="2025-09-11T17:24:41.549" v="22" actId="113"/>
          <ac:spMkLst>
            <pc:docMk/>
            <pc:sldMk cId="2269817445" sldId="582"/>
            <ac:spMk id="13" creationId="{00000000-0000-0000-0000-000000000000}"/>
          </ac:spMkLst>
        </pc:spChg>
      </pc:sldChg>
      <pc:sldChg chg="ord">
        <pc:chgData name="ranjith v" userId="2660a8e3a8b598cc" providerId="LiveId" clId="{51E44FCE-B4F6-40C8-85AB-746D126B7023}" dt="2025-09-12T03:58:23.093" v="41"/>
        <pc:sldMkLst>
          <pc:docMk/>
          <pc:sldMk cId="3480445356" sldId="583"/>
        </pc:sldMkLst>
      </pc:sldChg>
      <pc:sldChg chg="modSp mod">
        <pc:chgData name="ranjith v" userId="2660a8e3a8b598cc" providerId="LiveId" clId="{51E44FCE-B4F6-40C8-85AB-746D126B7023}" dt="2025-09-11T17:24:23.940" v="18" actId="113"/>
        <pc:sldMkLst>
          <pc:docMk/>
          <pc:sldMk cId="1068755031" sldId="584"/>
        </pc:sldMkLst>
        <pc:spChg chg="mod">
          <ac:chgData name="ranjith v" userId="2660a8e3a8b598cc" providerId="LiveId" clId="{51E44FCE-B4F6-40C8-85AB-746D126B7023}" dt="2025-09-11T17:24:23.940" v="18" actId="113"/>
          <ac:spMkLst>
            <pc:docMk/>
            <pc:sldMk cId="1068755031" sldId="584"/>
            <ac:spMk id="169" creationId="{23C0D139-1864-F6AB-1FB7-284F0834474B}"/>
          </ac:spMkLst>
        </pc:spChg>
      </pc:sldChg>
      <pc:sldChg chg="modSp del mod">
        <pc:chgData name="ranjith v" userId="2660a8e3a8b598cc" providerId="LiveId" clId="{51E44FCE-B4F6-40C8-85AB-746D126B7023}" dt="2025-09-12T03:57:32.323" v="35" actId="47"/>
        <pc:sldMkLst>
          <pc:docMk/>
          <pc:sldMk cId="0" sldId="585"/>
        </pc:sldMkLst>
        <pc:spChg chg="mod">
          <ac:chgData name="ranjith v" userId="2660a8e3a8b598cc" providerId="LiveId" clId="{51E44FCE-B4F6-40C8-85AB-746D126B7023}" dt="2025-09-11T17:24:27.810" v="19" actId="113"/>
          <ac:spMkLst>
            <pc:docMk/>
            <pc:sldMk cId="0" sldId="585"/>
            <ac:spMk id="13" creationId="{00000000-0000-0000-0000-000000000000}"/>
          </ac:spMkLst>
        </pc:spChg>
      </pc:sldChg>
      <pc:sldChg chg="modSp mod">
        <pc:chgData name="ranjith v" userId="2660a8e3a8b598cc" providerId="LiveId" clId="{51E44FCE-B4F6-40C8-85AB-746D126B7023}" dt="2025-09-12T03:57:46.036" v="39" actId="1038"/>
        <pc:sldMkLst>
          <pc:docMk/>
          <pc:sldMk cId="0" sldId="586"/>
        </pc:sldMkLst>
        <pc:spChg chg="mod">
          <ac:chgData name="ranjith v" userId="2660a8e3a8b598cc" providerId="LiveId" clId="{51E44FCE-B4F6-40C8-85AB-746D126B7023}" dt="2025-09-11T17:24:58.170" v="24" actId="207"/>
          <ac:spMkLst>
            <pc:docMk/>
            <pc:sldMk cId="0" sldId="586"/>
            <ac:spMk id="3" creationId="{00000000-0000-0000-0000-000000000000}"/>
          </ac:spMkLst>
        </pc:spChg>
        <pc:graphicFrameChg chg="mod">
          <ac:chgData name="ranjith v" userId="2660a8e3a8b598cc" providerId="LiveId" clId="{51E44FCE-B4F6-40C8-85AB-746D126B7023}" dt="2025-09-12T03:57:46.036" v="39" actId="1038"/>
          <ac:graphicFrameMkLst>
            <pc:docMk/>
            <pc:sldMk cId="0" sldId="586"/>
            <ac:graphicFrameMk id="48" creationId="{00000000-0000-0000-0000-000000000000}"/>
          </ac:graphicFrameMkLst>
        </pc:graphicFrameChg>
      </pc:sldChg>
      <pc:sldChg chg="modSp mod">
        <pc:chgData name="ranjith v" userId="2660a8e3a8b598cc" providerId="LiveId" clId="{51E44FCE-B4F6-40C8-85AB-746D126B7023}" dt="2025-09-12T03:59:04.281" v="59"/>
        <pc:sldMkLst>
          <pc:docMk/>
          <pc:sldMk cId="3644070952" sldId="587"/>
        </pc:sldMkLst>
        <pc:spChg chg="mod">
          <ac:chgData name="ranjith v" userId="2660a8e3a8b598cc" providerId="LiveId" clId="{51E44FCE-B4F6-40C8-85AB-746D126B7023}" dt="2025-09-12T03:59:04.281" v="59"/>
          <ac:spMkLst>
            <pc:docMk/>
            <pc:sldMk cId="3644070952" sldId="587"/>
            <ac:spMk id="196" creationId="{EEB4FCDD-8D1D-1656-59C5-CD44D421BBCC}"/>
          </ac:spMkLst>
        </pc:spChg>
      </pc:sldChg>
      <pc:sldChg chg="modSp mod ord">
        <pc:chgData name="ranjith v" userId="2660a8e3a8b598cc" providerId="LiveId" clId="{51E44FCE-B4F6-40C8-85AB-746D126B7023}" dt="2025-09-12T03:00:54.285" v="32"/>
        <pc:sldMkLst>
          <pc:docMk/>
          <pc:sldMk cId="535632899" sldId="589"/>
        </pc:sldMkLst>
        <pc:spChg chg="mod">
          <ac:chgData name="ranjith v" userId="2660a8e3a8b598cc" providerId="LiveId" clId="{51E44FCE-B4F6-40C8-85AB-746D126B7023}" dt="2025-09-11T17:24:08.746" v="16" actId="113"/>
          <ac:spMkLst>
            <pc:docMk/>
            <pc:sldMk cId="535632899" sldId="589"/>
            <ac:spMk id="3" creationId="{6D21DB74-6033-694C-52D7-6D8C345BF950}"/>
          </ac:spMkLst>
        </pc:spChg>
      </pc:sldChg>
      <pc:sldChg chg="add">
        <pc:chgData name="ranjith v" userId="2660a8e3a8b598cc" providerId="LiveId" clId="{51E44FCE-B4F6-40C8-85AB-746D126B7023}" dt="2025-09-12T02:53:09.547" v="27"/>
        <pc:sldMkLst>
          <pc:docMk/>
          <pc:sldMk cId="2136229132" sldId="591"/>
        </pc:sldMkLst>
      </pc:sldChg>
      <pc:sldChg chg="add">
        <pc:chgData name="ranjith v" userId="2660a8e3a8b598cc" providerId="LiveId" clId="{51E44FCE-B4F6-40C8-85AB-746D126B7023}" dt="2025-09-12T03:57:06.583" v="33"/>
        <pc:sldMkLst>
          <pc:docMk/>
          <pc:sldMk cId="3222780270" sldId="592"/>
        </pc:sldMkLst>
      </pc:sldChg>
      <pc:sldChg chg="add">
        <pc:chgData name="ranjith v" userId="2660a8e3a8b598cc" providerId="LiveId" clId="{51E44FCE-B4F6-40C8-85AB-746D126B7023}" dt="2025-09-12T03:57:22.401" v="34"/>
        <pc:sldMkLst>
          <pc:docMk/>
          <pc:sldMk cId="3389404030" sldId="593"/>
        </pc:sldMkLst>
      </pc:sldChg>
      <pc:sldChg chg="new del">
        <pc:chgData name="ranjith v" userId="2660a8e3a8b598cc" providerId="LiveId" clId="{51E44FCE-B4F6-40C8-85AB-746D126B7023}" dt="2025-09-12T03:59:38.721" v="61" actId="47"/>
        <pc:sldMkLst>
          <pc:docMk/>
          <pc:sldMk cId="2736033215" sldId="59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24</a:t>
            </a:r>
            <a:r>
              <a:rPr lang="en-US" baseline="0" dirty="0"/>
              <a:t> Months Capstone Timeline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636-4D08-A536-92A711628AE1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636-4D08-A536-92A711628AE1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636-4D08-A536-92A711628AE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0-8636-4D08-A536-92A711628A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2-8636-4D08-A536-92A711628AE1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4-8636-4D08-A536-92A711628AE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6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8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A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C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E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F-8636-4D08-A536-92A711628A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1-8636-4D08-A536-92A711628AE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3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5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7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9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B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2C-8636-4D08-A536-92A711628AE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E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0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2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4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6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37-8636-4D08-A536-92A711628AE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9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B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D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F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40-8636-4D08-A536-92A711628AE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2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4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6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47-8636-4D08-A536-92A711628AE1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9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B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4C-8636-4D08-A536-92A711628AE1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8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E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4F-8636-4D08-A536-92A711628AE1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9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50-8636-4D08-A536-92A711628AE1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10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Sheet1!$K$2:$K$10</c:f>
              <c:numCache>
                <c:formatCode>General</c:formatCode>
                <c:ptCount val="9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51-8636-4D08-A536-92A711628A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84904544"/>
        <c:axId val="284903760"/>
      </c:barChart>
      <c:catAx>
        <c:axId val="2849045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4903760"/>
        <c:crosses val="autoZero"/>
        <c:auto val="1"/>
        <c:lblAlgn val="ctr"/>
        <c:lblOffset val="100"/>
        <c:noMultiLvlLbl val="0"/>
      </c:catAx>
      <c:valAx>
        <c:axId val="2849037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4904544"/>
        <c:crosses val="autoZero"/>
        <c:crossBetween val="between"/>
      </c:valAx>
      <c:spPr>
        <a:solidFill>
          <a:schemeClr val="bg1"/>
        </a:solidFill>
        <a:ln>
          <a:noFill/>
        </a:ln>
        <a:effectLst>
          <a:outerShdw blurRad="50800" dist="50800" dir="5400000" sx="1000" sy="1000" algn="ctr" rotWithShape="0">
            <a:srgbClr val="000000"/>
          </a:outerShdw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76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23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26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9392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3444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="" xmlns:a16="http://schemas.microsoft.com/office/drawing/2014/main" id="{7570199D-5DAD-74A1-B627-468E027E3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>
            <a:extLst>
              <a:ext uri="{FF2B5EF4-FFF2-40B4-BE49-F238E27FC236}">
                <a16:creationId xmlns="" xmlns:a16="http://schemas.microsoft.com/office/drawing/2014/main" id="{240AC263-1FD5-6AFB-0B88-4BB04C4F80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9:notes">
            <a:extLst>
              <a:ext uri="{FF2B5EF4-FFF2-40B4-BE49-F238E27FC236}">
                <a16:creationId xmlns="" xmlns:a16="http://schemas.microsoft.com/office/drawing/2014/main" id="{ADF884AD-12EF-999C-3940-DD6EA3003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:notes">
            <a:extLst>
              <a:ext uri="{FF2B5EF4-FFF2-40B4-BE49-F238E27FC236}">
                <a16:creationId xmlns="" xmlns:a16="http://schemas.microsoft.com/office/drawing/2014/main" id="{4C409886-A13E-0EF4-CDD1-58AA4F61AA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6801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42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56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F5EE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69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pic>
        <p:nvPicPr>
          <p:cNvPr id="7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5" y="6457950"/>
            <a:ext cx="1435505" cy="3429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0438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572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76188" tIns="76188" rIns="76188" bIns="761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2100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PESSAT - All India Online Entrance Exam for Admission to PES University">
            <a:extLst>
              <a:ext uri="{FF2B5EF4-FFF2-40B4-BE49-F238E27FC236}">
                <a16:creationId xmlns="" xmlns:a16="http://schemas.microsoft.com/office/drawing/2014/main" id="{C91282D4-EDA2-9EB7-4718-C22D3D176D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365125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6199"/>
            <a:ext cx="11582400" cy="670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219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7800" y="762000"/>
            <a:ext cx="792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800" b="1" dirty="0">
                <a:solidFill>
                  <a:srgbClr val="FF0000"/>
                </a:solidFill>
                <a:latin typeface="Trebuchet MS" pitchFamily="34" charset="0"/>
              </a:rPr>
              <a:t>UE23CS320A</a:t>
            </a:r>
            <a:r>
              <a:rPr lang="en-IN" sz="2800" dirty="0"/>
              <a:t> </a:t>
            </a:r>
            <a:r>
              <a:rPr lang="en-IN" sz="2800" b="1" dirty="0">
                <a:solidFill>
                  <a:srgbClr val="FF0000"/>
                </a:solidFill>
                <a:latin typeface="Trebuchet MS" pitchFamily="34" charset="0"/>
              </a:rPr>
              <a:t>– Capstone Project Approval</a:t>
            </a:r>
            <a:endParaRPr lang="en-US" sz="2800" b="1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4" name="Google Shape;26;p3"/>
          <p:cNvSpPr txBox="1"/>
          <p:nvPr/>
        </p:nvSpPr>
        <p:spPr>
          <a:xfrm>
            <a:off x="1866900" y="1447800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Driver Behavior Anomaly Detection using Deep Learning for Accident Prevention in Intelligent Transportation Systems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TEAM: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00FF"/>
                </a:solidFill>
                <a:latin typeface="Trebuchet MS" panose="020B0603020202020204" pitchFamily="34" charset="0"/>
              </a:rPr>
              <a:t>Capstone Project — Project ID: 06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:Prof. </a:t>
            </a:r>
            <a:r>
              <a:rPr lang="en-US" sz="2400" dirty="0" err="1" smtClean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Pavithra</a:t>
            </a:r>
            <a:r>
              <a:rPr lang="en-US" sz="2400" dirty="0" smtClean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Poojary Sairaj Shankar- PES2UG23AM073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		    Mahesh E </a:t>
            </a:r>
            <a:r>
              <a:rPr lang="en-US" sz="2400" dirty="0" err="1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Ajjer</a:t>
            </a: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- PES2UG23CS316</a:t>
            </a:r>
            <a:endParaRPr lang="en-US"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Chetan </a:t>
            </a:r>
            <a:r>
              <a:rPr lang="en-US" sz="2400" dirty="0" err="1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Nadichagi</a:t>
            </a: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- PES2UG23CS149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		    Ranjith </a:t>
            </a:r>
            <a:r>
              <a:rPr lang="en-US" sz="2400" dirty="0" err="1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Kumar.V</a:t>
            </a: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- PES2UG23AM082  </a:t>
            </a: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66800" y="1752600"/>
            <a:ext cx="85344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Sitka Text Semibold" pitchFamily="2" charset="0"/>
              </a:rPr>
              <a:t>Problem Statement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Sitka Text Semibold" pitchFamily="2" charset="0"/>
              </a:rPr>
              <a:t>Scope and Feasibility study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Sitka Text Semibold" pitchFamily="2" charset="0"/>
              </a:rPr>
              <a:t>Applications/Use cases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Sitka Text Semibold" pitchFamily="2" charset="0"/>
              </a:rPr>
              <a:t>Expected Deliverables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Sitka Text Semibold" pitchFamily="2" charset="0"/>
              </a:rPr>
              <a:t>Capstone (Phase-I Phase-II, Phase-III) Project Timeline 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solidFill>
                  <a:srgbClr val="0033CC"/>
                </a:solidFill>
                <a:latin typeface="Sitka Text Semibold" pitchFamily="2" charset="0"/>
              </a:rPr>
              <a:t>Any other information</a:t>
            </a:r>
            <a:endParaRPr lang="en-US" sz="2400" dirty="0">
              <a:solidFill>
                <a:srgbClr val="0033CC"/>
              </a:solidFill>
              <a:latin typeface="Sitka Text Semibold" pitchFamily="2" charset="0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3399FF"/>
                </a:solidFill>
                <a:latin typeface="Unbounded Bold"/>
              </a:rPr>
              <a:t>Outline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7EFD05B-0E2B-AEEC-813A-374E8491C5A6}"/>
              </a:ext>
            </a:extLst>
          </p:cNvPr>
          <p:cNvSpPr txBox="1"/>
          <p:nvPr/>
        </p:nvSpPr>
        <p:spPr>
          <a:xfrm>
            <a:off x="152400" y="533400"/>
            <a:ext cx="11430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33CC"/>
                </a:solidFill>
                <a:latin typeface="Gelasio"/>
                <a:ea typeface="Trebuchet MS"/>
                <a:cs typeface="Trebuchet MS"/>
                <a:sym typeface="Trebuchet MS"/>
              </a:rPr>
              <a:t> </a:t>
            </a: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lasio"/>
                <a:ea typeface="Trebuchet MS"/>
                <a:cs typeface="Trebuchet MS"/>
                <a:sym typeface="Trebuchet MS"/>
              </a:rPr>
              <a:t>Driver Behavior Anomaly Detection </a:t>
            </a:r>
          </a:p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lasio"/>
                <a:ea typeface="Trebuchet MS"/>
                <a:cs typeface="Trebuchet MS"/>
                <a:sym typeface="Trebuchet MS"/>
              </a:rPr>
              <a:t>        Using Deep Learning for Accident Prevention in </a:t>
            </a:r>
          </a:p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lasio"/>
                <a:ea typeface="Trebuchet MS"/>
                <a:cs typeface="Trebuchet MS"/>
                <a:sym typeface="Trebuchet MS"/>
              </a:rPr>
              <a:t>                         Intelligent Transportation Systems</a:t>
            </a:r>
          </a:p>
          <a:p>
            <a:endParaRPr lang="en-US" sz="1600" b="1" dirty="0">
              <a:solidFill>
                <a:srgbClr val="C00000"/>
              </a:solidFill>
              <a:latin typeface="Gelasio"/>
              <a:sym typeface="Trebuchet MS"/>
            </a:endParaRPr>
          </a:p>
          <a:p>
            <a:endParaRPr lang="en-US" sz="1600" b="1" dirty="0">
              <a:solidFill>
                <a:srgbClr val="C00000"/>
              </a:solidFill>
              <a:latin typeface="Gelasio"/>
              <a:sym typeface="Trebuchet MS"/>
            </a:endParaRPr>
          </a:p>
          <a:p>
            <a:endParaRPr lang="en-IN" sz="1600" b="1" dirty="0">
              <a:solidFill>
                <a:srgbClr val="C00000"/>
              </a:solidFill>
              <a:latin typeface="Gelasi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5CCD9C78-C17F-5339-F5D7-5DBF614AA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36" b="22387"/>
          <a:stretch>
            <a:fillRect/>
          </a:stretch>
        </p:blipFill>
        <p:spPr>
          <a:xfrm>
            <a:off x="2514600" y="2731917"/>
            <a:ext cx="7924800" cy="4124645"/>
          </a:xfrm>
          <a:prstGeom prst="rect">
            <a:avLst/>
          </a:prstGeom>
        </p:spPr>
      </p:pic>
      <p:pic>
        <p:nvPicPr>
          <p:cNvPr id="13" name="Graphic 12" descr="Camera with solid fill">
            <a:extLst>
              <a:ext uri="{FF2B5EF4-FFF2-40B4-BE49-F238E27FC236}">
                <a16:creationId xmlns="" xmlns:a16="http://schemas.microsoft.com/office/drawing/2014/main" id="{A24E154D-7F14-5619-AF0B-08F5171FC5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6166" y="3762282"/>
            <a:ext cx="459667" cy="5826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C5B1E26-F54C-8818-70A7-03154CBB2C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962400"/>
            <a:ext cx="304800" cy="44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45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" y="979603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0" y="1273226"/>
            <a:ext cx="12115800" cy="5584773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This project develops a deep-learning system to detect abnormal driver behaviors (drowsiness, yawning, phone use, lane deviation, harsh braking, </a:t>
            </a:r>
            <a:r>
              <a:rPr lang="en-US" sz="2400" dirty="0" err="1"/>
              <a:t>overspeeding</a:t>
            </a:r>
            <a:r>
              <a:rPr lang="en-US" sz="2400" dirty="0"/>
              <a:t>) in real-time and provide timely alerts to drivers and ITS infrastructure to reduce accident risk...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An intelligent system that detects anomalies </a:t>
            </a:r>
            <a:r>
              <a:rPr lang="en-US" sz="2400" b="1" dirty="0"/>
              <a:t>in real-time</a:t>
            </a:r>
            <a:r>
              <a:rPr lang="en-US" sz="2400" dirty="0"/>
              <a:t> and alerts nearby vehicles/ITS infrastructure to prevent accidents</a:t>
            </a:r>
          </a:p>
          <a:p>
            <a:pPr marL="685791" indent="-342900" algn="just" eaLnBrk="0" hangingPunc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-3124200" y="456383"/>
            <a:ext cx="6477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Unbounded Bold"/>
              </a:rPr>
              <a:t>Problem Statement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Unbounded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24D0A10-C7E6-3D10-628E-3F6B9E569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4038600"/>
            <a:ext cx="6477000" cy="241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66800" y="1752600"/>
            <a:ext cx="9601200" cy="4724400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ct val="20000"/>
              </a:spcBef>
              <a:defRPr/>
            </a:pPr>
            <a:r>
              <a:rPr lang="en-US" sz="2400" b="1" dirty="0">
                <a:solidFill>
                  <a:srgbClr val="0000FF"/>
                </a:solidFill>
                <a:latin typeface="+mn-lt"/>
              </a:rPr>
              <a:t>1. Driver-related Accidents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anose="05000000000000000000" pitchFamily="2" charset="2"/>
              <a:buChar char="q"/>
              <a:defRPr/>
            </a:pPr>
            <a:r>
              <a:rPr lang="en-US" sz="2400" kern="0" dirty="0">
                <a:solidFill>
                  <a:srgbClr val="C00000"/>
                </a:solidFill>
                <a:latin typeface="+mn-lt"/>
              </a:rPr>
              <a:t>	</a:t>
            </a:r>
            <a:r>
              <a:rPr lang="en-US" sz="2400" dirty="0">
                <a:latin typeface="+mn-lt"/>
              </a:rPr>
              <a:t>Studies show that human error is the main contributor to traffic 	crashes. Drowsiness, mobile phone use </a:t>
            </a:r>
            <a:r>
              <a:rPr lang="en-US" sz="2400" dirty="0" err="1">
                <a:latin typeface="+mn-lt"/>
              </a:rPr>
              <a:t>etc</a:t>
            </a:r>
            <a:r>
              <a:rPr lang="en-US" sz="2400" dirty="0">
                <a:latin typeface="+mn-lt"/>
              </a:rPr>
              <a:t>, increase accident risk.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anose="05000000000000000000" pitchFamily="2" charset="2"/>
              <a:buChar char="q"/>
              <a:defRPr/>
            </a:pPr>
            <a:endParaRPr lang="en-US" sz="2400" dirty="0">
              <a:latin typeface="+mn-lt"/>
            </a:endParaRPr>
          </a:p>
          <a:p>
            <a:pPr marL="342891" algn="just" eaLnBrk="0" hangingPunct="0">
              <a:spcBef>
                <a:spcPct val="20000"/>
              </a:spcBef>
              <a:defRPr/>
            </a:pPr>
            <a:r>
              <a:rPr lang="en-IN" sz="2400" b="1" kern="0" dirty="0">
                <a:solidFill>
                  <a:srgbClr val="0000FF"/>
                </a:solidFill>
                <a:latin typeface="+mn-lt"/>
              </a:rPr>
              <a:t>2. Trends in Research 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anose="05000000000000000000" pitchFamily="2" charset="2"/>
              <a:buChar char="q"/>
              <a:defRPr/>
            </a:pPr>
            <a:r>
              <a:rPr lang="en-IN" sz="2400" b="1" kern="0" dirty="0">
                <a:solidFill>
                  <a:srgbClr val="0000FF"/>
                </a:solidFill>
                <a:latin typeface="+mn-lt"/>
              </a:rPr>
              <a:t>	</a:t>
            </a:r>
            <a:r>
              <a:rPr lang="en-US" sz="2400" b="1" dirty="0">
                <a:latin typeface="+mn-lt"/>
              </a:rPr>
              <a:t>Multi-modal learning</a:t>
            </a:r>
            <a:r>
              <a:rPr lang="en-US" sz="2400" dirty="0">
                <a:latin typeface="+mn-lt"/>
              </a:rPr>
              <a:t> (camera, GPS, accelerometer, steering 	angle) improves accuracy over single-source systems. 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anose="05000000000000000000" pitchFamily="2" charset="2"/>
              <a:buChar char="q"/>
              <a:defRPr/>
            </a:pPr>
            <a:endParaRPr lang="en-IN" sz="2400" b="1" kern="0" dirty="0">
              <a:latin typeface="+mn-lt"/>
            </a:endParaRPr>
          </a:p>
          <a:p>
            <a:pPr marL="342891" algn="just" eaLnBrk="0" hangingPunct="0">
              <a:spcBef>
                <a:spcPct val="20000"/>
              </a:spcBef>
              <a:defRPr/>
            </a:pPr>
            <a:r>
              <a:rPr lang="en-US" sz="2400" b="1" kern="0" dirty="0">
                <a:solidFill>
                  <a:srgbClr val="0000FF"/>
                </a:solidFill>
                <a:latin typeface="+mn-lt"/>
              </a:rPr>
              <a:t>3. Research Gap </a:t>
            </a:r>
          </a:p>
          <a:p>
            <a:pPr marL="685791" indent="-342900" algn="just" eaLnBrk="0" hangingPunct="0">
              <a:spcBef>
                <a:spcPct val="20000"/>
              </a:spcBef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latin typeface="+mn-lt"/>
              </a:rPr>
              <a:t>Few solutions integrate multi-modal fusion + </a:t>
            </a:r>
            <a:r>
              <a:rPr lang="en-US" sz="2400" dirty="0" err="1">
                <a:latin typeface="+mn-lt"/>
              </a:rPr>
              <a:t>explainability</a:t>
            </a:r>
            <a:r>
              <a:rPr lang="en-US" sz="2400" dirty="0">
                <a:latin typeface="+mn-lt"/>
              </a:rPr>
              <a:t> +  	real-time edge deployment.</a:t>
            </a:r>
            <a:endParaRPr lang="en-IN" sz="2400" b="1" kern="0" dirty="0">
              <a:solidFill>
                <a:srgbClr val="0000FF"/>
              </a:solidFill>
              <a:latin typeface="+mn-lt"/>
            </a:endParaRPr>
          </a:p>
          <a:p>
            <a:pPr marL="342891" algn="just" eaLnBrk="0" hangingPunct="0">
              <a:spcBef>
                <a:spcPct val="20000"/>
              </a:spcBef>
              <a:defRPr/>
            </a:pPr>
            <a:endParaRPr lang="en-US" sz="2400" dirty="0">
              <a:latin typeface="+mn-lt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Background Work</a:t>
            </a:r>
          </a:p>
        </p:txBody>
      </p:sp>
    </p:spTree>
    <p:extLst>
      <p:ext uri="{BB962C8B-B14F-4D97-AF65-F5344CB8AC3E}">
        <p14:creationId xmlns:p14="http://schemas.microsoft.com/office/powerpoint/2010/main" val="2136229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 txBox="1"/>
          <p:nvPr/>
        </p:nvSpPr>
        <p:spPr>
          <a:xfrm>
            <a:off x="609600" y="878797"/>
            <a:ext cx="1974708" cy="521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400"/>
              </a:lnSpc>
              <a:defRPr sz="35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r>
              <a:rPr sz="2917" dirty="0"/>
              <a:t> Scope Study</a:t>
            </a:r>
          </a:p>
        </p:txBody>
      </p:sp>
      <p:sp>
        <p:nvSpPr>
          <p:cNvPr id="197" name="Text 1"/>
          <p:cNvSpPr txBox="1"/>
          <p:nvPr/>
        </p:nvSpPr>
        <p:spPr>
          <a:xfrm>
            <a:off x="661492" y="201215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01</a:t>
            </a:r>
          </a:p>
        </p:txBody>
      </p:sp>
      <p:sp>
        <p:nvSpPr>
          <p:cNvPr id="198" name="Shape 2"/>
          <p:cNvSpPr/>
          <p:nvPr/>
        </p:nvSpPr>
        <p:spPr>
          <a:xfrm>
            <a:off x="661492" y="2308026"/>
            <a:ext cx="3496965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199" name="Text 3"/>
          <p:cNvSpPr txBox="1"/>
          <p:nvPr/>
        </p:nvSpPr>
        <p:spPr>
          <a:xfrm>
            <a:off x="661491" y="2453282"/>
            <a:ext cx="2046971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r>
              <a:rPr lang="en-IN" sz="2000" dirty="0"/>
              <a:t>Anomaly Detection</a:t>
            </a:r>
            <a:endParaRPr sz="1833" dirty="0"/>
          </a:p>
        </p:txBody>
      </p:sp>
      <p:sp>
        <p:nvSpPr>
          <p:cNvPr id="200" name="Text 4"/>
          <p:cNvSpPr txBox="1"/>
          <p:nvPr/>
        </p:nvSpPr>
        <p:spPr>
          <a:xfrm>
            <a:off x="661492" y="2861964"/>
            <a:ext cx="3496965" cy="104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IN" sz="1600" dirty="0"/>
              <a:t>Detect abnormal driver </a:t>
            </a:r>
            <a:r>
              <a:rPr lang="en-IN" sz="1600" dirty="0" err="1"/>
              <a:t>behavior</a:t>
            </a:r>
            <a:r>
              <a:rPr lang="en-IN" sz="1600" dirty="0"/>
              <a:t> (</a:t>
            </a:r>
            <a:r>
              <a:rPr lang="en-IN" sz="1600" dirty="0" err="1"/>
              <a:t>overspeeding</a:t>
            </a:r>
            <a:r>
              <a:rPr lang="en-IN" sz="1600" dirty="0"/>
              <a:t>, sudden braking, lane deviation, drowsiness).</a:t>
            </a:r>
            <a:endParaRPr sz="1417" dirty="0"/>
          </a:p>
        </p:txBody>
      </p:sp>
      <p:sp>
        <p:nvSpPr>
          <p:cNvPr id="201" name="Text 5"/>
          <p:cNvSpPr txBox="1"/>
          <p:nvPr/>
        </p:nvSpPr>
        <p:spPr>
          <a:xfrm>
            <a:off x="4347468" y="201215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02</a:t>
            </a:r>
          </a:p>
        </p:txBody>
      </p:sp>
      <p:sp>
        <p:nvSpPr>
          <p:cNvPr id="202" name="Shape 6"/>
          <p:cNvSpPr/>
          <p:nvPr/>
        </p:nvSpPr>
        <p:spPr>
          <a:xfrm>
            <a:off x="4347468" y="2308026"/>
            <a:ext cx="3496965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203" name="Text 7"/>
          <p:cNvSpPr txBox="1"/>
          <p:nvPr/>
        </p:nvSpPr>
        <p:spPr>
          <a:xfrm>
            <a:off x="4347469" y="2453282"/>
            <a:ext cx="2190087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r>
              <a:rPr lang="en-IN" sz="2000" dirty="0"/>
              <a:t>Model Development</a:t>
            </a:r>
          </a:p>
        </p:txBody>
      </p:sp>
      <p:sp>
        <p:nvSpPr>
          <p:cNvPr id="204" name="Text 8"/>
          <p:cNvSpPr txBox="1"/>
          <p:nvPr/>
        </p:nvSpPr>
        <p:spPr>
          <a:xfrm>
            <a:off x="4347468" y="2861964"/>
            <a:ext cx="3496965" cy="104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z="1600" dirty="0"/>
              <a:t>Develop advanced ML/DL models (CNN, LSTM, Autoencoders) and refine with diverse</a:t>
            </a:r>
            <a:endParaRPr sz="1417" dirty="0"/>
          </a:p>
        </p:txBody>
      </p:sp>
      <p:sp>
        <p:nvSpPr>
          <p:cNvPr id="205" name="Text 9"/>
          <p:cNvSpPr txBox="1"/>
          <p:nvPr/>
        </p:nvSpPr>
        <p:spPr>
          <a:xfrm>
            <a:off x="8033444" y="201215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03</a:t>
            </a:r>
          </a:p>
        </p:txBody>
      </p:sp>
      <p:sp>
        <p:nvSpPr>
          <p:cNvPr id="206" name="Shape 10"/>
          <p:cNvSpPr/>
          <p:nvPr/>
        </p:nvSpPr>
        <p:spPr>
          <a:xfrm>
            <a:off x="8033445" y="2308026"/>
            <a:ext cx="3496966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207" name="Text 11"/>
          <p:cNvSpPr txBox="1"/>
          <p:nvPr/>
        </p:nvSpPr>
        <p:spPr>
          <a:xfrm>
            <a:off x="8033445" y="2453282"/>
            <a:ext cx="2155014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r>
              <a:rPr lang="en-IN" sz="2000" dirty="0"/>
              <a:t>Testing &amp; Evaluation</a:t>
            </a:r>
            <a:endParaRPr sz="1833" dirty="0"/>
          </a:p>
        </p:txBody>
      </p:sp>
      <p:sp>
        <p:nvSpPr>
          <p:cNvPr id="208" name="Text 12"/>
          <p:cNvSpPr txBox="1"/>
          <p:nvPr/>
        </p:nvSpPr>
        <p:spPr>
          <a:xfrm>
            <a:off x="8033445" y="2861964"/>
            <a:ext cx="3496966" cy="104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z="1600" dirty="0"/>
              <a:t>Validate models on simulated &amp; real-world datasets and benchmark for accuracy</a:t>
            </a:r>
            <a:endParaRPr sz="1417" dirty="0"/>
          </a:p>
        </p:txBody>
      </p:sp>
      <p:sp>
        <p:nvSpPr>
          <p:cNvPr id="209" name="Text 13"/>
          <p:cNvSpPr txBox="1"/>
          <p:nvPr/>
        </p:nvSpPr>
        <p:spPr>
          <a:xfrm>
            <a:off x="661492" y="409991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04</a:t>
            </a:r>
          </a:p>
        </p:txBody>
      </p:sp>
      <p:sp>
        <p:nvSpPr>
          <p:cNvPr id="210" name="Shape 14"/>
          <p:cNvSpPr/>
          <p:nvPr/>
        </p:nvSpPr>
        <p:spPr>
          <a:xfrm>
            <a:off x="661491" y="4395788"/>
            <a:ext cx="5339955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211" name="Text 15"/>
          <p:cNvSpPr txBox="1"/>
          <p:nvPr/>
        </p:nvSpPr>
        <p:spPr>
          <a:xfrm>
            <a:off x="661491" y="4541043"/>
            <a:ext cx="1177502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>
              <a:defRPr sz="1400" b="1">
                <a:solidFill>
                  <a:srgbClr val="002060"/>
                </a:solidFill>
              </a:defRPr>
            </a:pPr>
            <a:r>
              <a:rPr lang="en-IN" sz="2000" dirty="0"/>
              <a:t>Integration</a:t>
            </a:r>
          </a:p>
        </p:txBody>
      </p:sp>
      <p:sp>
        <p:nvSpPr>
          <p:cNvPr id="212" name="Text 16"/>
          <p:cNvSpPr txBox="1"/>
          <p:nvPr/>
        </p:nvSpPr>
        <p:spPr>
          <a:xfrm>
            <a:off x="661491" y="4949725"/>
            <a:ext cx="5053509" cy="681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defRPr sz="1200">
                <a:solidFill>
                  <a:srgbClr val="000000"/>
                </a:solidFill>
              </a:defRPr>
            </a:pPr>
            <a:r>
              <a:rPr lang="en-US" sz="1600" dirty="0"/>
              <a:t>Incorporate into Intelligent Transportation Systems (ITS) and enable IoT/sensor communication.</a:t>
            </a:r>
          </a:p>
        </p:txBody>
      </p:sp>
      <p:sp>
        <p:nvSpPr>
          <p:cNvPr id="213" name="Text 17"/>
          <p:cNvSpPr txBox="1"/>
          <p:nvPr/>
        </p:nvSpPr>
        <p:spPr>
          <a:xfrm>
            <a:off x="6190457" y="409991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05</a:t>
            </a:r>
          </a:p>
        </p:txBody>
      </p:sp>
      <p:sp>
        <p:nvSpPr>
          <p:cNvPr id="214" name="Shape 18"/>
          <p:cNvSpPr/>
          <p:nvPr/>
        </p:nvSpPr>
        <p:spPr>
          <a:xfrm>
            <a:off x="6190457" y="4395788"/>
            <a:ext cx="5339954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215" name="Text 19"/>
          <p:cNvSpPr txBox="1"/>
          <p:nvPr/>
        </p:nvSpPr>
        <p:spPr>
          <a:xfrm>
            <a:off x="6190457" y="4541043"/>
            <a:ext cx="1201932" cy="321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r>
              <a:rPr sz="1833" dirty="0"/>
              <a:t>Deployment</a:t>
            </a:r>
          </a:p>
        </p:txBody>
      </p:sp>
      <p:sp>
        <p:nvSpPr>
          <p:cNvPr id="216" name="Text 20"/>
          <p:cNvSpPr txBox="1"/>
          <p:nvPr/>
        </p:nvSpPr>
        <p:spPr>
          <a:xfrm>
            <a:off x="6095950" y="4907260"/>
            <a:ext cx="5339954" cy="681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defRPr sz="1200">
                <a:solidFill>
                  <a:srgbClr val="000000"/>
                </a:solidFill>
              </a:defRPr>
            </a:pPr>
            <a:r>
              <a:rPr lang="en-US" sz="1600" dirty="0"/>
              <a:t>Build user-friendly applications for real-time alerts and accident prevention.</a:t>
            </a:r>
          </a:p>
        </p:txBody>
      </p:sp>
      <p:pic>
        <p:nvPicPr>
          <p:cNvPr id="217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272" y="282737"/>
            <a:ext cx="1164168" cy="53975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3B4D5FC6-8B78-7029-61B8-E3B92DE7C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491" y="1416406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81DCCD-ECA9-7801-A73E-CA8A4ED4B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>
            <a:extLst>
              <a:ext uri="{FF2B5EF4-FFF2-40B4-BE49-F238E27FC236}">
                <a16:creationId xmlns="" xmlns:a16="http://schemas.microsoft.com/office/drawing/2014/main" id="{EEB4FCDD-8D1D-1656-59C5-CD44D421BBCC}"/>
              </a:ext>
            </a:extLst>
          </p:cNvPr>
          <p:cNvSpPr txBox="1"/>
          <p:nvPr/>
        </p:nvSpPr>
        <p:spPr>
          <a:xfrm>
            <a:off x="609600" y="878797"/>
            <a:ext cx="2743315" cy="531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400"/>
              </a:lnSpc>
              <a:defRPr sz="35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r>
              <a:rPr lang="en-IN" sz="3200" dirty="0">
                <a:solidFill>
                  <a:srgbClr val="002060"/>
                </a:solidFill>
              </a:rPr>
              <a:t>Feasibility study</a:t>
            </a:r>
          </a:p>
        </p:txBody>
      </p:sp>
      <p:sp>
        <p:nvSpPr>
          <p:cNvPr id="197" name="Text 1">
            <a:extLst>
              <a:ext uri="{FF2B5EF4-FFF2-40B4-BE49-F238E27FC236}">
                <a16:creationId xmlns="" xmlns:a16="http://schemas.microsoft.com/office/drawing/2014/main" id="{469C23A3-DE55-1271-A51A-FBE7CB699F8E}"/>
              </a:ext>
            </a:extLst>
          </p:cNvPr>
          <p:cNvSpPr txBox="1"/>
          <p:nvPr/>
        </p:nvSpPr>
        <p:spPr>
          <a:xfrm>
            <a:off x="661492" y="201215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01</a:t>
            </a:r>
          </a:p>
        </p:txBody>
      </p:sp>
      <p:sp>
        <p:nvSpPr>
          <p:cNvPr id="198" name="Shape 2">
            <a:extLst>
              <a:ext uri="{FF2B5EF4-FFF2-40B4-BE49-F238E27FC236}">
                <a16:creationId xmlns="" xmlns:a16="http://schemas.microsoft.com/office/drawing/2014/main" id="{7E5CA0C0-181C-C1F5-A8AA-A9C3A1779C97}"/>
              </a:ext>
            </a:extLst>
          </p:cNvPr>
          <p:cNvSpPr/>
          <p:nvPr/>
        </p:nvSpPr>
        <p:spPr>
          <a:xfrm>
            <a:off x="661492" y="2308026"/>
            <a:ext cx="3496965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199" name="Text 3">
            <a:extLst>
              <a:ext uri="{FF2B5EF4-FFF2-40B4-BE49-F238E27FC236}">
                <a16:creationId xmlns="" xmlns:a16="http://schemas.microsoft.com/office/drawing/2014/main" id="{F476157C-6FDC-A890-CB7A-DFA6906C5A02}"/>
              </a:ext>
            </a:extLst>
          </p:cNvPr>
          <p:cNvSpPr txBox="1"/>
          <p:nvPr/>
        </p:nvSpPr>
        <p:spPr>
          <a:xfrm>
            <a:off x="661491" y="2453282"/>
            <a:ext cx="2284408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>
              <a:defRPr sz="1400" b="1">
                <a:solidFill>
                  <a:srgbClr val="002060"/>
                </a:solidFill>
              </a:defRPr>
            </a:pPr>
            <a:r>
              <a:rPr lang="en-IN" sz="2000" dirty="0"/>
              <a:t>Real-time Monitoring</a:t>
            </a:r>
          </a:p>
        </p:txBody>
      </p:sp>
      <p:sp>
        <p:nvSpPr>
          <p:cNvPr id="200" name="Text 4">
            <a:extLst>
              <a:ext uri="{FF2B5EF4-FFF2-40B4-BE49-F238E27FC236}">
                <a16:creationId xmlns="" xmlns:a16="http://schemas.microsoft.com/office/drawing/2014/main" id="{5DC4A375-D14C-B17B-3E7C-D760024A034C}"/>
              </a:ext>
            </a:extLst>
          </p:cNvPr>
          <p:cNvSpPr txBox="1"/>
          <p:nvPr/>
        </p:nvSpPr>
        <p:spPr>
          <a:xfrm>
            <a:off x="661492" y="2861964"/>
            <a:ext cx="3496965" cy="681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defRPr sz="1200">
                <a:solidFill>
                  <a:srgbClr val="000000"/>
                </a:solidFill>
              </a:defRPr>
            </a:pPr>
            <a:r>
              <a:rPr lang="en-US" sz="1600" dirty="0"/>
              <a:t>Continuous driver behavior analysis using sensors &amp; cameras.</a:t>
            </a:r>
          </a:p>
        </p:txBody>
      </p:sp>
      <p:sp>
        <p:nvSpPr>
          <p:cNvPr id="201" name="Text 5">
            <a:extLst>
              <a:ext uri="{FF2B5EF4-FFF2-40B4-BE49-F238E27FC236}">
                <a16:creationId xmlns="" xmlns:a16="http://schemas.microsoft.com/office/drawing/2014/main" id="{A08457CC-7C63-097C-CD05-23828D2174AC}"/>
              </a:ext>
            </a:extLst>
          </p:cNvPr>
          <p:cNvSpPr txBox="1"/>
          <p:nvPr/>
        </p:nvSpPr>
        <p:spPr>
          <a:xfrm>
            <a:off x="4347468" y="201215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02</a:t>
            </a:r>
          </a:p>
        </p:txBody>
      </p:sp>
      <p:sp>
        <p:nvSpPr>
          <p:cNvPr id="202" name="Shape 6">
            <a:extLst>
              <a:ext uri="{FF2B5EF4-FFF2-40B4-BE49-F238E27FC236}">
                <a16:creationId xmlns="" xmlns:a16="http://schemas.microsoft.com/office/drawing/2014/main" id="{B9456356-432B-0E98-F74A-21306F3B9F1C}"/>
              </a:ext>
            </a:extLst>
          </p:cNvPr>
          <p:cNvSpPr/>
          <p:nvPr/>
        </p:nvSpPr>
        <p:spPr>
          <a:xfrm>
            <a:off x="4347468" y="2308026"/>
            <a:ext cx="3496965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203" name="Text 7">
            <a:extLst>
              <a:ext uri="{FF2B5EF4-FFF2-40B4-BE49-F238E27FC236}">
                <a16:creationId xmlns="" xmlns:a16="http://schemas.microsoft.com/office/drawing/2014/main" id="{3C938E27-EF46-95E0-0B4D-0F350ECD54AA}"/>
              </a:ext>
            </a:extLst>
          </p:cNvPr>
          <p:cNvSpPr txBox="1"/>
          <p:nvPr/>
        </p:nvSpPr>
        <p:spPr>
          <a:xfrm>
            <a:off x="4347469" y="2453282"/>
            <a:ext cx="2890150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r>
              <a:rPr lang="en-IN" sz="2000" dirty="0"/>
              <a:t>Multi-modal Data Handling</a:t>
            </a:r>
          </a:p>
        </p:txBody>
      </p:sp>
      <p:sp>
        <p:nvSpPr>
          <p:cNvPr id="204" name="Text 8">
            <a:extLst>
              <a:ext uri="{FF2B5EF4-FFF2-40B4-BE49-F238E27FC236}">
                <a16:creationId xmlns="" xmlns:a16="http://schemas.microsoft.com/office/drawing/2014/main" id="{8CA9CC68-75D1-C6CD-D816-146BEEF5EFD7}"/>
              </a:ext>
            </a:extLst>
          </p:cNvPr>
          <p:cNvSpPr txBox="1"/>
          <p:nvPr/>
        </p:nvSpPr>
        <p:spPr>
          <a:xfrm>
            <a:off x="4347468" y="2861964"/>
            <a:ext cx="3496965" cy="684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z="1600" dirty="0"/>
              <a:t>Process GPS, accelerometer, eye-tracking, and steering data</a:t>
            </a:r>
            <a:endParaRPr sz="1417" dirty="0"/>
          </a:p>
        </p:txBody>
      </p:sp>
      <p:sp>
        <p:nvSpPr>
          <p:cNvPr id="205" name="Text 9">
            <a:extLst>
              <a:ext uri="{FF2B5EF4-FFF2-40B4-BE49-F238E27FC236}">
                <a16:creationId xmlns="" xmlns:a16="http://schemas.microsoft.com/office/drawing/2014/main" id="{B50B0EB3-187F-F621-C59C-C97FECC64951}"/>
              </a:ext>
            </a:extLst>
          </p:cNvPr>
          <p:cNvSpPr txBox="1"/>
          <p:nvPr/>
        </p:nvSpPr>
        <p:spPr>
          <a:xfrm>
            <a:off x="8033444" y="201215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03</a:t>
            </a:r>
          </a:p>
        </p:txBody>
      </p:sp>
      <p:sp>
        <p:nvSpPr>
          <p:cNvPr id="206" name="Shape 10">
            <a:extLst>
              <a:ext uri="{FF2B5EF4-FFF2-40B4-BE49-F238E27FC236}">
                <a16:creationId xmlns="" xmlns:a16="http://schemas.microsoft.com/office/drawing/2014/main" id="{8D64A2FE-4CBD-E4CC-D9A0-EA8B67A0F092}"/>
              </a:ext>
            </a:extLst>
          </p:cNvPr>
          <p:cNvSpPr/>
          <p:nvPr/>
        </p:nvSpPr>
        <p:spPr>
          <a:xfrm>
            <a:off x="8033445" y="2308026"/>
            <a:ext cx="3496966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207" name="Text 11">
            <a:extLst>
              <a:ext uri="{FF2B5EF4-FFF2-40B4-BE49-F238E27FC236}">
                <a16:creationId xmlns="" xmlns:a16="http://schemas.microsoft.com/office/drawing/2014/main" id="{AA897D70-7F41-801E-1803-658D35B30D38}"/>
              </a:ext>
            </a:extLst>
          </p:cNvPr>
          <p:cNvSpPr txBox="1"/>
          <p:nvPr/>
        </p:nvSpPr>
        <p:spPr>
          <a:xfrm>
            <a:off x="8033445" y="2453282"/>
            <a:ext cx="1931426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r>
              <a:rPr lang="en-IN" sz="2000" dirty="0"/>
              <a:t>Adaptive Learning</a:t>
            </a:r>
            <a:endParaRPr sz="1833" dirty="0"/>
          </a:p>
        </p:txBody>
      </p:sp>
      <p:sp>
        <p:nvSpPr>
          <p:cNvPr id="208" name="Text 12">
            <a:extLst>
              <a:ext uri="{FF2B5EF4-FFF2-40B4-BE49-F238E27FC236}">
                <a16:creationId xmlns="" xmlns:a16="http://schemas.microsoft.com/office/drawing/2014/main" id="{1288847D-47D3-9086-0C83-48E18AB6BD4A}"/>
              </a:ext>
            </a:extLst>
          </p:cNvPr>
          <p:cNvSpPr txBox="1"/>
          <p:nvPr/>
        </p:nvSpPr>
        <p:spPr>
          <a:xfrm>
            <a:off x="8033445" y="2861964"/>
            <a:ext cx="3496966" cy="681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defRPr sz="1200">
                <a:solidFill>
                  <a:srgbClr val="000000"/>
                </a:solidFill>
              </a:defRPr>
            </a:pPr>
            <a:r>
              <a:rPr lang="en-US" sz="1600" dirty="0"/>
              <a:t>Models improve with more driving data (self-learning).</a:t>
            </a:r>
          </a:p>
        </p:txBody>
      </p:sp>
      <p:sp>
        <p:nvSpPr>
          <p:cNvPr id="209" name="Text 13">
            <a:extLst>
              <a:ext uri="{FF2B5EF4-FFF2-40B4-BE49-F238E27FC236}">
                <a16:creationId xmlns="" xmlns:a16="http://schemas.microsoft.com/office/drawing/2014/main" id="{7EE71625-8551-CE7D-E202-058052CA9E90}"/>
              </a:ext>
            </a:extLst>
          </p:cNvPr>
          <p:cNvSpPr txBox="1"/>
          <p:nvPr/>
        </p:nvSpPr>
        <p:spPr>
          <a:xfrm>
            <a:off x="661492" y="409991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04</a:t>
            </a:r>
          </a:p>
        </p:txBody>
      </p:sp>
      <p:sp>
        <p:nvSpPr>
          <p:cNvPr id="210" name="Shape 14">
            <a:extLst>
              <a:ext uri="{FF2B5EF4-FFF2-40B4-BE49-F238E27FC236}">
                <a16:creationId xmlns="" xmlns:a16="http://schemas.microsoft.com/office/drawing/2014/main" id="{DDECA8CA-2B65-41F6-4395-4DFC5808F4B5}"/>
              </a:ext>
            </a:extLst>
          </p:cNvPr>
          <p:cNvSpPr/>
          <p:nvPr/>
        </p:nvSpPr>
        <p:spPr>
          <a:xfrm>
            <a:off x="661491" y="4395788"/>
            <a:ext cx="5339955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211" name="Text 15">
            <a:extLst>
              <a:ext uri="{FF2B5EF4-FFF2-40B4-BE49-F238E27FC236}">
                <a16:creationId xmlns="" xmlns:a16="http://schemas.microsoft.com/office/drawing/2014/main" id="{120C1B04-E3C4-DED0-E279-6CAC96B78875}"/>
              </a:ext>
            </a:extLst>
          </p:cNvPr>
          <p:cNvSpPr txBox="1"/>
          <p:nvPr/>
        </p:nvSpPr>
        <p:spPr>
          <a:xfrm>
            <a:off x="661491" y="4541043"/>
            <a:ext cx="2301977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>
              <a:defRPr sz="1400" b="1">
                <a:solidFill>
                  <a:srgbClr val="002060"/>
                </a:solidFill>
              </a:defRPr>
            </a:pPr>
            <a:r>
              <a:rPr lang="en-IN" sz="2000" dirty="0"/>
              <a:t>Early Warning System</a:t>
            </a:r>
          </a:p>
        </p:txBody>
      </p:sp>
      <p:sp>
        <p:nvSpPr>
          <p:cNvPr id="212" name="Text 16">
            <a:extLst>
              <a:ext uri="{FF2B5EF4-FFF2-40B4-BE49-F238E27FC236}">
                <a16:creationId xmlns="" xmlns:a16="http://schemas.microsoft.com/office/drawing/2014/main" id="{F9F9547A-990B-6D19-D774-551BE7CC9F18}"/>
              </a:ext>
            </a:extLst>
          </p:cNvPr>
          <p:cNvSpPr txBox="1"/>
          <p:nvPr/>
        </p:nvSpPr>
        <p:spPr>
          <a:xfrm>
            <a:off x="661491" y="4949725"/>
            <a:ext cx="5053509" cy="322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defRPr sz="1200">
                <a:solidFill>
                  <a:srgbClr val="000000"/>
                </a:solidFill>
              </a:defRPr>
            </a:pPr>
            <a:r>
              <a:rPr lang="en-US" sz="1600" dirty="0"/>
              <a:t>Provide alerts for risky driving in advance</a:t>
            </a:r>
          </a:p>
        </p:txBody>
      </p:sp>
      <p:sp>
        <p:nvSpPr>
          <p:cNvPr id="213" name="Text 17">
            <a:extLst>
              <a:ext uri="{FF2B5EF4-FFF2-40B4-BE49-F238E27FC236}">
                <a16:creationId xmlns="" xmlns:a16="http://schemas.microsoft.com/office/drawing/2014/main" id="{FAEB9C24-2110-0226-E941-EE44275F68FF}"/>
              </a:ext>
            </a:extLst>
          </p:cNvPr>
          <p:cNvSpPr txBox="1"/>
          <p:nvPr/>
        </p:nvSpPr>
        <p:spPr>
          <a:xfrm>
            <a:off x="6190457" y="409991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05</a:t>
            </a:r>
          </a:p>
        </p:txBody>
      </p:sp>
      <p:sp>
        <p:nvSpPr>
          <p:cNvPr id="214" name="Shape 18">
            <a:extLst>
              <a:ext uri="{FF2B5EF4-FFF2-40B4-BE49-F238E27FC236}">
                <a16:creationId xmlns="" xmlns:a16="http://schemas.microsoft.com/office/drawing/2014/main" id="{B76EDC4B-3E91-9BAA-42C5-1BC5BF3F625D}"/>
              </a:ext>
            </a:extLst>
          </p:cNvPr>
          <p:cNvSpPr/>
          <p:nvPr/>
        </p:nvSpPr>
        <p:spPr>
          <a:xfrm>
            <a:off x="6190457" y="4395788"/>
            <a:ext cx="5339954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215" name="Text 19">
            <a:extLst>
              <a:ext uri="{FF2B5EF4-FFF2-40B4-BE49-F238E27FC236}">
                <a16:creationId xmlns="" xmlns:a16="http://schemas.microsoft.com/office/drawing/2014/main" id="{A3861263-5B6F-D6EA-6C77-5A7D0BAED37C}"/>
              </a:ext>
            </a:extLst>
          </p:cNvPr>
          <p:cNvSpPr txBox="1"/>
          <p:nvPr/>
        </p:nvSpPr>
        <p:spPr>
          <a:xfrm>
            <a:off x="6190457" y="4541043"/>
            <a:ext cx="1136658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r>
              <a:rPr lang="en-IN" sz="2000" dirty="0"/>
              <a:t> Scalability</a:t>
            </a:r>
            <a:endParaRPr sz="1833" dirty="0"/>
          </a:p>
        </p:txBody>
      </p:sp>
      <p:sp>
        <p:nvSpPr>
          <p:cNvPr id="216" name="Text 20">
            <a:extLst>
              <a:ext uri="{FF2B5EF4-FFF2-40B4-BE49-F238E27FC236}">
                <a16:creationId xmlns="" xmlns:a16="http://schemas.microsoft.com/office/drawing/2014/main" id="{962F2FF3-D55D-E732-4C54-8345F5469452}"/>
              </a:ext>
            </a:extLst>
          </p:cNvPr>
          <p:cNvSpPr txBox="1"/>
          <p:nvPr/>
        </p:nvSpPr>
        <p:spPr>
          <a:xfrm>
            <a:off x="6095950" y="4907260"/>
            <a:ext cx="5339954" cy="681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defRPr sz="1200">
                <a:solidFill>
                  <a:srgbClr val="000000"/>
                </a:solidFill>
              </a:defRPr>
            </a:pPr>
            <a:r>
              <a:rPr lang="en-US" sz="1600" dirty="0"/>
              <a:t>Deployable across personal vehicles, public transport, and fleets.</a:t>
            </a:r>
          </a:p>
        </p:txBody>
      </p:sp>
      <p:pic>
        <p:nvPicPr>
          <p:cNvPr id="217" name="pasted-movie.png" descr="pasted-movie.png">
            <a:extLst>
              <a:ext uri="{FF2B5EF4-FFF2-40B4-BE49-F238E27FC236}">
                <a16:creationId xmlns="" xmlns:a16="http://schemas.microsoft.com/office/drawing/2014/main" id="{7F80E9FD-AE36-CC3D-6D5F-A58EF7171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272" y="282737"/>
            <a:ext cx="1164168" cy="53975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CAC5366B-C267-EFD0-08EC-A3232780A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491" y="1416406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7095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496958" y="749349"/>
            <a:ext cx="1540000" cy="5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3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Unbounded Bold"/>
                <a:ea typeface="Gelasio"/>
                <a:cs typeface="Gelasio"/>
                <a:sym typeface="Gelasio"/>
              </a:rPr>
              <a:t>Novelty</a:t>
            </a:r>
            <a:endParaRPr b="1" dirty="0">
              <a:solidFill>
                <a:schemeClr val="tx1">
                  <a:lumMod val="75000"/>
                  <a:lumOff val="25000"/>
                </a:schemeClr>
              </a:solidFill>
              <a:latin typeface="Unbounded Bold"/>
            </a:endParaRPr>
          </a:p>
        </p:txBody>
      </p:sp>
      <p:pic>
        <p:nvPicPr>
          <p:cNvPr id="105" name="Google Shape;10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2126" y="160168"/>
            <a:ext cx="983020" cy="5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31A4CBB-A5D7-356E-E7D4-42D48E056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958" y="1323430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="" xmlns:a16="http://schemas.microsoft.com/office/drawing/2014/main" id="{C9B8F04B-6CBD-4B67-85D1-C4CAD081C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83210"/>
            <a:ext cx="129540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Multi-modal, real-time edge-to-cloud detection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driver profiling that adapts thresholds per driver.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alerts (visual heatmaps + reasons) for better user trust.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and evaluated for real-world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hangingPunct="0">
              <a:buFontTx/>
              <a:buChar char="•"/>
            </a:pPr>
            <a:r>
              <a:rPr lang="en-IN" sz="2400" dirty="0"/>
              <a:t>Smart Context Awareness(smarter decisions)</a:t>
            </a:r>
          </a:p>
          <a:p>
            <a:pPr lvl="0" eaLnBrk="0" hangingPunct="0">
              <a:buFontTx/>
              <a:buChar char="•"/>
            </a:pPr>
            <a:r>
              <a:rPr lang="en-IN" sz="2400" dirty="0"/>
              <a:t>Novel Feedback System(</a:t>
            </a:r>
            <a:r>
              <a:rPr lang="en-US" sz="2400" dirty="0"/>
              <a:t>Instead of just a beep)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8EC9879-728F-F0D7-3A11-F147AB557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>
            <a:extLst>
              <a:ext uri="{FF2B5EF4-FFF2-40B4-BE49-F238E27FC236}">
                <a16:creationId xmlns="" xmlns:a16="http://schemas.microsoft.com/office/drawing/2014/main" id="{29FE3BB5-7770-49EB-7F06-526BCF7DC609}"/>
              </a:ext>
            </a:extLst>
          </p:cNvPr>
          <p:cNvSpPr txBox="1"/>
          <p:nvPr/>
        </p:nvSpPr>
        <p:spPr>
          <a:xfrm>
            <a:off x="609600" y="878797"/>
            <a:ext cx="1827808" cy="1095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400"/>
              </a:lnSpc>
              <a:defRPr sz="35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r>
              <a:rPr lang="en-IN" sz="3200" dirty="0">
                <a:solidFill>
                  <a:srgbClr val="002060"/>
                </a:solidFill>
              </a:rPr>
              <a:t>Challenges</a:t>
            </a:r>
          </a:p>
          <a:p>
            <a:endParaRPr lang="en-IN" sz="3200" dirty="0">
              <a:solidFill>
                <a:srgbClr val="002060"/>
              </a:solidFill>
            </a:endParaRPr>
          </a:p>
        </p:txBody>
      </p:sp>
      <p:sp>
        <p:nvSpPr>
          <p:cNvPr id="197" name="Text 1">
            <a:extLst>
              <a:ext uri="{FF2B5EF4-FFF2-40B4-BE49-F238E27FC236}">
                <a16:creationId xmlns="" xmlns:a16="http://schemas.microsoft.com/office/drawing/2014/main" id="{851E3A24-E0D8-939F-B245-47CA263D051D}"/>
              </a:ext>
            </a:extLst>
          </p:cNvPr>
          <p:cNvSpPr txBox="1"/>
          <p:nvPr/>
        </p:nvSpPr>
        <p:spPr>
          <a:xfrm>
            <a:off x="661492" y="201215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01</a:t>
            </a:r>
          </a:p>
        </p:txBody>
      </p:sp>
      <p:sp>
        <p:nvSpPr>
          <p:cNvPr id="198" name="Shape 2">
            <a:extLst>
              <a:ext uri="{FF2B5EF4-FFF2-40B4-BE49-F238E27FC236}">
                <a16:creationId xmlns="" xmlns:a16="http://schemas.microsoft.com/office/drawing/2014/main" id="{0E0B425C-5EBA-7165-F4EE-560EDE88DD6F}"/>
              </a:ext>
            </a:extLst>
          </p:cNvPr>
          <p:cNvSpPr/>
          <p:nvPr/>
        </p:nvSpPr>
        <p:spPr>
          <a:xfrm>
            <a:off x="661492" y="2308026"/>
            <a:ext cx="3496965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199" name="Text 3">
            <a:extLst>
              <a:ext uri="{FF2B5EF4-FFF2-40B4-BE49-F238E27FC236}">
                <a16:creationId xmlns="" xmlns:a16="http://schemas.microsoft.com/office/drawing/2014/main" id="{76A9D5CC-3B8A-19D9-1DDD-65F6D2A376AD}"/>
              </a:ext>
            </a:extLst>
          </p:cNvPr>
          <p:cNvSpPr txBox="1"/>
          <p:nvPr/>
        </p:nvSpPr>
        <p:spPr>
          <a:xfrm>
            <a:off x="661491" y="2453282"/>
            <a:ext cx="1618969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>
              <a:defRPr sz="1400" b="1">
                <a:solidFill>
                  <a:srgbClr val="002060"/>
                </a:solidFill>
              </a:defRPr>
            </a:pPr>
            <a:r>
              <a:rPr lang="en-IN" sz="2000" dirty="0"/>
              <a:t>Data Collection</a:t>
            </a:r>
          </a:p>
        </p:txBody>
      </p:sp>
      <p:sp>
        <p:nvSpPr>
          <p:cNvPr id="200" name="Text 4">
            <a:extLst>
              <a:ext uri="{FF2B5EF4-FFF2-40B4-BE49-F238E27FC236}">
                <a16:creationId xmlns="" xmlns:a16="http://schemas.microsoft.com/office/drawing/2014/main" id="{B4EAD985-EF3D-2954-FD43-B378A735AE6F}"/>
              </a:ext>
            </a:extLst>
          </p:cNvPr>
          <p:cNvSpPr txBox="1"/>
          <p:nvPr/>
        </p:nvSpPr>
        <p:spPr>
          <a:xfrm>
            <a:off x="661492" y="2861964"/>
            <a:ext cx="3496965" cy="681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defRPr sz="1200">
                <a:solidFill>
                  <a:srgbClr val="000000"/>
                </a:solidFill>
              </a:defRPr>
            </a:pPr>
            <a:r>
              <a:rPr lang="en-US" sz="1600" dirty="0"/>
              <a:t>Difficult to acquire large, high-quality, and diverse driving datasets</a:t>
            </a:r>
          </a:p>
        </p:txBody>
      </p:sp>
      <p:sp>
        <p:nvSpPr>
          <p:cNvPr id="201" name="Text 5">
            <a:extLst>
              <a:ext uri="{FF2B5EF4-FFF2-40B4-BE49-F238E27FC236}">
                <a16:creationId xmlns="" xmlns:a16="http://schemas.microsoft.com/office/drawing/2014/main" id="{7ED60B94-ED3A-3BE8-16E0-98276949F6FB}"/>
              </a:ext>
            </a:extLst>
          </p:cNvPr>
          <p:cNvSpPr txBox="1"/>
          <p:nvPr/>
        </p:nvSpPr>
        <p:spPr>
          <a:xfrm>
            <a:off x="4347468" y="201215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02</a:t>
            </a:r>
          </a:p>
        </p:txBody>
      </p:sp>
      <p:sp>
        <p:nvSpPr>
          <p:cNvPr id="202" name="Shape 6">
            <a:extLst>
              <a:ext uri="{FF2B5EF4-FFF2-40B4-BE49-F238E27FC236}">
                <a16:creationId xmlns="" xmlns:a16="http://schemas.microsoft.com/office/drawing/2014/main" id="{F99B5829-C335-88A0-A5D3-01F7E5AA49DC}"/>
              </a:ext>
            </a:extLst>
          </p:cNvPr>
          <p:cNvSpPr/>
          <p:nvPr/>
        </p:nvSpPr>
        <p:spPr>
          <a:xfrm>
            <a:off x="4347468" y="2308026"/>
            <a:ext cx="3496965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203" name="Text 7">
            <a:extLst>
              <a:ext uri="{FF2B5EF4-FFF2-40B4-BE49-F238E27FC236}">
                <a16:creationId xmlns="" xmlns:a16="http://schemas.microsoft.com/office/drawing/2014/main" id="{9B99C717-7952-F77A-01AC-BB7557F1CCB1}"/>
              </a:ext>
            </a:extLst>
          </p:cNvPr>
          <p:cNvSpPr txBox="1"/>
          <p:nvPr/>
        </p:nvSpPr>
        <p:spPr>
          <a:xfrm>
            <a:off x="4347469" y="2453282"/>
            <a:ext cx="2211631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r>
              <a:rPr lang="en-IN" sz="2000" dirty="0"/>
              <a:t>Real-time Processing</a:t>
            </a:r>
          </a:p>
        </p:txBody>
      </p:sp>
      <p:sp>
        <p:nvSpPr>
          <p:cNvPr id="204" name="Text 8">
            <a:extLst>
              <a:ext uri="{FF2B5EF4-FFF2-40B4-BE49-F238E27FC236}">
                <a16:creationId xmlns="" xmlns:a16="http://schemas.microsoft.com/office/drawing/2014/main" id="{2CF9357B-6194-7B85-5D7B-79BE5E7655BE}"/>
              </a:ext>
            </a:extLst>
          </p:cNvPr>
          <p:cNvSpPr txBox="1"/>
          <p:nvPr/>
        </p:nvSpPr>
        <p:spPr>
          <a:xfrm>
            <a:off x="4347468" y="2861964"/>
            <a:ext cx="3496965" cy="684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z="1600" dirty="0"/>
              <a:t>Ensuring low-latency predictions on limited hardware</a:t>
            </a:r>
            <a:endParaRPr sz="1417" dirty="0"/>
          </a:p>
        </p:txBody>
      </p:sp>
      <p:sp>
        <p:nvSpPr>
          <p:cNvPr id="205" name="Text 9">
            <a:extLst>
              <a:ext uri="{FF2B5EF4-FFF2-40B4-BE49-F238E27FC236}">
                <a16:creationId xmlns="" xmlns:a16="http://schemas.microsoft.com/office/drawing/2014/main" id="{AFB1E151-9ABD-27AD-5496-AA2869500745}"/>
              </a:ext>
            </a:extLst>
          </p:cNvPr>
          <p:cNvSpPr txBox="1"/>
          <p:nvPr/>
        </p:nvSpPr>
        <p:spPr>
          <a:xfrm>
            <a:off x="8033444" y="201215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03</a:t>
            </a:r>
          </a:p>
        </p:txBody>
      </p:sp>
      <p:sp>
        <p:nvSpPr>
          <p:cNvPr id="206" name="Shape 10">
            <a:extLst>
              <a:ext uri="{FF2B5EF4-FFF2-40B4-BE49-F238E27FC236}">
                <a16:creationId xmlns="" xmlns:a16="http://schemas.microsoft.com/office/drawing/2014/main" id="{F45D3291-5059-50BA-E421-F9A3E206F5C5}"/>
              </a:ext>
            </a:extLst>
          </p:cNvPr>
          <p:cNvSpPr/>
          <p:nvPr/>
        </p:nvSpPr>
        <p:spPr>
          <a:xfrm>
            <a:off x="8033445" y="2308026"/>
            <a:ext cx="3496966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207" name="Text 11">
            <a:extLst>
              <a:ext uri="{FF2B5EF4-FFF2-40B4-BE49-F238E27FC236}">
                <a16:creationId xmlns="" xmlns:a16="http://schemas.microsoft.com/office/drawing/2014/main" id="{A7587521-7A5F-E8E2-344E-2417FD21D4F0}"/>
              </a:ext>
            </a:extLst>
          </p:cNvPr>
          <p:cNvSpPr txBox="1"/>
          <p:nvPr/>
        </p:nvSpPr>
        <p:spPr>
          <a:xfrm>
            <a:off x="8033445" y="2453282"/>
            <a:ext cx="2298643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r>
              <a:rPr lang="en-IN" sz="2000" dirty="0"/>
              <a:t>Model Generalization</a:t>
            </a:r>
            <a:endParaRPr sz="1833" dirty="0"/>
          </a:p>
        </p:txBody>
      </p:sp>
      <p:sp>
        <p:nvSpPr>
          <p:cNvPr id="208" name="Text 12">
            <a:extLst>
              <a:ext uri="{FF2B5EF4-FFF2-40B4-BE49-F238E27FC236}">
                <a16:creationId xmlns="" xmlns:a16="http://schemas.microsoft.com/office/drawing/2014/main" id="{C8E1690F-FFCF-B9AF-E97A-842577FEB7C2}"/>
              </a:ext>
            </a:extLst>
          </p:cNvPr>
          <p:cNvSpPr txBox="1"/>
          <p:nvPr/>
        </p:nvSpPr>
        <p:spPr>
          <a:xfrm>
            <a:off x="8033445" y="2861964"/>
            <a:ext cx="3496966" cy="681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defRPr sz="1200">
                <a:solidFill>
                  <a:srgbClr val="000000"/>
                </a:solidFill>
              </a:defRPr>
            </a:pPr>
            <a:r>
              <a:rPr lang="en-US" sz="1600" dirty="0"/>
              <a:t>Adapting to regions, weather, vehicle types, and driver habits.</a:t>
            </a:r>
          </a:p>
        </p:txBody>
      </p:sp>
      <p:sp>
        <p:nvSpPr>
          <p:cNvPr id="209" name="Text 13">
            <a:extLst>
              <a:ext uri="{FF2B5EF4-FFF2-40B4-BE49-F238E27FC236}">
                <a16:creationId xmlns="" xmlns:a16="http://schemas.microsoft.com/office/drawing/2014/main" id="{20DB5A11-18DA-7EE6-7152-D70D8B67ACF8}"/>
              </a:ext>
            </a:extLst>
          </p:cNvPr>
          <p:cNvSpPr txBox="1"/>
          <p:nvPr/>
        </p:nvSpPr>
        <p:spPr>
          <a:xfrm>
            <a:off x="661492" y="409991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04</a:t>
            </a:r>
          </a:p>
        </p:txBody>
      </p:sp>
      <p:sp>
        <p:nvSpPr>
          <p:cNvPr id="210" name="Shape 14">
            <a:extLst>
              <a:ext uri="{FF2B5EF4-FFF2-40B4-BE49-F238E27FC236}">
                <a16:creationId xmlns="" xmlns:a16="http://schemas.microsoft.com/office/drawing/2014/main" id="{4486AA96-B24B-F978-85C0-7EF498148562}"/>
              </a:ext>
            </a:extLst>
          </p:cNvPr>
          <p:cNvSpPr/>
          <p:nvPr/>
        </p:nvSpPr>
        <p:spPr>
          <a:xfrm>
            <a:off x="661491" y="4395788"/>
            <a:ext cx="5339955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211" name="Text 15">
            <a:extLst>
              <a:ext uri="{FF2B5EF4-FFF2-40B4-BE49-F238E27FC236}">
                <a16:creationId xmlns="" xmlns:a16="http://schemas.microsoft.com/office/drawing/2014/main" id="{B0D05119-1B97-F16B-5DEA-D57289FE78ED}"/>
              </a:ext>
            </a:extLst>
          </p:cNvPr>
          <p:cNvSpPr txBox="1"/>
          <p:nvPr/>
        </p:nvSpPr>
        <p:spPr>
          <a:xfrm>
            <a:off x="661491" y="4541043"/>
            <a:ext cx="1921423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>
              <a:defRPr sz="1400" b="1">
                <a:solidFill>
                  <a:srgbClr val="002060"/>
                </a:solidFill>
              </a:defRPr>
            </a:pPr>
            <a:r>
              <a:rPr lang="en-IN" sz="2000" dirty="0"/>
              <a:t>Privacy &amp; Security</a:t>
            </a:r>
          </a:p>
        </p:txBody>
      </p:sp>
      <p:sp>
        <p:nvSpPr>
          <p:cNvPr id="212" name="Text 16">
            <a:extLst>
              <a:ext uri="{FF2B5EF4-FFF2-40B4-BE49-F238E27FC236}">
                <a16:creationId xmlns="" xmlns:a16="http://schemas.microsoft.com/office/drawing/2014/main" id="{14165E65-8A5A-222C-9EBE-9C6A57E02949}"/>
              </a:ext>
            </a:extLst>
          </p:cNvPr>
          <p:cNvSpPr txBox="1"/>
          <p:nvPr/>
        </p:nvSpPr>
        <p:spPr>
          <a:xfrm>
            <a:off x="661491" y="4949725"/>
            <a:ext cx="5053509" cy="681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defRPr sz="1200">
                <a:solidFill>
                  <a:srgbClr val="000000"/>
                </a:solidFill>
              </a:defRPr>
            </a:pPr>
            <a:r>
              <a:rPr lang="en-US" sz="1600" dirty="0"/>
              <a:t>Handling sensitive driver and vehicle data responsibly.</a:t>
            </a:r>
          </a:p>
        </p:txBody>
      </p:sp>
      <p:sp>
        <p:nvSpPr>
          <p:cNvPr id="213" name="Text 17">
            <a:extLst>
              <a:ext uri="{FF2B5EF4-FFF2-40B4-BE49-F238E27FC236}">
                <a16:creationId xmlns="" xmlns:a16="http://schemas.microsoft.com/office/drawing/2014/main" id="{C0459ED7-EB3E-ECDC-EA42-DC031592F641}"/>
              </a:ext>
            </a:extLst>
          </p:cNvPr>
          <p:cNvSpPr txBox="1"/>
          <p:nvPr/>
        </p:nvSpPr>
        <p:spPr>
          <a:xfrm>
            <a:off x="6190457" y="4099917"/>
            <a:ext cx="18274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r>
              <a:rPr sz="1417"/>
              <a:t>05</a:t>
            </a:r>
          </a:p>
        </p:txBody>
      </p:sp>
      <p:sp>
        <p:nvSpPr>
          <p:cNvPr id="214" name="Shape 18">
            <a:extLst>
              <a:ext uri="{FF2B5EF4-FFF2-40B4-BE49-F238E27FC236}">
                <a16:creationId xmlns="" xmlns:a16="http://schemas.microsoft.com/office/drawing/2014/main" id="{49E8C4CA-A0F4-A2B2-46F2-1DF2076FA7C7}"/>
              </a:ext>
            </a:extLst>
          </p:cNvPr>
          <p:cNvSpPr/>
          <p:nvPr/>
        </p:nvSpPr>
        <p:spPr>
          <a:xfrm>
            <a:off x="6190457" y="4395788"/>
            <a:ext cx="5339954" cy="254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38099" rIns="38099"/>
          <a:lstStyle/>
          <a:p>
            <a:endParaRPr/>
          </a:p>
        </p:txBody>
      </p:sp>
      <p:sp>
        <p:nvSpPr>
          <p:cNvPr id="215" name="Text 19">
            <a:extLst>
              <a:ext uri="{FF2B5EF4-FFF2-40B4-BE49-F238E27FC236}">
                <a16:creationId xmlns="" xmlns:a16="http://schemas.microsoft.com/office/drawing/2014/main" id="{180DB3AD-243C-79E6-A800-AD6CE5FBFF43}"/>
              </a:ext>
            </a:extLst>
          </p:cNvPr>
          <p:cNvSpPr txBox="1"/>
          <p:nvPr/>
        </p:nvSpPr>
        <p:spPr>
          <a:xfrm>
            <a:off x="6190457" y="4541043"/>
            <a:ext cx="2264466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r>
              <a:rPr lang="en-IN" sz="2000" dirty="0"/>
              <a:t> Deployment Barriers</a:t>
            </a:r>
            <a:endParaRPr sz="1833" dirty="0"/>
          </a:p>
        </p:txBody>
      </p:sp>
      <p:sp>
        <p:nvSpPr>
          <p:cNvPr id="216" name="Text 20">
            <a:extLst>
              <a:ext uri="{FF2B5EF4-FFF2-40B4-BE49-F238E27FC236}">
                <a16:creationId xmlns="" xmlns:a16="http://schemas.microsoft.com/office/drawing/2014/main" id="{09445928-35D6-6384-F992-7D88F4795B55}"/>
              </a:ext>
            </a:extLst>
          </p:cNvPr>
          <p:cNvSpPr txBox="1"/>
          <p:nvPr/>
        </p:nvSpPr>
        <p:spPr>
          <a:xfrm>
            <a:off x="6095950" y="4907260"/>
            <a:ext cx="5339954" cy="681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>
              <a:defRPr sz="1200">
                <a:solidFill>
                  <a:srgbClr val="000000"/>
                </a:solidFill>
              </a:defRPr>
            </a:pPr>
            <a:r>
              <a:rPr lang="en-US" sz="1600" dirty="0"/>
              <a:t>Integration with existing ITS and user adoption challenges</a:t>
            </a:r>
          </a:p>
        </p:txBody>
      </p:sp>
      <p:pic>
        <p:nvPicPr>
          <p:cNvPr id="217" name="pasted-movie.png" descr="pasted-movie.png">
            <a:extLst>
              <a:ext uri="{FF2B5EF4-FFF2-40B4-BE49-F238E27FC236}">
                <a16:creationId xmlns="" xmlns:a16="http://schemas.microsoft.com/office/drawing/2014/main" id="{AEB8E542-0724-641D-95BA-08C7AFFE5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272" y="282737"/>
            <a:ext cx="1164168" cy="53975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ABA89C3-9CE5-F6E6-A963-3A98A4342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491" y="1416406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1505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457200" y="790674"/>
            <a:ext cx="5268417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4450"/>
            </a:pPr>
            <a:r>
              <a:rPr lang="en-US" sz="3708" b="1" dirty="0">
                <a:solidFill>
                  <a:srgbClr val="3399FF"/>
                </a:solidFill>
                <a:latin typeface="Gelasio"/>
                <a:ea typeface="Gelasio"/>
                <a:cs typeface="Gelasio"/>
                <a:sym typeface="Gelasio"/>
              </a:rPr>
              <a:t>Applications &amp; Use Cases</a:t>
            </a:r>
            <a:endParaRPr sz="3708" b="1" dirty="0">
              <a:solidFill>
                <a:srgbClr val="3399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653" y="1660128"/>
            <a:ext cx="3622973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/>
          <p:nvPr/>
        </p:nvSpPr>
        <p:spPr>
          <a:xfrm>
            <a:off x="850503" y="2929731"/>
            <a:ext cx="2835275" cy="88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</a:pPr>
            <a:r>
              <a:rPr lang="en-IN" sz="2400" dirty="0"/>
              <a:t>Road Safety &amp; Accident Prevention</a:t>
            </a:r>
            <a:endParaRPr sz="220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56654" y="3928269"/>
            <a:ext cx="3638800" cy="160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</a:pPr>
            <a:r>
              <a:rPr lang="en-US" sz="1600" dirty="0"/>
              <a:t>Real-time detection of risky driving behaviors (</a:t>
            </a:r>
            <a:r>
              <a:rPr lang="en-US" sz="1600" dirty="0" err="1"/>
              <a:t>overspeeding</a:t>
            </a:r>
            <a:r>
              <a:rPr lang="en-US" sz="1600" dirty="0"/>
              <a:t>, harsh braking, lane drifting) to reduce accidents</a:t>
            </a:r>
            <a:r>
              <a:rPr lang="en-US" sz="1458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45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5615" y="1665440"/>
            <a:ext cx="3622973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/>
          <p:cNvSpPr/>
          <p:nvPr/>
        </p:nvSpPr>
        <p:spPr>
          <a:xfrm>
            <a:off x="4473476" y="2888105"/>
            <a:ext cx="3055541" cy="92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</a:pPr>
            <a:r>
              <a:rPr lang="en-IN" sz="2400" dirty="0"/>
              <a:t>Autonomous &amp; Assisted Driving</a:t>
            </a:r>
            <a:endParaRPr sz="220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473476" y="3928269"/>
            <a:ext cx="3244949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</a:pPr>
            <a:r>
              <a:rPr lang="en-US" sz="1600" dirty="0"/>
              <a:t>Enhance ADAS (Advanced Driver Assistance Systems) by identifying human errors and supporting autonomous vehicle decision-making</a:t>
            </a:r>
            <a:endParaRPr sz="145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98588" y="1660128"/>
            <a:ext cx="3622973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8096448" y="2817813"/>
            <a:ext cx="3146425" cy="997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</a:pPr>
            <a:r>
              <a:rPr lang="en-IN" sz="2400" dirty="0"/>
              <a:t>Insurance &amp; Risk Assessment</a:t>
            </a:r>
            <a:endParaRPr sz="220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096449" y="3928269"/>
            <a:ext cx="3244949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</a:pPr>
            <a:r>
              <a:rPr lang="en-US" sz="1458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Advanced threat detection for critical infrastructure such as power grids, transportation hubs, and government buildings.</a:t>
            </a:r>
            <a:endParaRPr sz="145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61492" y="5539582"/>
            <a:ext cx="10869018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</a:pPr>
            <a:endParaRPr sz="145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4C5E8103-C97E-AAD9-3C6B-C3B619FD6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511" y="1443143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="" xmlns:a16="http://schemas.microsoft.com/office/drawing/2014/main" id="{8D093D2C-A27D-86E8-05BF-B4A938BA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>
            <a:extLst>
              <a:ext uri="{FF2B5EF4-FFF2-40B4-BE49-F238E27FC236}">
                <a16:creationId xmlns="" xmlns:a16="http://schemas.microsoft.com/office/drawing/2014/main" id="{23C0D139-1864-F6AB-1FB7-284F0834474B}"/>
              </a:ext>
            </a:extLst>
          </p:cNvPr>
          <p:cNvSpPr/>
          <p:nvPr/>
        </p:nvSpPr>
        <p:spPr>
          <a:xfrm>
            <a:off x="457200" y="790674"/>
            <a:ext cx="5268417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12F2B"/>
              </a:buClr>
              <a:buSzPts val="4450"/>
            </a:pPr>
            <a:r>
              <a:rPr lang="en-US" sz="3708" b="1" dirty="0">
                <a:solidFill>
                  <a:srgbClr val="3399FF"/>
                </a:solidFill>
                <a:latin typeface="Gelasio"/>
                <a:ea typeface="Gelasio"/>
                <a:cs typeface="Gelasio"/>
                <a:sym typeface="Gelasio"/>
              </a:rPr>
              <a:t>Use Cases</a:t>
            </a:r>
            <a:endParaRPr sz="3708" b="1" dirty="0">
              <a:solidFill>
                <a:srgbClr val="3399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9" descr="preencoded.png">
            <a:extLst>
              <a:ext uri="{FF2B5EF4-FFF2-40B4-BE49-F238E27FC236}">
                <a16:creationId xmlns="" xmlns:a16="http://schemas.microsoft.com/office/drawing/2014/main" id="{3F82342C-B0FE-D28B-FB7C-61FB648D68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653" y="1660128"/>
            <a:ext cx="3622973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>
            <a:extLst>
              <a:ext uri="{FF2B5EF4-FFF2-40B4-BE49-F238E27FC236}">
                <a16:creationId xmlns="" xmlns:a16="http://schemas.microsoft.com/office/drawing/2014/main" id="{D616244F-3EA0-DDF5-A7A6-CAD883466FA6}"/>
              </a:ext>
            </a:extLst>
          </p:cNvPr>
          <p:cNvSpPr/>
          <p:nvPr/>
        </p:nvSpPr>
        <p:spPr>
          <a:xfrm>
            <a:off x="850503" y="2929731"/>
            <a:ext cx="2835275" cy="88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</a:pPr>
            <a:r>
              <a:rPr lang="en-IN" sz="2400" dirty="0"/>
              <a:t>Smart City Traffic Management</a:t>
            </a:r>
            <a:endParaRPr sz="220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>
            <a:extLst>
              <a:ext uri="{FF2B5EF4-FFF2-40B4-BE49-F238E27FC236}">
                <a16:creationId xmlns="" xmlns:a16="http://schemas.microsoft.com/office/drawing/2014/main" id="{2DFB8E85-9520-552B-FD44-FA556A45C109}"/>
              </a:ext>
            </a:extLst>
          </p:cNvPr>
          <p:cNvSpPr/>
          <p:nvPr/>
        </p:nvSpPr>
        <p:spPr>
          <a:xfrm>
            <a:off x="228600" y="3814863"/>
            <a:ext cx="3866854" cy="225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</a:pPr>
            <a:r>
              <a:rPr lang="en-US" sz="1600" dirty="0"/>
              <a:t>Integrates with Intelligent Transportation Systems (ITS) to provide traffic authorities with insights for congestion control and emergency response</a:t>
            </a:r>
            <a:endParaRPr sz="145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9" descr="preencoded.png">
            <a:extLst>
              <a:ext uri="{FF2B5EF4-FFF2-40B4-BE49-F238E27FC236}">
                <a16:creationId xmlns="" xmlns:a16="http://schemas.microsoft.com/office/drawing/2014/main" id="{B8A6B4D5-B871-BC68-8364-9B70D6C1B4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5615" y="1665440"/>
            <a:ext cx="3622973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9">
            <a:extLst>
              <a:ext uri="{FF2B5EF4-FFF2-40B4-BE49-F238E27FC236}">
                <a16:creationId xmlns="" xmlns:a16="http://schemas.microsoft.com/office/drawing/2014/main" id="{555A2318-32AD-911C-C679-248A16413311}"/>
              </a:ext>
            </a:extLst>
          </p:cNvPr>
          <p:cNvSpPr/>
          <p:nvPr/>
        </p:nvSpPr>
        <p:spPr>
          <a:xfrm>
            <a:off x="4473476" y="2888105"/>
            <a:ext cx="3055541" cy="92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</a:pPr>
            <a:r>
              <a:rPr lang="en-IN" sz="2400" dirty="0"/>
              <a:t>Fleet Management &amp; Logistics</a:t>
            </a:r>
            <a:endParaRPr sz="220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>
            <a:extLst>
              <a:ext uri="{FF2B5EF4-FFF2-40B4-BE49-F238E27FC236}">
                <a16:creationId xmlns="" xmlns:a16="http://schemas.microsoft.com/office/drawing/2014/main" id="{1A120258-4318-A9E2-8643-934F78E3EFF0}"/>
              </a:ext>
            </a:extLst>
          </p:cNvPr>
          <p:cNvSpPr/>
          <p:nvPr/>
        </p:nvSpPr>
        <p:spPr>
          <a:xfrm>
            <a:off x="4191000" y="3928269"/>
            <a:ext cx="3527425" cy="2139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</a:pPr>
            <a:r>
              <a:rPr lang="en-US" sz="1600" dirty="0"/>
              <a:t>Helps companies track driver behavior, reduce fuel costs, improve safety compliance, and lower accident-related losses</a:t>
            </a:r>
            <a:endParaRPr sz="145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9" descr="preencoded.png">
            <a:extLst>
              <a:ext uri="{FF2B5EF4-FFF2-40B4-BE49-F238E27FC236}">
                <a16:creationId xmlns="" xmlns:a16="http://schemas.microsoft.com/office/drawing/2014/main" id="{054730D1-BCB1-BD33-CBB7-1B67B527817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98588" y="1660128"/>
            <a:ext cx="3622973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>
            <a:extLst>
              <a:ext uri="{FF2B5EF4-FFF2-40B4-BE49-F238E27FC236}">
                <a16:creationId xmlns="" xmlns:a16="http://schemas.microsoft.com/office/drawing/2014/main" id="{3B40B405-0A3E-F9DB-CC59-BCD15BFFEFCF}"/>
              </a:ext>
            </a:extLst>
          </p:cNvPr>
          <p:cNvSpPr/>
          <p:nvPr/>
        </p:nvSpPr>
        <p:spPr>
          <a:xfrm>
            <a:off x="8096448" y="2817813"/>
            <a:ext cx="3146425" cy="997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</a:pPr>
            <a:r>
              <a:rPr lang="en-IN" sz="2400" dirty="0"/>
              <a:t>Insurance &amp; Risk Profiling</a:t>
            </a:r>
            <a:endParaRPr sz="220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>
            <a:extLst>
              <a:ext uri="{FF2B5EF4-FFF2-40B4-BE49-F238E27FC236}">
                <a16:creationId xmlns="" xmlns:a16="http://schemas.microsoft.com/office/drawing/2014/main" id="{BBF63197-CCD0-3713-1016-C04BD8FB4365}"/>
              </a:ext>
            </a:extLst>
          </p:cNvPr>
          <p:cNvSpPr/>
          <p:nvPr/>
        </p:nvSpPr>
        <p:spPr>
          <a:xfrm>
            <a:off x="8285561" y="3836988"/>
            <a:ext cx="3622973" cy="16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</a:pPr>
            <a:r>
              <a:rPr lang="en-US" sz="1600" dirty="0"/>
              <a:t>Enables insurance providers to assess risk more accurately using driver behavior analytics for premium adjustments</a:t>
            </a:r>
            <a:endParaRPr sz="145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>
            <a:extLst>
              <a:ext uri="{FF2B5EF4-FFF2-40B4-BE49-F238E27FC236}">
                <a16:creationId xmlns="" xmlns:a16="http://schemas.microsoft.com/office/drawing/2014/main" id="{8A7E5272-D70F-0793-C5AA-C584BA6580BA}"/>
              </a:ext>
            </a:extLst>
          </p:cNvPr>
          <p:cNvSpPr/>
          <p:nvPr/>
        </p:nvSpPr>
        <p:spPr>
          <a:xfrm>
            <a:off x="661492" y="5539582"/>
            <a:ext cx="10869018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</a:pPr>
            <a:endParaRPr sz="1458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478B0852-5BF5-DF9D-4409-94E70A78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511" y="1443143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755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1487440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-4953000" y="797129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Deliverables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85800" y="1752600"/>
            <a:ext cx="99822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Capstone-I → Research &amp; Baseline :</a:t>
            </a:r>
            <a:endParaRPr lang="en-US" sz="2400" dirty="0">
              <a:latin typeface="+mn-lt"/>
            </a:endParaRP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Collect and preprocess datasets (e.g., </a:t>
            </a:r>
            <a:r>
              <a:rPr lang="en-US" sz="2400" dirty="0" err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AICity</a:t>
            </a: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Challenge</a:t>
            </a:r>
            <a:r>
              <a:rPr lang="en-US" sz="2400" dirty="0">
                <a:latin typeface="+mn-lt"/>
              </a:rPr>
              <a:t>).</a:t>
            </a: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Build a </a:t>
            </a:r>
            <a:r>
              <a:rPr lang="en-US" sz="2400" b="1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baseline model</a:t>
            </a: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(simple CNN or </a:t>
            </a:r>
            <a:r>
              <a:rPr lang="en-US" sz="2400" dirty="0" err="1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Autoencoder</a:t>
            </a:r>
            <a:r>
              <a:rPr lang="en-US" sz="24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) for anomaly detection.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Capstone-II → Model Development :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Design </a:t>
            </a:r>
            <a:r>
              <a:rPr lang="en-US" sz="2400" b="1" dirty="0">
                <a:latin typeface="+mn-lt"/>
              </a:rPr>
              <a:t>multi-modal deep learning models</a:t>
            </a:r>
            <a:r>
              <a:rPr lang="en-US" sz="2400" dirty="0">
                <a:latin typeface="+mn-lt"/>
              </a:rPr>
              <a:t> (CNN–LSTM).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Evaluate accuracy, precision, recall, F1-score for anomaly detection.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Compare different deep learning methods (CNN vs LSTM vs </a:t>
            </a:r>
            <a:r>
              <a:rPr lang="en-US" sz="2400" dirty="0" err="1">
                <a:latin typeface="+mn-lt"/>
              </a:rPr>
              <a:t>Autoencoder</a:t>
            </a:r>
            <a:r>
              <a:rPr lang="en-US" sz="2400" dirty="0">
                <a:latin typeface="+mn-lt"/>
              </a:rPr>
              <a:t>).</a:t>
            </a:r>
            <a:endParaRPr lang="en-US" sz="24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780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2000" y="1371600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-4876800" y="821192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Expected Deliverables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14400" y="1752600"/>
            <a:ext cx="9753600" cy="4724400"/>
          </a:xfrm>
          <a:prstGeom prst="rect">
            <a:avLst/>
          </a:prstGeom>
        </p:spPr>
        <p:txBody>
          <a:bodyPr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Capstone-III → Integration &amp; Testing :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system into an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Intelligent Transportation System (ITS) simulation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driver monitoring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(latency &lt; 200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alerting mechanism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(buzzer, screen alert, braking).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prototype under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driving scenarios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(day/night, highway/city).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solidFill>
                  <a:srgbClr val="0000FF"/>
                </a:solidFill>
                <a:latin typeface="+mn-lt"/>
              </a:rPr>
              <a:t>Capstone-IV → Deployment &amp; Finalization :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Deploy the anomaly detection </a:t>
            </a:r>
            <a:r>
              <a:rPr lang="en-US" sz="2400" dirty="0" smtClean="0">
                <a:latin typeface="+mn-lt"/>
              </a:rPr>
              <a:t>system.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n-lt"/>
              </a:rPr>
              <a:t>Conduct </a:t>
            </a:r>
            <a:r>
              <a:rPr lang="en-US" sz="2400" b="1" dirty="0" smtClean="0">
                <a:latin typeface="+mn-lt"/>
              </a:rPr>
              <a:t>final validation</a:t>
            </a:r>
            <a:r>
              <a:rPr lang="en-US" sz="2400" dirty="0" smtClean="0">
                <a:latin typeface="+mn-lt"/>
              </a:rPr>
              <a:t> with live test </a:t>
            </a: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+mn-lt"/>
              </a:rPr>
              <a:t>repare</a:t>
            </a:r>
            <a:r>
              <a:rPr lang="en-US" sz="2400" dirty="0" smtClean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final </a:t>
            </a:r>
            <a:r>
              <a:rPr lang="en-US" sz="2400" b="1" dirty="0">
                <a:latin typeface="+mn-lt"/>
              </a:rPr>
              <a:t>documentation, publication paper(s), and project report</a:t>
            </a:r>
            <a:r>
              <a:rPr lang="en-US" sz="2400" dirty="0">
                <a:latin typeface="+mn-lt"/>
              </a:rPr>
              <a:t>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2400" b="1" dirty="0">
              <a:solidFill>
                <a:srgbClr val="0000FF"/>
              </a:solidFill>
            </a:endParaRPr>
          </a:p>
          <a:p>
            <a:pPr marL="34290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404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38200" y="148121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-3505200" y="784680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rebuchet MS"/>
              </a:rPr>
              <a:t>Capstone Project Timeline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graphicFrame>
        <p:nvGraphicFramePr>
          <p:cNvPr id="48" name="Content Placeholder 4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2863146"/>
              </p:ext>
            </p:extLst>
          </p:nvPr>
        </p:nvGraphicFramePr>
        <p:xfrm>
          <a:off x="914400" y="1825624"/>
          <a:ext cx="11201400" cy="4803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D21DB74-6033-694C-52D7-6D8C345BF950}"/>
              </a:ext>
            </a:extLst>
          </p:cNvPr>
          <p:cNvSpPr txBox="1"/>
          <p:nvPr/>
        </p:nvSpPr>
        <p:spPr>
          <a:xfrm>
            <a:off x="838200" y="6096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Unbounded Bold"/>
              </a:rPr>
              <a:t>REFERANCE</a:t>
            </a:r>
            <a:endParaRPr lang="en-IN" sz="2400" b="1" dirty="0">
              <a:solidFill>
                <a:schemeClr val="bg2">
                  <a:lumMod val="25000"/>
                </a:schemeClr>
              </a:solidFill>
              <a:latin typeface="Unbounded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1548186-6902-7F0B-CB6A-11A942FC2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137" y="1053008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9FFB3F2-6439-6A45-C5CE-8ABEC5569397}"/>
              </a:ext>
            </a:extLst>
          </p:cNvPr>
          <p:cNvSpPr txBox="1"/>
          <p:nvPr/>
        </p:nvSpPr>
        <p:spPr>
          <a:xfrm>
            <a:off x="1066800" y="15507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</a:rPr>
              <a:t>https://dl.acm.org/doi/10.1145/3616901.3616942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11097DC-A702-BA02-96C1-AB88FC14B87C}"/>
              </a:ext>
            </a:extLst>
          </p:cNvPr>
          <p:cNvSpPr txBox="1"/>
          <p:nvPr/>
        </p:nvSpPr>
        <p:spPr>
          <a:xfrm>
            <a:off x="1066800" y="21966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</a:rPr>
              <a:t>https://ijsrmt.com/index.php/ijsrmt/article/view/128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56564577-8BB8-ECAE-9446-B0D089444B53}"/>
              </a:ext>
            </a:extLst>
          </p:cNvPr>
          <p:cNvSpPr txBox="1"/>
          <p:nvPr/>
        </p:nvSpPr>
        <p:spPr>
          <a:xfrm>
            <a:off x="1058779" y="28425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</a:rPr>
              <a:t>https://arxiv.org/html/2503.13195v1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A153F130-6A2E-A36C-6557-60C7B92EDE7D}"/>
              </a:ext>
            </a:extLst>
          </p:cNvPr>
          <p:cNvSpPr txBox="1"/>
          <p:nvPr/>
        </p:nvSpPr>
        <p:spPr>
          <a:xfrm>
            <a:off x="1058779" y="34290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</a:rPr>
              <a:t>https://www.sciencedirect.com/science/article/abs/pii/S0360835224007897</a:t>
            </a:r>
          </a:p>
        </p:txBody>
      </p:sp>
    </p:spTree>
    <p:extLst>
      <p:ext uri="{BB962C8B-B14F-4D97-AF65-F5344CB8AC3E}">
        <p14:creationId xmlns:p14="http://schemas.microsoft.com/office/powerpoint/2010/main" val="53563289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71800" y="2971800"/>
            <a:ext cx="41629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  <a:latin typeface="Georgia" panose="02040502050405020303" pitchFamily="18" charset="0"/>
              </a:rPr>
              <a:t>…..Thank You</a:t>
            </a:r>
          </a:p>
        </p:txBody>
      </p:sp>
      <p:pic>
        <p:nvPicPr>
          <p:cNvPr id="3" name="Graphic 2" descr="Car with solid fill">
            <a:extLst>
              <a:ext uri="{FF2B5EF4-FFF2-40B4-BE49-F238E27FC236}">
                <a16:creationId xmlns="" xmlns:a16="http://schemas.microsoft.com/office/drawing/2014/main" id="{8A706E1A-3A58-031C-6229-35CD581C9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9400" y="21336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706</TotalTime>
  <Words>730</Words>
  <Application>Microsoft Office PowerPoint</Application>
  <PresentationFormat>Widescreen</PresentationFormat>
  <Paragraphs>141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Arial</vt:lpstr>
      <vt:lpstr>Calibri</vt:lpstr>
      <vt:lpstr>Calibri Light</vt:lpstr>
      <vt:lpstr>Gelasio</vt:lpstr>
      <vt:lpstr>Georgia</vt:lpstr>
      <vt:lpstr>Lato</vt:lpstr>
      <vt:lpstr>Open Sans</vt:lpstr>
      <vt:lpstr>Sitka Text Semibold</vt:lpstr>
      <vt:lpstr>Trebuchet MS</vt:lpstr>
      <vt:lpstr>Unbounded Bold</vt:lpstr>
      <vt:lpstr>Unbounded Light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Microsoft account</cp:lastModifiedBy>
  <cp:revision>136</cp:revision>
  <dcterms:created xsi:type="dcterms:W3CDTF">2020-11-22T08:14:37Z</dcterms:created>
  <dcterms:modified xsi:type="dcterms:W3CDTF">2025-11-06T17:16:07Z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