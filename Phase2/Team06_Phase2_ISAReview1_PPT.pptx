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35"/>
  </p:notesMasterIdLst>
  <p:handoutMasterIdLst>
    <p:handoutMasterId r:id="rId36"/>
  </p:handoutMasterIdLst>
  <p:sldIdLst>
    <p:sldId id="606" r:id="rId2"/>
    <p:sldId id="538" r:id="rId3"/>
    <p:sldId id="535" r:id="rId4"/>
    <p:sldId id="572" r:id="rId5"/>
    <p:sldId id="569" r:id="rId6"/>
    <p:sldId id="586" r:id="rId7"/>
    <p:sldId id="263" r:id="rId8"/>
    <p:sldId id="573" r:id="rId9"/>
    <p:sldId id="587" r:id="rId10"/>
    <p:sldId id="588" r:id="rId11"/>
    <p:sldId id="585" r:id="rId12"/>
    <p:sldId id="591" r:id="rId13"/>
    <p:sldId id="592" r:id="rId14"/>
    <p:sldId id="563" r:id="rId15"/>
    <p:sldId id="590" r:id="rId16"/>
    <p:sldId id="571" r:id="rId17"/>
    <p:sldId id="596" r:id="rId18"/>
    <p:sldId id="566" r:id="rId19"/>
    <p:sldId id="595" r:id="rId20"/>
    <p:sldId id="593" r:id="rId21"/>
    <p:sldId id="567" r:id="rId22"/>
    <p:sldId id="601" r:id="rId23"/>
    <p:sldId id="602" r:id="rId24"/>
    <p:sldId id="603" r:id="rId25"/>
    <p:sldId id="564" r:id="rId26"/>
    <p:sldId id="583" r:id="rId27"/>
    <p:sldId id="599" r:id="rId28"/>
    <p:sldId id="600" r:id="rId29"/>
    <p:sldId id="604" r:id="rId30"/>
    <p:sldId id="272" r:id="rId31"/>
    <p:sldId id="605" r:id="rId32"/>
    <p:sldId id="273" r:id="rId33"/>
    <p:sldId id="549" r:id="rId34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CC"/>
    <a:srgbClr val="FF0066"/>
    <a:srgbClr val="33CC33"/>
    <a:srgbClr val="00FFFF"/>
    <a:srgbClr val="6600FF"/>
    <a:srgbClr val="CC66FF"/>
    <a:srgbClr val="62832D"/>
    <a:srgbClr val="0066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37" autoAdjust="0"/>
    <p:restoredTop sz="86811" autoAdjust="0"/>
  </p:normalViewPr>
  <p:slideViewPr>
    <p:cSldViewPr>
      <p:cViewPr varScale="1">
        <p:scale>
          <a:sx n="80" d="100"/>
          <a:sy n="80" d="100"/>
        </p:scale>
        <p:origin x="132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13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24</a:t>
            </a:r>
            <a:r>
              <a:rPr lang="en-US" baseline="0" dirty="0"/>
              <a:t> Months Capstone Timeline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8636-4D08-A536-92A711628AE1}"/>
              </c:ext>
            </c:extLst>
          </c:dPt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8636-4D08-A536-92A711628AE1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8636-4D08-A536-92A711628AE1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8636-4D08-A536-92A711628AE1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8636-4D08-A536-92A711628AE1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B-8636-4D08-A536-92A711628AE1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D-8636-4D08-A536-92A711628AE1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F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0-8636-4D08-A536-92A711628AE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2-8636-4D08-A536-92A711628AE1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4-8636-4D08-A536-92A711628AE1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6-8636-4D08-A536-92A711628AE1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8-8636-4D08-A536-92A711628AE1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A-8636-4D08-A536-92A711628AE1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C-8636-4D08-A536-92A711628AE1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1E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1F-8636-4D08-A536-92A711628AE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1-8636-4D08-A536-92A711628AE1}"/>
              </c:ext>
            </c:extLst>
          </c:dPt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3-8636-4D08-A536-92A711628AE1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5-8636-4D08-A536-92A711628AE1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7-8636-4D08-A536-92A711628AE1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9-8636-4D08-A536-92A711628AE1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B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2C-8636-4D08-A536-92A711628AE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2E-8636-4D08-A536-92A711628AE1}"/>
              </c:ext>
            </c:extLst>
          </c:dPt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0-8636-4D08-A536-92A711628AE1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2-8636-4D08-A536-92A711628AE1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4-8636-4D08-A536-92A711628AE1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6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37-8636-4D08-A536-92A711628AE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series5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9-8636-4D08-A536-92A711628AE1}"/>
              </c:ext>
            </c:extLst>
          </c:dPt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B-8636-4D08-A536-92A711628AE1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D-8636-4D08-A536-92A711628AE1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3F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40-8636-4D08-A536-92A711628AE1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6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Pt>
            <c:idx val="6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2-8636-4D08-A536-92A711628AE1}"/>
              </c:ext>
            </c:extLst>
          </c:dPt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4-8636-4D08-A536-92A711628AE1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6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Sheet1!$G$2:$G$10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47-8636-4D08-A536-92A711628AE1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7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Pt>
            <c:idx val="7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9-8636-4D08-A536-92A711628AE1}"/>
              </c:ext>
            </c:extLst>
          </c:dPt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B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Sheet1!$H$2:$H$10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4C-8636-4D08-A536-92A711628AE1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8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4E-8636-4D08-A536-92A711628AE1}"/>
              </c:ext>
            </c:extLst>
          </c:dPt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Sheet1!$I$2:$I$10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2</c:v>
                </c:pt>
                <c:pt idx="8">
                  <c:v>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4F-8636-4D08-A536-92A711628AE1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9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Sheet1!$J$2:$J$10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50-8636-4D08-A536-92A711628AE1}"/>
            </c:ext>
          </c:extLst>
        </c:ser>
        <c:ser>
          <c:idx val="9"/>
          <c:order val="9"/>
          <c:tx>
            <c:strRef>
              <c:f>Sheet1!$K$1</c:f>
              <c:strCache>
                <c:ptCount val="1"/>
                <c:pt idx="0">
                  <c:v>10</c:v>
                </c:pt>
              </c:strCache>
            </c:strRef>
          </c:tx>
          <c:spPr>
            <a:solidFill>
              <a:schemeClr val="accent4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Literature survey</c:v>
                </c:pt>
                <c:pt idx="1">
                  <c:v>Dataset collection</c:v>
                </c:pt>
                <c:pt idx="2">
                  <c:v>Baseline Model</c:v>
                </c:pt>
                <c:pt idx="3">
                  <c:v>Advanced DL Model</c:v>
                </c:pt>
                <c:pt idx="4">
                  <c:v>Multi-modal opt</c:v>
                </c:pt>
                <c:pt idx="5">
                  <c:v>ITS simu and int</c:v>
                </c:pt>
                <c:pt idx="6">
                  <c:v>Edge deployment</c:v>
                </c:pt>
                <c:pt idx="7">
                  <c:v>Sys test and valid</c:v>
                </c:pt>
                <c:pt idx="8">
                  <c:v>Docu and final Report</c:v>
                </c:pt>
              </c:strCache>
            </c:strRef>
          </c:cat>
          <c:val>
            <c:numRef>
              <c:f>Sheet1!$K$2:$K$10</c:f>
              <c:numCache>
                <c:formatCode>General</c:formatCode>
                <c:ptCount val="9"/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51-8636-4D08-A536-92A711628A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01625112"/>
        <c:axId val="304243112"/>
      </c:barChart>
      <c:catAx>
        <c:axId val="301625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4243112"/>
        <c:crosses val="autoZero"/>
        <c:auto val="1"/>
        <c:lblAlgn val="ctr"/>
        <c:lblOffset val="100"/>
        <c:noMultiLvlLbl val="0"/>
      </c:catAx>
      <c:valAx>
        <c:axId val="304243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01625112"/>
        <c:crosses val="autoZero"/>
        <c:crossBetween val="between"/>
      </c:valAx>
      <c:spPr>
        <a:solidFill>
          <a:schemeClr val="bg1"/>
        </a:solidFill>
        <a:ln>
          <a:noFill/>
        </a:ln>
        <a:effectLst>
          <a:outerShdw blurRad="50800" dist="50800" dir="5400000" sx="1000" sy="1000" algn="ctr" rotWithShape="0">
            <a:srgbClr val="000000"/>
          </a:outerShdw>
        </a:effectLst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6A7C97D-3554-44E0-8E72-665D45387ACC}" type="datetimeFigureOut">
              <a:rPr lang="en-US"/>
              <a:pPr>
                <a:defRPr/>
              </a:pPr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486DC43-659C-4A17-BDC0-5684401D4F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973BE83-6A1D-4DA3-83D0-ED76C71EFE38}" type="datetimeFigureOut">
              <a:rPr lang="en-US"/>
              <a:pPr>
                <a:defRPr/>
              </a:pPr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1C81575-24DE-4F6C-A73E-0331B3B2E4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9928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8787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43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66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C5B7303-B729-16CD-B5C0-F154FE378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32B6E5F1-8325-CF6C-295A-EEA50F1430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42645F8C-0CB0-5E3C-1B9D-3E6BAB5E8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1D11FA1-79FF-B0B9-10B1-36BB447C4C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554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25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323B7EC-1539-A7C5-B2F3-8AC5C656D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F38EFBD6-37DE-AE83-F39E-3CE2E862DA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22D9BA31-E5BC-BD2D-130A-185DC54A6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C87092B-91B6-5CBB-06AC-97F3465F48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9155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5F678FC3-E0FF-B623-E529-A5F34F7CA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797F2E02-8244-F673-EBA8-E6BF3A268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3CBE4BDF-3732-6B6D-0A3F-EEA64EDB2C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56E19B0-79A9-F932-9DF2-95463EDA28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6236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11FC5D8-82E7-D74A-CA0C-1B8BE28C5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="" xmlns:a16="http://schemas.microsoft.com/office/drawing/2014/main" id="{E1F95CBB-C80E-B47E-6FDE-F8FC217AA9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="" xmlns:a16="http://schemas.microsoft.com/office/drawing/2014/main" id="{B00B1881-580E-EFC6-B57A-04190C23AD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BCB88FC-240A-ABD8-9A73-B62731F807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212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" name="Google Shape;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81703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>
          <a:extLst>
            <a:ext uri="{FF2B5EF4-FFF2-40B4-BE49-F238E27FC236}">
              <a16:creationId xmlns="" xmlns:a16="http://schemas.microsoft.com/office/drawing/2014/main" id="{8BD4CA1B-9B3D-C8D5-E317-A4F2E409E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>
            <a:extLst>
              <a:ext uri="{FF2B5EF4-FFF2-40B4-BE49-F238E27FC236}">
                <a16:creationId xmlns="" xmlns:a16="http://schemas.microsoft.com/office/drawing/2014/main" id="{064E2328-BA6B-AEDA-FFC8-DBFC63EDFC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" name="Google Shape;50;p5:notes">
            <a:extLst>
              <a:ext uri="{FF2B5EF4-FFF2-40B4-BE49-F238E27FC236}">
                <a16:creationId xmlns="" xmlns:a16="http://schemas.microsoft.com/office/drawing/2014/main" id="{52999572-A7CF-E117-D8DE-7A59329F05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58847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" name="Google Shape;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945649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" name="Google Shape;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771195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" name="Google Shape;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794097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>
          <a:extLst>
            <a:ext uri="{FF2B5EF4-FFF2-40B4-BE49-F238E27FC236}">
              <a16:creationId xmlns="" xmlns:a16="http://schemas.microsoft.com/office/drawing/2014/main" id="{BEEC065B-1B5B-86A4-46B9-30AB5BEFC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>
            <a:extLst>
              <a:ext uri="{FF2B5EF4-FFF2-40B4-BE49-F238E27FC236}">
                <a16:creationId xmlns="" xmlns:a16="http://schemas.microsoft.com/office/drawing/2014/main" id="{5F1DFD9C-8FA5-9BD9-FF9E-04FEBCDFF3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" name="Google Shape;50;p5:notes">
            <a:extLst>
              <a:ext uri="{FF2B5EF4-FFF2-40B4-BE49-F238E27FC236}">
                <a16:creationId xmlns="" xmlns:a16="http://schemas.microsoft.com/office/drawing/2014/main" id="{C73660C4-0760-6C94-40F2-7149526B49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961350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279" cy="4182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" name="Google Shape;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304549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="" xmlns:a16="http://schemas.microsoft.com/office/drawing/2014/main" id="{BF0E5A20-2CC0-02B4-BEDC-68717E945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:notes">
            <a:extLst>
              <a:ext uri="{FF2B5EF4-FFF2-40B4-BE49-F238E27FC236}">
                <a16:creationId xmlns="" xmlns:a16="http://schemas.microsoft.com/office/drawing/2014/main" id="{31B10CB7-6317-168E-FC44-79E6F61FC2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6:notes">
            <a:extLst>
              <a:ext uri="{FF2B5EF4-FFF2-40B4-BE49-F238E27FC236}">
                <a16:creationId xmlns="" xmlns:a16="http://schemas.microsoft.com/office/drawing/2014/main" id="{85A9F2EE-8E24-63C2-F8A0-AF44DF8C22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" name="Google Shape;58;p6:notes">
            <a:extLst>
              <a:ext uri="{FF2B5EF4-FFF2-40B4-BE49-F238E27FC236}">
                <a16:creationId xmlns="" xmlns:a16="http://schemas.microsoft.com/office/drawing/2014/main" id="{D3E94EED-A46A-F412-73AF-845ED2DE0CC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78263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="" xmlns:a16="http://schemas.microsoft.com/office/drawing/2014/main" id="{DAC6C07A-E15C-C128-F646-745E46A38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:notes">
            <a:extLst>
              <a:ext uri="{FF2B5EF4-FFF2-40B4-BE49-F238E27FC236}">
                <a16:creationId xmlns="" xmlns:a16="http://schemas.microsoft.com/office/drawing/2014/main" id="{45B84AFB-3735-A133-9567-C238F10222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6:notes">
            <a:extLst>
              <a:ext uri="{FF2B5EF4-FFF2-40B4-BE49-F238E27FC236}">
                <a16:creationId xmlns="" xmlns:a16="http://schemas.microsoft.com/office/drawing/2014/main" id="{0E6B331E-CF15-54AE-A250-36E1762DC8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" name="Google Shape;58;p6:notes">
            <a:extLst>
              <a:ext uri="{FF2B5EF4-FFF2-40B4-BE49-F238E27FC236}">
                <a16:creationId xmlns="" xmlns:a16="http://schemas.microsoft.com/office/drawing/2014/main" id="{A8DC1647-D092-FA65-1182-74030FEC9BB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74760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>
          <a:extLst>
            <a:ext uri="{FF2B5EF4-FFF2-40B4-BE49-F238E27FC236}">
              <a16:creationId xmlns="" xmlns:a16="http://schemas.microsoft.com/office/drawing/2014/main" id="{E37AF976-F095-DA84-D69F-DC961E1F6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:notes">
            <a:extLst>
              <a:ext uri="{FF2B5EF4-FFF2-40B4-BE49-F238E27FC236}">
                <a16:creationId xmlns="" xmlns:a16="http://schemas.microsoft.com/office/drawing/2014/main" id="{27D9A45A-4DA9-40A6-1926-48E188AF94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6:notes">
            <a:extLst>
              <a:ext uri="{FF2B5EF4-FFF2-40B4-BE49-F238E27FC236}">
                <a16:creationId xmlns="" xmlns:a16="http://schemas.microsoft.com/office/drawing/2014/main" id="{BC7EAF37-9321-D35A-D36B-CA6270D77A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" name="Google Shape;58;p6:notes">
            <a:extLst>
              <a:ext uri="{FF2B5EF4-FFF2-40B4-BE49-F238E27FC236}">
                <a16:creationId xmlns="" xmlns:a16="http://schemas.microsoft.com/office/drawing/2014/main" id="{7D904D1B-B1D9-1C1C-6ED8-A0C9815BCD2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3120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6:notes"/>
          <p:cNvSpPr txBox="1">
            <a:spLocks noGrp="1"/>
          </p:cNvSpPr>
          <p:nvPr>
            <p:ph type="body" idx="1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" name="Google Shape;58;p6:notes"/>
          <p:cNvSpPr txBox="1">
            <a:spLocks noGrp="1"/>
          </p:cNvSpPr>
          <p:nvPr>
            <p:ph type="sldNum" idx="12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400"/>
                <a:buNone/>
              </a:pPr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78903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25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02713C8-F183-1D43-AE77-BF9BD4D2A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E7AF752-0EC0-CF4D-965A-5129A9135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3E32540-0688-DC4A-809A-52FB3313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F2CA43E-0611-D047-BC7B-31F920B6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B6E4123-5713-BC41-BBD0-42ADF35D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7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11DED43-C903-1F44-A779-40DF9AEF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E9975D8-34AD-544B-B0E2-83FA77D2F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9D24DD5-B8E0-534E-B68A-EF415575E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5096688-5BB1-5E48-BD14-BBC9FA67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1DC407C-3003-DB44-98B5-0DEC6272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FC5630D-09E2-0742-AED8-D3F73254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715B2CD3-A564-8044-A4EC-7EBA26298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22A64EE-79C1-8B46-BA9C-199117C7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851AAB2-DA47-AE48-A088-6FC7C169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348FF9C-19C9-FA46-8C21-74202499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9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37CBAF5-C913-024F-8BE6-64C58F970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95E6DB7-D3D7-1443-A583-8730715E2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53CEB82F-3E99-7441-9B06-6D7C2156A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426D282-1572-D344-87D1-785DA857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723D760-065F-6442-AF7E-1A7AAFFC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6BF4C15-EC3A-7E41-A2B3-D2AB7D70E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0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72CC90-B8AE-8A46-A8A5-F7E8DA61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8E152C5-AA77-4B47-965C-21A00C1EE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8C466F8D-3502-5242-9160-E1CDE38E0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89754302-8F9A-5648-9C5E-6D037F1C7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BA9FC9CD-8823-F145-9952-EFBA9ACD2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D65EF4D9-655F-4842-A6B8-D44A0501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08E68A74-725F-8F40-8F80-E9628770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29D868FA-8565-A740-9B9C-B3CD6AB3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5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18DFCE3-1C1E-7448-AF7E-5E46BB14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B19D5C9-50F6-8546-8D8C-AFACC1BC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1DEA0D0C-FCAF-4F4C-AAF5-C9B78C03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568836A-EEA3-7347-A63C-8E66DF7B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8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DE7A43C1-2303-5A41-B234-90D15E2A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9EA77971-B281-6149-9884-0E9C45F8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1D0F6F3-1061-E842-B540-6BD0D6CB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3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9EB970D-13D5-B346-968D-400B0BCC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019FFE0-37CD-7644-A007-76E5304F1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0210BE7-EA92-B44F-9EEC-94E6F6955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3B6D810-D2A1-B549-A5BC-25CCA5CD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AD872D2-2005-3043-A02D-3E2DB9334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9F9F01D-1164-4249-AD67-1D51D33C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8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F2D3B30-2A71-A043-9BD7-3B8C66BF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132B08A9-6B45-4340-8859-996D9B949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6B1F4B2-96C1-614B-9110-8D1AEE080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07DF3EB-6252-5845-AE7D-FB94ECF9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2D65DB7-EFE7-7446-8DEC-69F1FB47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2A0E09F-0F32-5644-881A-A61CD824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94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926E61B7-8DCD-1544-BC5D-B4592F60C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BAB61D9-7FB3-1343-9555-936FC6036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DC2A79E-2DF5-4E41-BDCF-90E9D26B7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A7037-0853-0447-B5BA-F1548123F733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56D5DC5-E1CB-B84F-BCAB-EB319B371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9712A2C-5C91-4B43-A114-209348A10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 descr="PESSAT - All India Online Entrance Exam for Admission to PES University">
            <a:extLst>
              <a:ext uri="{FF2B5EF4-FFF2-40B4-BE49-F238E27FC236}">
                <a16:creationId xmlns="" xmlns:a16="http://schemas.microsoft.com/office/drawing/2014/main" id="{A3B97CAD-824E-EAC1-FC41-3EEEC584AA9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7336" y="264409"/>
            <a:ext cx="116205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38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00" y="1340768"/>
            <a:ext cx="10585176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050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19536" y="620688"/>
            <a:ext cx="79248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rebuchet MS" pitchFamily="34" charset="0"/>
              </a:rPr>
              <a:t>UE23CS320B–  Project Phase – 2</a:t>
            </a:r>
          </a:p>
          <a:p>
            <a:pPr algn="ctr"/>
            <a:r>
              <a:rPr lang="en-US" sz="4000" dirty="0">
                <a:solidFill>
                  <a:srgbClr val="FF0000"/>
                </a:solidFill>
                <a:latin typeface="Trebuchet MS" pitchFamily="34" charset="0"/>
              </a:rPr>
              <a:t>Capstone Project –Phase 2 –Review 1</a:t>
            </a:r>
            <a:endParaRPr lang="en-US" sz="3600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4" name="Google Shape;26;p3"/>
          <p:cNvSpPr txBox="1"/>
          <p:nvPr/>
        </p:nvSpPr>
        <p:spPr>
          <a:xfrm>
            <a:off x="1271464" y="2492896"/>
            <a:ext cx="11233248" cy="422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</a:t>
            </a:r>
            <a:r>
              <a:rPr lang="en-US" sz="2400" dirty="0">
                <a:solidFill>
                  <a:srgbClr val="0033CC"/>
                </a:solidFill>
                <a:latin typeface="Trebuchet MS"/>
                <a:cs typeface="Trebuchet MS"/>
              </a:rPr>
              <a:t> Driver</a:t>
            </a:r>
            <a:r>
              <a:rPr lang="en-US" sz="2400" spc="-8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lang="en-US" sz="2400" spc="-10" dirty="0">
                <a:solidFill>
                  <a:srgbClr val="0033CC"/>
                </a:solidFill>
                <a:latin typeface="Trebuchet MS"/>
                <a:cs typeface="Trebuchet MS"/>
              </a:rPr>
              <a:t>Behavior</a:t>
            </a:r>
            <a:r>
              <a:rPr lang="en-US" sz="2400" spc="-17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Trebuchet MS"/>
                <a:cs typeface="Trebuchet MS"/>
              </a:rPr>
              <a:t>Anomaly</a:t>
            </a:r>
            <a:r>
              <a:rPr lang="en-US" sz="2400" spc="-9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Trebuchet MS"/>
                <a:cs typeface="Trebuchet MS"/>
              </a:rPr>
              <a:t>Detection</a:t>
            </a:r>
            <a:r>
              <a:rPr lang="en-US" sz="2400" spc="-70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lang="en-US" sz="2400" spc="-10" dirty="0">
                <a:solidFill>
                  <a:srgbClr val="0033CC"/>
                </a:solidFill>
                <a:latin typeface="Trebuchet MS"/>
                <a:cs typeface="Trebuchet MS"/>
              </a:rPr>
              <a:t>using </a:t>
            </a:r>
            <a:r>
              <a:rPr lang="en-US" sz="2400" dirty="0">
                <a:solidFill>
                  <a:srgbClr val="0033CC"/>
                </a:solidFill>
                <a:latin typeface="Trebuchet MS"/>
                <a:cs typeface="Trebuchet MS"/>
              </a:rPr>
              <a:t>Deep</a:t>
            </a:r>
            <a:r>
              <a:rPr lang="en-US" sz="2400" spc="-85" dirty="0">
                <a:solidFill>
                  <a:srgbClr val="0033CC"/>
                </a:solidFill>
                <a:latin typeface="Trebuchet MS"/>
                <a:cs typeface="Trebuchet MS"/>
              </a:rPr>
              <a:t> </a:t>
            </a:r>
            <a:r>
              <a:rPr lang="en-US" sz="2400" dirty="0">
                <a:solidFill>
                  <a:srgbClr val="0033CC"/>
                </a:solidFill>
                <a:latin typeface="Trebuchet MS"/>
                <a:cs typeface="Trebuchet MS"/>
              </a:rPr>
              <a:t>Learning</a:t>
            </a:r>
            <a:endParaRPr lang="en-IN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ID       : 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Guide : </a:t>
            </a:r>
            <a:r>
              <a:rPr lang="en-IN" sz="2400" dirty="0" err="1">
                <a:solidFill>
                  <a:srgbClr val="0033CC"/>
                </a:solidFill>
              </a:rPr>
              <a:t>Prof.</a:t>
            </a:r>
            <a:r>
              <a:rPr lang="en-IN" sz="2400" dirty="0">
                <a:solidFill>
                  <a:srgbClr val="0033CC"/>
                </a:solidFill>
              </a:rPr>
              <a:t> </a:t>
            </a:r>
            <a:r>
              <a:rPr lang="en-IN" sz="2400" dirty="0" err="1">
                <a:solidFill>
                  <a:srgbClr val="0033CC"/>
                </a:solidFill>
              </a:rPr>
              <a:t>Pavithra</a:t>
            </a:r>
            <a:r>
              <a:rPr lang="en-IN" sz="2400" dirty="0">
                <a:solidFill>
                  <a:srgbClr val="0033CC"/>
                </a:solidFill>
              </a:rPr>
              <a:t> 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 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Team  : Chetan </a:t>
            </a:r>
            <a:r>
              <a:rPr lang="en-IN" sz="2400" dirty="0" err="1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Nadichagi</a:t>
            </a: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-PES2UG23CS149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		    Poojary Sairaj Shankar  -PES2UG23AM073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		    Ranjith </a:t>
            </a:r>
            <a:r>
              <a:rPr lang="en-IN" sz="2400" dirty="0" err="1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Kumar.V</a:t>
            </a:r>
            <a:r>
              <a:rPr lang="en-IN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-PES2UG23AM082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IN" sz="2400" dirty="0">
                <a:solidFill>
                  <a:srgbClr val="0033CC"/>
                </a:solidFill>
                <a:latin typeface="Trebuchet MS"/>
                <a:sym typeface="Trebuchet MS"/>
              </a:rPr>
              <a:t>		    Mahesh E </a:t>
            </a:r>
            <a:r>
              <a:rPr lang="en-IN" sz="2400" dirty="0" err="1">
                <a:solidFill>
                  <a:srgbClr val="0033CC"/>
                </a:solidFill>
                <a:latin typeface="Trebuchet MS"/>
                <a:sym typeface="Trebuchet MS"/>
              </a:rPr>
              <a:t>Ajjer</a:t>
            </a:r>
            <a:r>
              <a:rPr lang="en-IN" sz="2400" dirty="0">
                <a:solidFill>
                  <a:srgbClr val="0033CC"/>
                </a:solidFill>
                <a:latin typeface="Trebuchet MS"/>
                <a:sym typeface="Trebuchet MS"/>
              </a:rPr>
              <a:t>	         -PES2UG23CS316</a:t>
            </a:r>
            <a:endParaRPr lang="en-IN" sz="2000" dirty="0">
              <a:solidFill>
                <a:srgbClr val="0033CC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0033CC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endParaRPr sz="2000" dirty="0">
              <a:solidFill>
                <a:srgbClr val="0033CC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 flipV="1">
            <a:off x="1055440" y="1617668"/>
            <a:ext cx="9612560" cy="45719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23392" y="1637722"/>
            <a:ext cx="8077200" cy="4724400"/>
          </a:xfrm>
          <a:prstGeom prst="rect">
            <a:avLst/>
          </a:prstGeom>
        </p:spPr>
        <p:txBody>
          <a:bodyPr/>
          <a:lstStyle/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IN" sz="2000" kern="0" dirty="0">
                <a:solidFill>
                  <a:srgbClr val="0000FF"/>
                </a:solidFill>
                <a:latin typeface="Trebuchet MS" pitchFamily="34" charset="0"/>
              </a:rPr>
              <a:t>Problem Statement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</a:rPr>
              <a:t>Abstract and Scope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</a:rPr>
              <a:t>Suggestions from Phase-1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</a:rPr>
              <a:t>Requirements Specification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</a:rPr>
              <a:t>Data set and requirements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Design Approach 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Design Constraints, Assumptions &amp; Dependencies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Proposed System / Approach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Architecture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Design Description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Project Progress</a:t>
            </a:r>
          </a:p>
          <a:p>
            <a:pPr marL="685791" indent="-342900" algn="just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sz="2000" kern="0" dirty="0">
                <a:solidFill>
                  <a:srgbClr val="0000FF"/>
                </a:solidFill>
                <a:latin typeface="Trebuchet MS" pitchFamily="34" charset="0"/>
                <a:sym typeface="Trebuchet MS"/>
              </a:rPr>
              <a:t>References</a:t>
            </a:r>
            <a:endParaRPr lang="en-US" sz="2000" kern="0" dirty="0">
              <a:solidFill>
                <a:srgbClr val="0000FF"/>
              </a:solidFill>
              <a:latin typeface="Trebuchet MS" pitchFamily="34" charset="0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209429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Agenda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343472" y="2204864"/>
            <a:ext cx="9577064" cy="3960440"/>
          </a:xfrm>
          <a:prstGeom prst="rect">
            <a:avLst/>
          </a:prstGeom>
        </p:spPr>
        <p:txBody>
          <a:bodyPr/>
          <a:lstStyle/>
          <a:p>
            <a:pPr marL="12065" marR="5080" indent="9525">
              <a:spcBef>
                <a:spcPts val="100"/>
              </a:spcBef>
            </a:pPr>
            <a:r>
              <a:rPr lang="en-US" sz="2200" dirty="0">
                <a:latin typeface="Trebuchet MS" panose="020B0603020202020204" pitchFamily="34" charset="0"/>
                <a:cs typeface="Arial MT"/>
              </a:rPr>
              <a:t>Despite</a:t>
            </a:r>
            <a:r>
              <a:rPr lang="en-US" sz="2200" spc="-8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significant</a:t>
            </a:r>
            <a:r>
              <a:rPr lang="en-US" sz="2200" spc="-6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spc="-10" dirty="0">
                <a:latin typeface="Trebuchet MS" panose="020B0603020202020204" pitchFamily="34" charset="0"/>
                <a:cs typeface="Arial MT"/>
              </a:rPr>
              <a:t>advancements</a:t>
            </a:r>
            <a:r>
              <a:rPr lang="en-US" sz="2200" spc="-7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in</a:t>
            </a:r>
            <a:r>
              <a:rPr lang="en-US" sz="2200" spc="-9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vehicle</a:t>
            </a:r>
            <a:r>
              <a:rPr lang="en-US" sz="2200" spc="-8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spc="-20" dirty="0">
                <a:latin typeface="Trebuchet MS" panose="020B0603020202020204" pitchFamily="34" charset="0"/>
                <a:cs typeface="Arial MT"/>
              </a:rPr>
              <a:t>technology,</a:t>
            </a:r>
            <a:r>
              <a:rPr lang="en-US" sz="2200" spc="-7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spc="-10" dirty="0">
                <a:latin typeface="Trebuchet MS" panose="020B0603020202020204" pitchFamily="34" charset="0"/>
                <a:cs typeface="Arial MT"/>
              </a:rPr>
              <a:t>human</a:t>
            </a:r>
            <a:r>
              <a:rPr lang="en-US" sz="2200" spc="600" dirty="0">
                <a:latin typeface="Trebuchet MS" panose="020B0603020202020204" pitchFamily="34" charset="0"/>
                <a:cs typeface="Arial MT"/>
              </a:rPr>
              <a:t> 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error</a:t>
            </a:r>
            <a:r>
              <a:rPr lang="en-US" sz="2200" spc="-6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remains</a:t>
            </a:r>
            <a:r>
              <a:rPr lang="en-US" sz="2200" spc="-5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one</a:t>
            </a:r>
            <a:r>
              <a:rPr lang="en-US" sz="2200" spc="-7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of</a:t>
            </a:r>
            <a:r>
              <a:rPr lang="en-US" sz="2200" spc="-5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the</a:t>
            </a:r>
            <a:r>
              <a:rPr lang="en-US" sz="2200" spc="-7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leading</a:t>
            </a:r>
            <a:r>
              <a:rPr lang="en-US" sz="2200" spc="-3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causes</a:t>
            </a:r>
            <a:r>
              <a:rPr lang="en-US" sz="2200" spc="-6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of</a:t>
            </a:r>
            <a:r>
              <a:rPr lang="en-US" sz="2200" spc="-6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road</a:t>
            </a:r>
            <a:r>
              <a:rPr lang="en-US" sz="2200" spc="-7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accidents.</a:t>
            </a:r>
          </a:p>
          <a:p>
            <a:pPr marL="12065" marR="5080" indent="9525">
              <a:spcBef>
                <a:spcPts val="100"/>
              </a:spcBef>
            </a:pPr>
            <a:endParaRPr lang="en-US" sz="2200" spc="-40" dirty="0">
              <a:latin typeface="Trebuchet MS" panose="020B0603020202020204" pitchFamily="34" charset="0"/>
              <a:cs typeface="Arial MT"/>
            </a:endParaRPr>
          </a:p>
          <a:p>
            <a:pPr marL="12065" marR="5080" indent="9525">
              <a:spcBef>
                <a:spcPts val="100"/>
              </a:spcBef>
            </a:pPr>
            <a:r>
              <a:rPr lang="en-US" sz="2200" spc="-10" dirty="0">
                <a:latin typeface="Trebuchet MS" panose="020B0603020202020204" pitchFamily="34" charset="0"/>
                <a:cs typeface="Arial MT"/>
              </a:rPr>
              <a:t>Drivers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often</a:t>
            </a:r>
            <a:r>
              <a:rPr lang="en-US" sz="2200" spc="-11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exhibit</a:t>
            </a:r>
            <a:r>
              <a:rPr lang="en-US" sz="2200" spc="-6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abnormal</a:t>
            </a:r>
            <a:r>
              <a:rPr lang="en-US" sz="2200" spc="-8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behaviors</a:t>
            </a:r>
            <a:r>
              <a:rPr lang="en-US" sz="2200" spc="-7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such</a:t>
            </a:r>
            <a:r>
              <a:rPr lang="en-US" sz="2200" spc="-9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as</a:t>
            </a:r>
            <a:r>
              <a:rPr lang="en-US" sz="2200" spc="-9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drowsiness,</a:t>
            </a:r>
            <a:r>
              <a:rPr lang="en-US" sz="2200" spc="-8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spc="-10" dirty="0">
                <a:latin typeface="Trebuchet MS" panose="020B0603020202020204" pitchFamily="34" charset="0"/>
                <a:cs typeface="Arial MT"/>
              </a:rPr>
              <a:t>distraction,</a:t>
            </a:r>
            <a:r>
              <a:rPr lang="en-US" sz="2200" spc="-7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mobile</a:t>
            </a:r>
            <a:r>
              <a:rPr lang="en-US" sz="2200" spc="-6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phone</a:t>
            </a:r>
            <a:r>
              <a:rPr lang="en-US" sz="2200" spc="-5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usage,</a:t>
            </a:r>
            <a:r>
              <a:rPr lang="en-US" sz="2200" spc="-6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which</a:t>
            </a:r>
            <a:r>
              <a:rPr lang="en-US" sz="2200" spc="-6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can</a:t>
            </a:r>
            <a:r>
              <a:rPr lang="en-US" sz="2200" spc="-7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lead</a:t>
            </a:r>
            <a:r>
              <a:rPr lang="en-US" sz="2200" spc="-6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to</a:t>
            </a:r>
            <a:r>
              <a:rPr lang="en-US" sz="2200" spc="-7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spc="-10" dirty="0">
                <a:latin typeface="Trebuchet MS" panose="020B0603020202020204" pitchFamily="34" charset="0"/>
                <a:cs typeface="Arial MT"/>
              </a:rPr>
              <a:t>severe</a:t>
            </a:r>
            <a:r>
              <a:rPr lang="en-US" sz="2200" spc="60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collisions</a:t>
            </a:r>
            <a:r>
              <a:rPr lang="en-US" sz="2200" spc="-3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and</a:t>
            </a:r>
            <a:r>
              <a:rPr lang="en-US" sz="2200" spc="-6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loss</a:t>
            </a:r>
            <a:r>
              <a:rPr lang="en-US" sz="2200" spc="-6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of</a:t>
            </a:r>
            <a:r>
              <a:rPr lang="en-US" sz="2200" spc="-7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life.</a:t>
            </a:r>
            <a:r>
              <a:rPr lang="en-US" sz="2200" spc="-65" dirty="0">
                <a:latin typeface="Trebuchet MS" panose="020B0603020202020204" pitchFamily="34" charset="0"/>
                <a:cs typeface="Arial MT"/>
              </a:rPr>
              <a:t> </a:t>
            </a:r>
          </a:p>
          <a:p>
            <a:pPr marL="12065" marR="5080" indent="9525">
              <a:spcBef>
                <a:spcPts val="100"/>
              </a:spcBef>
            </a:pPr>
            <a:endParaRPr lang="en-US" sz="2200" spc="-65" dirty="0">
              <a:latin typeface="Trebuchet MS" panose="020B0603020202020204" pitchFamily="34" charset="0"/>
              <a:cs typeface="Arial MT"/>
            </a:endParaRPr>
          </a:p>
          <a:p>
            <a:pPr marL="12065" marR="5080" indent="9525">
              <a:spcBef>
                <a:spcPts val="100"/>
              </a:spcBef>
            </a:pPr>
            <a:r>
              <a:rPr lang="en-US" sz="2200" dirty="0">
                <a:latin typeface="Trebuchet MS" panose="020B0603020202020204" pitchFamily="34" charset="0"/>
                <a:cs typeface="Arial MT"/>
              </a:rPr>
              <a:t>Existing</a:t>
            </a:r>
            <a:r>
              <a:rPr lang="en-US" sz="2200" spc="-4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systems</a:t>
            </a:r>
            <a:r>
              <a:rPr lang="en-US" sz="2200" spc="-9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in</a:t>
            </a:r>
            <a:r>
              <a:rPr lang="en-US" sz="2200" spc="-6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vehicles</a:t>
            </a:r>
            <a:r>
              <a:rPr lang="en-US" sz="2200" spc="-5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primarily</a:t>
            </a:r>
            <a:r>
              <a:rPr lang="en-US" sz="2200" spc="-6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spc="-10" dirty="0">
                <a:latin typeface="Trebuchet MS" panose="020B0603020202020204" pitchFamily="34" charset="0"/>
                <a:cs typeface="Arial MT"/>
              </a:rPr>
              <a:t>focus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on</a:t>
            </a:r>
            <a:r>
              <a:rPr lang="en-US" sz="2200" spc="-7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spc="-20" dirty="0">
                <a:latin typeface="Trebuchet MS" panose="020B0603020202020204" pitchFamily="34" charset="0"/>
                <a:cs typeface="Arial MT"/>
              </a:rPr>
              <a:t>post-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accident</a:t>
            </a:r>
            <a:r>
              <a:rPr lang="en-US" sz="2200" spc="-6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analysis</a:t>
            </a:r>
            <a:r>
              <a:rPr lang="en-US" sz="2200" spc="-5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rather</a:t>
            </a:r>
            <a:r>
              <a:rPr lang="en-US" sz="2200" spc="-6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than</a:t>
            </a:r>
            <a:r>
              <a:rPr lang="en-US" sz="2200" spc="-7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spc="-20" dirty="0">
                <a:latin typeface="Trebuchet MS" panose="020B0603020202020204" pitchFamily="34" charset="0"/>
                <a:cs typeface="Arial MT"/>
              </a:rPr>
              <a:t>real-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time</a:t>
            </a:r>
            <a:r>
              <a:rPr lang="en-US" sz="2200" spc="-7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detection</a:t>
            </a:r>
            <a:r>
              <a:rPr lang="en-US" sz="2200" spc="-6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spc="-25" dirty="0">
                <a:latin typeface="Trebuchet MS" panose="020B0603020202020204" pitchFamily="34" charset="0"/>
                <a:cs typeface="Arial MT"/>
              </a:rPr>
              <a:t>and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prevention</a:t>
            </a:r>
            <a:r>
              <a:rPr lang="en-US" sz="2200" spc="-7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of</a:t>
            </a:r>
            <a:r>
              <a:rPr lang="en-US" sz="2200" spc="-8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such</a:t>
            </a:r>
            <a:r>
              <a:rPr lang="en-US" sz="2200" spc="-8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unsafe</a:t>
            </a:r>
            <a:r>
              <a:rPr lang="en-US" sz="2200" spc="-8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driving</a:t>
            </a:r>
            <a:r>
              <a:rPr lang="en-US" sz="2200" spc="-7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spc="-10" dirty="0">
                <a:latin typeface="Trebuchet MS" panose="020B0603020202020204" pitchFamily="34" charset="0"/>
                <a:cs typeface="Arial MT"/>
              </a:rPr>
              <a:t>behaviors.</a:t>
            </a:r>
            <a:endParaRPr lang="en-US" sz="2200" dirty="0">
              <a:latin typeface="Trebuchet MS" panose="020B0603020202020204" pitchFamily="34" charset="0"/>
              <a:cs typeface="Arial MT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82208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415480" y="2348880"/>
            <a:ext cx="9252520" cy="4191000"/>
          </a:xfrm>
          <a:prstGeom prst="rect">
            <a:avLst/>
          </a:prstGeom>
        </p:spPr>
        <p:txBody>
          <a:bodyPr/>
          <a:lstStyle/>
          <a:p>
            <a:pPr marL="1270">
              <a:spcBef>
                <a:spcPts val="100"/>
              </a:spcBef>
            </a:pPr>
            <a:r>
              <a:rPr lang="en-US" sz="2200" dirty="0">
                <a:latin typeface="Trebuchet MS" panose="020B0603020202020204" pitchFamily="34" charset="0"/>
                <a:cs typeface="Arial MT"/>
              </a:rPr>
              <a:t>This</a:t>
            </a:r>
            <a:r>
              <a:rPr lang="en-US" sz="2200" spc="-5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project,</a:t>
            </a:r>
            <a:r>
              <a:rPr lang="en-US" sz="2200" spc="-5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“Driver</a:t>
            </a:r>
            <a:r>
              <a:rPr lang="en-US" sz="2200" spc="-6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spc="-20" dirty="0">
                <a:latin typeface="Trebuchet MS" panose="020B0603020202020204" pitchFamily="34" charset="0"/>
                <a:cs typeface="Arial MT"/>
              </a:rPr>
              <a:t>Behavior</a:t>
            </a:r>
            <a:r>
              <a:rPr lang="en-US" sz="2200" spc="-15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Anomaly</a:t>
            </a:r>
            <a:r>
              <a:rPr lang="en-US" sz="2200" spc="-4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Detection</a:t>
            </a:r>
            <a:r>
              <a:rPr lang="en-US" sz="2200" spc="-4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using</a:t>
            </a:r>
            <a:r>
              <a:rPr lang="en-US" sz="2200" spc="-4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spc="-20" dirty="0" err="1">
                <a:latin typeface="Trebuchet MS" panose="020B0603020202020204" pitchFamily="34" charset="0"/>
                <a:cs typeface="Arial MT"/>
              </a:rPr>
              <a:t>Deep</a:t>
            </a:r>
            <a:r>
              <a:rPr lang="en-US" sz="2200" dirty="0" err="1">
                <a:latin typeface="Trebuchet MS" panose="020B0603020202020204" pitchFamily="34" charset="0"/>
                <a:cs typeface="Arial MT"/>
              </a:rPr>
              <a:t>Learning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,”</a:t>
            </a:r>
            <a:r>
              <a:rPr lang="en-US" sz="2200" spc="-6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aims</a:t>
            </a:r>
            <a:r>
              <a:rPr lang="en-US" sz="2200" spc="-7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to</a:t>
            </a:r>
            <a:r>
              <a:rPr lang="en-US" sz="2200" spc="-8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reduce</a:t>
            </a:r>
            <a:r>
              <a:rPr lang="en-US" sz="2200" spc="-8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road</a:t>
            </a:r>
            <a:r>
              <a:rPr lang="en-US" sz="2200" spc="-8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accidents</a:t>
            </a:r>
            <a:r>
              <a:rPr lang="en-US" sz="2200" spc="-7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caused</a:t>
            </a:r>
            <a:r>
              <a:rPr lang="en-US" sz="2200" spc="-8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by</a:t>
            </a:r>
            <a:r>
              <a:rPr lang="en-US" sz="2200" spc="-8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human</a:t>
            </a:r>
            <a:r>
              <a:rPr lang="en-US" sz="2200" spc="-7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spc="-10" dirty="0">
                <a:latin typeface="Trebuchet MS" panose="020B0603020202020204" pitchFamily="34" charset="0"/>
                <a:cs typeface="Arial MT"/>
              </a:rPr>
              <a:t>error.</a:t>
            </a:r>
          </a:p>
          <a:p>
            <a:pPr marL="1270">
              <a:spcBef>
                <a:spcPts val="100"/>
              </a:spcBef>
            </a:pPr>
            <a:endParaRPr lang="en-US" sz="2200" dirty="0">
              <a:latin typeface="Trebuchet MS" panose="020B0603020202020204" pitchFamily="34" charset="0"/>
              <a:cs typeface="Arial MT"/>
            </a:endParaRPr>
          </a:p>
          <a:p>
            <a:pPr marL="12065" marR="5080" indent="-2540"/>
            <a:r>
              <a:rPr lang="en-US" sz="2200" dirty="0">
                <a:latin typeface="Trebuchet MS" panose="020B0603020202020204" pitchFamily="34" charset="0"/>
                <a:cs typeface="Arial MT"/>
              </a:rPr>
              <a:t>Using</a:t>
            </a:r>
            <a:r>
              <a:rPr lang="en-US" sz="2200" spc="-5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deep</a:t>
            </a:r>
            <a:r>
              <a:rPr lang="en-US" sz="2200" spc="-6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learning,</a:t>
            </a:r>
            <a:r>
              <a:rPr lang="en-US" sz="2200" spc="-5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the</a:t>
            </a:r>
            <a:r>
              <a:rPr lang="en-US" sz="2200" spc="-7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system</a:t>
            </a:r>
            <a:r>
              <a:rPr lang="en-US" sz="2200" spc="-7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detects</a:t>
            </a:r>
            <a:r>
              <a:rPr lang="en-US" sz="2200" spc="-7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unsafe</a:t>
            </a:r>
            <a:r>
              <a:rPr lang="en-US" sz="2200" spc="-7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behaviors</a:t>
            </a:r>
            <a:r>
              <a:rPr lang="en-US" sz="2200" spc="-4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spc="-20" dirty="0">
                <a:latin typeface="Trebuchet MS" panose="020B0603020202020204" pitchFamily="34" charset="0"/>
                <a:cs typeface="Arial MT"/>
              </a:rPr>
              <a:t>like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drowsiness,</a:t>
            </a:r>
            <a:r>
              <a:rPr lang="en-US" sz="2200" spc="-5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distraction,</a:t>
            </a:r>
            <a:r>
              <a:rPr lang="en-US" sz="2200" spc="-8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and</a:t>
            </a:r>
            <a:r>
              <a:rPr lang="en-US" sz="2200" spc="-7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rash</a:t>
            </a:r>
            <a:r>
              <a:rPr lang="en-US" sz="2200" spc="-7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driving</a:t>
            </a:r>
            <a:r>
              <a:rPr lang="en-US" sz="2200" spc="-5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from</a:t>
            </a:r>
            <a:r>
              <a:rPr lang="en-US" sz="2200" spc="-9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spc="-20" dirty="0">
                <a:latin typeface="Trebuchet MS" panose="020B0603020202020204" pitchFamily="34" charset="0"/>
                <a:cs typeface="Arial MT"/>
              </a:rPr>
              <a:t>real-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time</a:t>
            </a:r>
            <a:r>
              <a:rPr lang="en-US" sz="2200" spc="-7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data</a:t>
            </a:r>
            <a:r>
              <a:rPr lang="en-US" sz="2200" spc="-7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spc="-25" dirty="0">
                <a:latin typeface="Trebuchet MS" panose="020B0603020202020204" pitchFamily="34" charset="0"/>
                <a:cs typeface="Arial MT"/>
              </a:rPr>
              <a:t>and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provides</a:t>
            </a:r>
            <a:r>
              <a:rPr lang="en-US" sz="2200" spc="-5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early</a:t>
            </a:r>
            <a:r>
              <a:rPr lang="en-US" sz="2200" spc="-5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alerts</a:t>
            </a:r>
            <a:r>
              <a:rPr lang="en-US" sz="2200" spc="-5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to</a:t>
            </a:r>
            <a:r>
              <a:rPr lang="en-US" sz="2200" spc="-7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prevent</a:t>
            </a:r>
            <a:r>
              <a:rPr lang="en-US" sz="2200" spc="-6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accidents.</a:t>
            </a:r>
            <a:r>
              <a:rPr lang="en-US" sz="2200" spc="-5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It</a:t>
            </a:r>
            <a:r>
              <a:rPr lang="en-US" sz="2200" spc="-7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contributes</a:t>
            </a:r>
            <a:r>
              <a:rPr lang="en-US" sz="2200" spc="-6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to</a:t>
            </a:r>
            <a:r>
              <a:rPr lang="en-US" sz="2200" spc="-7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spc="-10" dirty="0">
                <a:latin typeface="Trebuchet MS" panose="020B0603020202020204" pitchFamily="34" charset="0"/>
                <a:cs typeface="Arial MT"/>
              </a:rPr>
              <a:t>building safer,</a:t>
            </a:r>
            <a:r>
              <a:rPr lang="en-US" sz="2200" spc="-11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spc="-10" dirty="0">
                <a:latin typeface="Trebuchet MS" panose="020B0603020202020204" pitchFamily="34" charset="0"/>
                <a:cs typeface="Arial MT"/>
              </a:rPr>
              <a:t>smarter,</a:t>
            </a:r>
            <a:r>
              <a:rPr lang="en-US" sz="2200" spc="-11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and</a:t>
            </a:r>
            <a:r>
              <a:rPr lang="en-US" sz="2200" spc="-10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more</a:t>
            </a:r>
            <a:r>
              <a:rPr lang="en-US" sz="2200" spc="-9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reliable</a:t>
            </a:r>
            <a:r>
              <a:rPr lang="en-US" sz="2200" spc="-6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transportation</a:t>
            </a:r>
            <a:r>
              <a:rPr lang="en-US" sz="2200" spc="-9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spc="-10" dirty="0">
                <a:latin typeface="Trebuchet MS" panose="020B0603020202020204" pitchFamily="34" charset="0"/>
                <a:cs typeface="Arial MT"/>
              </a:rPr>
              <a:t>systems.</a:t>
            </a:r>
            <a:endParaRPr lang="en-US" sz="2200" dirty="0">
              <a:latin typeface="Trebuchet MS" panose="020B0603020202020204" pitchFamily="34" charset="0"/>
              <a:cs typeface="Arial MT"/>
            </a:endParaRP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val="3811030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9E518C51-9884-F887-BDA1-206420AFC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4D27A226-C5C4-5E7E-EA25-0D5AB7B73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EAC15893-95B4-7C6B-FE1A-EA90478DB873}"/>
              </a:ext>
            </a:extLst>
          </p:cNvPr>
          <p:cNvSpPr txBox="1">
            <a:spLocks/>
          </p:cNvSpPr>
          <p:nvPr/>
        </p:nvSpPr>
        <p:spPr>
          <a:xfrm>
            <a:off x="1703512" y="2348880"/>
            <a:ext cx="8077200" cy="4191000"/>
          </a:xfrm>
          <a:prstGeom prst="rect">
            <a:avLst/>
          </a:prstGeom>
        </p:spPr>
        <p:txBody>
          <a:bodyPr/>
          <a:lstStyle/>
          <a:p>
            <a:pPr marL="12700" marR="5715" algn="just">
              <a:lnSpc>
                <a:spcPct val="99900"/>
              </a:lnSpc>
            </a:pPr>
            <a:r>
              <a:rPr lang="en-US" sz="2200" dirty="0">
                <a:latin typeface="Trebuchet MS" panose="020B0603020202020204" pitchFamily="34" charset="0"/>
                <a:cs typeface="Arial MT"/>
              </a:rPr>
              <a:t>The</a:t>
            </a:r>
            <a:r>
              <a:rPr lang="en-US" sz="2200" spc="22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main</a:t>
            </a:r>
            <a:r>
              <a:rPr lang="en-US" sz="2200" spc="23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scope</a:t>
            </a:r>
            <a:r>
              <a:rPr lang="en-US" sz="2200" spc="22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of</a:t>
            </a:r>
            <a:r>
              <a:rPr lang="en-US" sz="2200" spc="229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this</a:t>
            </a:r>
            <a:r>
              <a:rPr lang="en-US" sz="2200" spc="22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project</a:t>
            </a:r>
            <a:r>
              <a:rPr lang="en-US" sz="2200" spc="23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is</a:t>
            </a:r>
            <a:r>
              <a:rPr lang="en-US" sz="2200" spc="21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to</a:t>
            </a:r>
            <a:r>
              <a:rPr lang="en-US" sz="2200" spc="22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detect</a:t>
            </a:r>
            <a:r>
              <a:rPr lang="en-US" sz="2200" spc="22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and</a:t>
            </a:r>
            <a:r>
              <a:rPr lang="en-US" sz="2200" spc="22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prevent</a:t>
            </a:r>
            <a:r>
              <a:rPr lang="en-US" sz="2200" spc="22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spc="-10" dirty="0">
                <a:latin typeface="Trebuchet MS" panose="020B0603020202020204" pitchFamily="34" charset="0"/>
                <a:cs typeface="Arial MT"/>
              </a:rPr>
              <a:t>unsafe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driving</a:t>
            </a:r>
            <a:r>
              <a:rPr lang="en-US" sz="2200" spc="33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behaviors</a:t>
            </a:r>
            <a:r>
              <a:rPr lang="en-US" sz="2200" spc="34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in</a:t>
            </a:r>
            <a:r>
              <a:rPr lang="en-US" sz="2200" spc="32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real</a:t>
            </a:r>
            <a:r>
              <a:rPr lang="en-US" sz="2200" spc="33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time</a:t>
            </a:r>
            <a:r>
              <a:rPr lang="en-US" sz="2200" spc="33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using</a:t>
            </a:r>
            <a:r>
              <a:rPr lang="en-US" sz="2200" spc="33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deep</a:t>
            </a:r>
            <a:r>
              <a:rPr lang="en-US" sz="2200" spc="33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learning</a:t>
            </a:r>
            <a:r>
              <a:rPr lang="en-US" sz="2200" spc="33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spc="-10" dirty="0">
                <a:latin typeface="Trebuchet MS" panose="020B0603020202020204" pitchFamily="34" charset="0"/>
                <a:cs typeface="Arial MT"/>
              </a:rPr>
              <a:t>techniques.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By</a:t>
            </a:r>
            <a:r>
              <a:rPr lang="en-US" sz="2200" spc="10" dirty="0">
                <a:latin typeface="Trebuchet MS" panose="020B0603020202020204" pitchFamily="34" charset="0"/>
                <a:cs typeface="Arial MT"/>
              </a:rPr>
              <a:t> 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analyzing</a:t>
            </a:r>
            <a:r>
              <a:rPr lang="en-US" sz="2200" spc="15" dirty="0">
                <a:latin typeface="Trebuchet MS" panose="020B0603020202020204" pitchFamily="34" charset="0"/>
                <a:cs typeface="Arial MT"/>
              </a:rPr>
              <a:t> 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driver</a:t>
            </a:r>
            <a:r>
              <a:rPr lang="en-US" sz="2200" spc="15" dirty="0">
                <a:latin typeface="Trebuchet MS" panose="020B0603020202020204" pitchFamily="34" charset="0"/>
                <a:cs typeface="Arial MT"/>
              </a:rPr>
              <a:t> 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actions</a:t>
            </a:r>
            <a:r>
              <a:rPr lang="en-US" sz="2200" spc="15" dirty="0">
                <a:latin typeface="Trebuchet MS" panose="020B0603020202020204" pitchFamily="34" charset="0"/>
                <a:cs typeface="Arial MT"/>
              </a:rPr>
              <a:t> 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and</a:t>
            </a:r>
            <a:r>
              <a:rPr lang="en-US" sz="2200" spc="15" dirty="0">
                <a:latin typeface="Trebuchet MS" panose="020B0603020202020204" pitchFamily="34" charset="0"/>
                <a:cs typeface="Arial MT"/>
              </a:rPr>
              <a:t> 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generating</a:t>
            </a:r>
            <a:r>
              <a:rPr lang="en-US" sz="2200" spc="10" dirty="0">
                <a:latin typeface="Trebuchet MS" panose="020B0603020202020204" pitchFamily="34" charset="0"/>
                <a:cs typeface="Arial MT"/>
              </a:rPr>
              <a:t> 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early</a:t>
            </a:r>
            <a:r>
              <a:rPr lang="en-US" sz="2200" spc="15" dirty="0">
                <a:latin typeface="Trebuchet MS" panose="020B0603020202020204" pitchFamily="34" charset="0"/>
                <a:cs typeface="Arial MT"/>
              </a:rPr>
              <a:t> 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alerts,</a:t>
            </a:r>
            <a:r>
              <a:rPr lang="en-US" sz="2200" spc="15" dirty="0">
                <a:latin typeface="Trebuchet MS" panose="020B0603020202020204" pitchFamily="34" charset="0"/>
                <a:cs typeface="Arial MT"/>
              </a:rPr>
              <a:t>  </a:t>
            </a:r>
            <a:r>
              <a:rPr lang="en-US" sz="2200" spc="-25" dirty="0">
                <a:latin typeface="Trebuchet MS" panose="020B0603020202020204" pitchFamily="34" charset="0"/>
                <a:cs typeface="Arial MT"/>
              </a:rPr>
              <a:t>the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system</a:t>
            </a:r>
            <a:r>
              <a:rPr lang="en-US" sz="2200" spc="32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aims</a:t>
            </a:r>
            <a:r>
              <a:rPr lang="en-US" sz="2200" spc="32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to</a:t>
            </a:r>
            <a:r>
              <a:rPr lang="en-US" sz="2200" spc="32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reduce</a:t>
            </a:r>
            <a:r>
              <a:rPr lang="en-US" sz="2200" spc="33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accidents</a:t>
            </a:r>
            <a:r>
              <a:rPr lang="en-US" sz="2200" spc="33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caused</a:t>
            </a:r>
            <a:r>
              <a:rPr lang="en-US" sz="2200" spc="33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by</a:t>
            </a:r>
            <a:r>
              <a:rPr lang="en-US" sz="2200" spc="33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human</a:t>
            </a:r>
            <a:r>
              <a:rPr lang="en-US" sz="2200" spc="33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error</a:t>
            </a:r>
            <a:r>
              <a:rPr lang="en-US" sz="2200" spc="34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spc="-25" dirty="0">
                <a:latin typeface="Trebuchet MS" panose="020B0603020202020204" pitchFamily="34" charset="0"/>
                <a:cs typeface="Arial MT"/>
              </a:rPr>
              <a:t>and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promote</a:t>
            </a:r>
            <a:r>
              <a:rPr lang="en-US" sz="2200" spc="-95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spc="-10" dirty="0">
                <a:latin typeface="Trebuchet MS" panose="020B0603020202020204" pitchFamily="34" charset="0"/>
                <a:cs typeface="Arial MT"/>
              </a:rPr>
              <a:t>safer,</a:t>
            </a:r>
            <a:r>
              <a:rPr lang="en-US" sz="2200" spc="-11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smarter</a:t>
            </a:r>
            <a:r>
              <a:rPr lang="en-US" sz="2200" spc="-10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dirty="0">
                <a:latin typeface="Trebuchet MS" panose="020B0603020202020204" pitchFamily="34" charset="0"/>
                <a:cs typeface="Arial MT"/>
              </a:rPr>
              <a:t>transportation</a:t>
            </a:r>
            <a:r>
              <a:rPr lang="en-US" sz="2200" spc="-90" dirty="0">
                <a:latin typeface="Trebuchet MS" panose="020B0603020202020204" pitchFamily="34" charset="0"/>
                <a:cs typeface="Arial MT"/>
              </a:rPr>
              <a:t> </a:t>
            </a:r>
            <a:r>
              <a:rPr lang="en-US" sz="2200" spc="-10" dirty="0">
                <a:latin typeface="Trebuchet MS" panose="020B0603020202020204" pitchFamily="34" charset="0"/>
                <a:cs typeface="Arial MT"/>
              </a:rPr>
              <a:t>systems.</a:t>
            </a:r>
            <a:endParaRPr lang="en-US" sz="2200" dirty="0">
              <a:latin typeface="Trebuchet MS" panose="020B0603020202020204" pitchFamily="34" charset="0"/>
              <a:cs typeface="Arial MT"/>
            </a:endParaRPr>
          </a:p>
        </p:txBody>
      </p:sp>
      <p:sp>
        <p:nvSpPr>
          <p:cNvPr id="14" name="Text Box 34">
            <a:extLst>
              <a:ext uri="{FF2B5EF4-FFF2-40B4-BE49-F238E27FC236}">
                <a16:creationId xmlns="" xmlns:a16="http://schemas.microsoft.com/office/drawing/2014/main" id="{A2B82D07-E0B3-F86C-E0F5-B83F7C62C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Scope</a:t>
            </a:r>
          </a:p>
        </p:txBody>
      </p:sp>
    </p:spTree>
    <p:extLst>
      <p:ext uri="{BB962C8B-B14F-4D97-AF65-F5344CB8AC3E}">
        <p14:creationId xmlns:p14="http://schemas.microsoft.com/office/powerpoint/2010/main" val="129506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27604" y="1010348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7735" y="609600"/>
            <a:ext cx="10807065" cy="4765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7022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Suggestions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from</a:t>
            </a:r>
            <a:r>
              <a:rPr sz="2400" spc="-7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Review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-</a:t>
            </a:r>
            <a:r>
              <a:rPr sz="2400" spc="-7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Trebuchet MS"/>
                <a:cs typeface="Trebuchet MS"/>
              </a:rPr>
              <a:t>1</a:t>
            </a:r>
            <a:endParaRPr sz="24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24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Trebuchet MS" panose="020B0603020202020204" pitchFamily="34" charset="0"/>
                <a:cs typeface="Arial"/>
              </a:rPr>
              <a:t>Key</a:t>
            </a:r>
            <a:r>
              <a:rPr sz="2400" b="1" spc="-35" dirty="0">
                <a:latin typeface="Trebuchet MS" panose="020B0603020202020204" pitchFamily="34" charset="0"/>
                <a:cs typeface="Arial"/>
              </a:rPr>
              <a:t> </a:t>
            </a:r>
            <a:r>
              <a:rPr sz="2400" b="1" dirty="0">
                <a:latin typeface="Trebuchet MS" panose="020B0603020202020204" pitchFamily="34" charset="0"/>
                <a:cs typeface="Arial"/>
              </a:rPr>
              <a:t>suggestions</a:t>
            </a:r>
            <a:r>
              <a:rPr sz="2400" b="1" spc="-55" dirty="0">
                <a:latin typeface="Trebuchet MS" panose="020B0603020202020204" pitchFamily="34" charset="0"/>
                <a:cs typeface="Arial"/>
              </a:rPr>
              <a:t> </a:t>
            </a:r>
            <a:r>
              <a:rPr sz="2400" b="1" dirty="0">
                <a:latin typeface="Trebuchet MS" panose="020B0603020202020204" pitchFamily="34" charset="0"/>
                <a:cs typeface="Arial"/>
              </a:rPr>
              <a:t>and</a:t>
            </a:r>
            <a:r>
              <a:rPr sz="2400" b="1" spc="-45" dirty="0">
                <a:latin typeface="Trebuchet MS" panose="020B0603020202020204" pitchFamily="34" charset="0"/>
                <a:cs typeface="Arial"/>
              </a:rPr>
              <a:t> </a:t>
            </a:r>
            <a:r>
              <a:rPr sz="2400" b="1" dirty="0">
                <a:latin typeface="Trebuchet MS" panose="020B0603020202020204" pitchFamily="34" charset="0"/>
                <a:cs typeface="Arial"/>
              </a:rPr>
              <a:t>remarks</a:t>
            </a:r>
            <a:r>
              <a:rPr sz="2400" b="1" spc="-25" dirty="0">
                <a:latin typeface="Trebuchet MS" panose="020B0603020202020204" pitchFamily="34" charset="0"/>
                <a:cs typeface="Arial"/>
              </a:rPr>
              <a:t> </a:t>
            </a:r>
            <a:r>
              <a:rPr sz="2400" b="1" dirty="0">
                <a:latin typeface="Trebuchet MS" panose="020B0603020202020204" pitchFamily="34" charset="0"/>
                <a:cs typeface="Arial"/>
              </a:rPr>
              <a:t>by</a:t>
            </a:r>
            <a:r>
              <a:rPr sz="2400" b="1" spc="-45" dirty="0">
                <a:latin typeface="Trebuchet MS" panose="020B0603020202020204" pitchFamily="34" charset="0"/>
                <a:cs typeface="Arial"/>
              </a:rPr>
              <a:t> </a:t>
            </a:r>
            <a:r>
              <a:rPr sz="2400" b="1" dirty="0">
                <a:latin typeface="Trebuchet MS" panose="020B0603020202020204" pitchFamily="34" charset="0"/>
                <a:cs typeface="Arial"/>
              </a:rPr>
              <a:t>the</a:t>
            </a:r>
            <a:r>
              <a:rPr sz="2400" b="1" spc="-55" dirty="0">
                <a:latin typeface="Trebuchet MS" panose="020B0603020202020204" pitchFamily="34" charset="0"/>
                <a:cs typeface="Arial"/>
              </a:rPr>
              <a:t> </a:t>
            </a:r>
            <a:r>
              <a:rPr sz="2400" b="1" dirty="0">
                <a:latin typeface="Trebuchet MS" panose="020B0603020202020204" pitchFamily="34" charset="0"/>
                <a:cs typeface="Arial"/>
              </a:rPr>
              <a:t>panel</a:t>
            </a:r>
            <a:r>
              <a:rPr sz="2400" b="1" spc="-45" dirty="0">
                <a:latin typeface="Trebuchet MS" panose="020B0603020202020204" pitchFamily="34" charset="0"/>
                <a:cs typeface="Arial"/>
              </a:rPr>
              <a:t> </a:t>
            </a:r>
            <a:r>
              <a:rPr sz="2400" b="1" spc="-10" dirty="0">
                <a:latin typeface="Trebuchet MS" panose="020B0603020202020204" pitchFamily="34" charset="0"/>
                <a:cs typeface="Arial"/>
              </a:rPr>
              <a:t>members:</a:t>
            </a:r>
            <a:endParaRPr lang="en-US" sz="2400" b="1" spc="-10" dirty="0">
              <a:latin typeface="Trebuchet MS" panose="020B0603020202020204" pitchFamily="34" charset="0"/>
              <a:cs typeface="Arial"/>
            </a:endParaRPr>
          </a:p>
          <a:p>
            <a:pPr marL="12700">
              <a:lnSpc>
                <a:spcPct val="100000"/>
              </a:lnSpc>
            </a:pPr>
            <a:endParaRPr sz="2400" dirty="0">
              <a:latin typeface="Trebuchet MS" panose="020B0603020202020204" pitchFamily="34" charset="0"/>
              <a:cs typeface="Arial"/>
            </a:endParaRPr>
          </a:p>
          <a:p>
            <a:pPr marL="353060" marR="6985" indent="-340360" algn="just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lang="en-IN" sz="2400" dirty="0">
                <a:latin typeface="Trebuchet MS" panose="020B0603020202020204" pitchFamily="34" charset="0"/>
                <a:cs typeface="Arial MT"/>
              </a:rPr>
              <a:t>Init</a:t>
            </a:r>
            <a:r>
              <a:rPr sz="2400" dirty="0" err="1">
                <a:latin typeface="Trebuchet MS" panose="020B0603020202020204" pitchFamily="34" charset="0"/>
                <a:cs typeface="Arial MT"/>
              </a:rPr>
              <a:t>ially</a:t>
            </a:r>
            <a:r>
              <a:rPr sz="2400" dirty="0">
                <a:latin typeface="Trebuchet MS" panose="020B0603020202020204" pitchFamily="34" charset="0"/>
                <a:cs typeface="Arial MT"/>
              </a:rPr>
              <a:t>,</a:t>
            </a:r>
            <a:r>
              <a:rPr sz="2400" spc="155" dirty="0">
                <a:latin typeface="Trebuchet MS" panose="020B0603020202020204" pitchFamily="34" charset="0"/>
                <a:cs typeface="Arial MT"/>
              </a:rPr>
              <a:t> </a:t>
            </a:r>
            <a:r>
              <a:rPr sz="2400" dirty="0">
                <a:latin typeface="Trebuchet MS" panose="020B0603020202020204" pitchFamily="34" charset="0"/>
                <a:cs typeface="Arial MT"/>
              </a:rPr>
              <a:t>we</a:t>
            </a:r>
            <a:r>
              <a:rPr sz="2400" spc="150" dirty="0">
                <a:latin typeface="Trebuchet MS" panose="020B0603020202020204" pitchFamily="34" charset="0"/>
                <a:cs typeface="Arial MT"/>
              </a:rPr>
              <a:t> </a:t>
            </a:r>
            <a:r>
              <a:rPr sz="2400" dirty="0">
                <a:latin typeface="Trebuchet MS" panose="020B0603020202020204" pitchFamily="34" charset="0"/>
                <a:cs typeface="Arial MT"/>
              </a:rPr>
              <a:t>planned</a:t>
            </a:r>
            <a:r>
              <a:rPr sz="2400" spc="150" dirty="0">
                <a:latin typeface="Trebuchet MS" panose="020B0603020202020204" pitchFamily="34" charset="0"/>
                <a:cs typeface="Arial MT"/>
              </a:rPr>
              <a:t> </a:t>
            </a:r>
            <a:r>
              <a:rPr sz="2400" dirty="0">
                <a:latin typeface="Trebuchet MS" panose="020B0603020202020204" pitchFamily="34" charset="0"/>
                <a:cs typeface="Arial MT"/>
              </a:rPr>
              <a:t>to</a:t>
            </a:r>
            <a:r>
              <a:rPr sz="2400" spc="150" dirty="0">
                <a:latin typeface="Trebuchet MS" panose="020B0603020202020204" pitchFamily="34" charset="0"/>
                <a:cs typeface="Arial MT"/>
              </a:rPr>
              <a:t> </a:t>
            </a:r>
            <a:r>
              <a:rPr sz="2400" dirty="0">
                <a:latin typeface="Trebuchet MS" panose="020B0603020202020204" pitchFamily="34" charset="0"/>
                <a:cs typeface="Arial MT"/>
              </a:rPr>
              <a:t>use</a:t>
            </a:r>
            <a:r>
              <a:rPr sz="2400" spc="150" dirty="0">
                <a:latin typeface="Trebuchet MS" panose="020B0603020202020204" pitchFamily="34" charset="0"/>
                <a:cs typeface="Arial MT"/>
              </a:rPr>
              <a:t> </a:t>
            </a:r>
            <a:r>
              <a:rPr sz="2400" b="1" dirty="0">
                <a:latin typeface="Trebuchet MS" panose="020B0603020202020204" pitchFamily="34" charset="0"/>
                <a:cs typeface="Arial"/>
              </a:rPr>
              <a:t>V2V/V2I</a:t>
            </a:r>
            <a:r>
              <a:rPr sz="2400" b="1" spc="155" dirty="0">
                <a:latin typeface="Trebuchet MS" panose="020B0603020202020204" pitchFamily="34" charset="0"/>
                <a:cs typeface="Arial"/>
              </a:rPr>
              <a:t> </a:t>
            </a:r>
            <a:r>
              <a:rPr sz="2400" b="1" dirty="0">
                <a:latin typeface="Trebuchet MS" panose="020B0603020202020204" pitchFamily="34" charset="0"/>
                <a:cs typeface="Arial"/>
              </a:rPr>
              <a:t>communication</a:t>
            </a:r>
            <a:r>
              <a:rPr sz="2400" b="1" spc="125" dirty="0">
                <a:latin typeface="Trebuchet MS" panose="020B0603020202020204" pitchFamily="34" charset="0"/>
                <a:cs typeface="Arial"/>
              </a:rPr>
              <a:t> </a:t>
            </a:r>
            <a:r>
              <a:rPr sz="2400" dirty="0">
                <a:latin typeface="Trebuchet MS" panose="020B0603020202020204" pitchFamily="34" charset="0"/>
                <a:cs typeface="Arial MT"/>
              </a:rPr>
              <a:t>to</a:t>
            </a:r>
            <a:r>
              <a:rPr sz="2400" spc="150" dirty="0">
                <a:latin typeface="Trebuchet MS" panose="020B0603020202020204" pitchFamily="34" charset="0"/>
                <a:cs typeface="Arial MT"/>
              </a:rPr>
              <a:t> </a:t>
            </a:r>
            <a:r>
              <a:rPr sz="2400" dirty="0">
                <a:latin typeface="Trebuchet MS" panose="020B0603020202020204" pitchFamily="34" charset="0"/>
                <a:cs typeface="Arial MT"/>
              </a:rPr>
              <a:t>alert</a:t>
            </a:r>
            <a:r>
              <a:rPr sz="2400" spc="160" dirty="0">
                <a:latin typeface="Trebuchet MS" panose="020B0603020202020204" pitchFamily="34" charset="0"/>
                <a:cs typeface="Arial MT"/>
              </a:rPr>
              <a:t> </a:t>
            </a:r>
            <a:r>
              <a:rPr sz="2400" dirty="0">
                <a:latin typeface="Trebuchet MS" panose="020B0603020202020204" pitchFamily="34" charset="0"/>
                <a:cs typeface="Arial MT"/>
              </a:rPr>
              <a:t>traffic</a:t>
            </a:r>
            <a:r>
              <a:rPr sz="2400" spc="155" dirty="0">
                <a:latin typeface="Trebuchet MS" panose="020B0603020202020204" pitchFamily="34" charset="0"/>
                <a:cs typeface="Arial MT"/>
              </a:rPr>
              <a:t> </a:t>
            </a:r>
            <a:r>
              <a:rPr sz="2400" spc="-10" dirty="0">
                <a:latin typeface="Trebuchet MS" panose="020B0603020202020204" pitchFamily="34" charset="0"/>
                <a:cs typeface="Arial MT"/>
              </a:rPr>
              <a:t>authorities </a:t>
            </a:r>
            <a:r>
              <a:rPr sz="2400" dirty="0">
                <a:latin typeface="Trebuchet MS" panose="020B0603020202020204" pitchFamily="34" charset="0"/>
                <a:cs typeface="Arial MT"/>
              </a:rPr>
              <a:t>during</a:t>
            </a:r>
            <a:r>
              <a:rPr sz="2400" spc="395" dirty="0">
                <a:latin typeface="Trebuchet MS" panose="020B0603020202020204" pitchFamily="34" charset="0"/>
                <a:cs typeface="Arial MT"/>
              </a:rPr>
              <a:t> </a:t>
            </a:r>
            <a:r>
              <a:rPr sz="2400" dirty="0">
                <a:latin typeface="Trebuchet MS" panose="020B0603020202020204" pitchFamily="34" charset="0"/>
                <a:cs typeface="Arial MT"/>
              </a:rPr>
              <a:t>anomalies,</a:t>
            </a:r>
            <a:r>
              <a:rPr sz="2400" spc="400" dirty="0">
                <a:latin typeface="Trebuchet MS" panose="020B0603020202020204" pitchFamily="34" charset="0"/>
                <a:cs typeface="Arial MT"/>
              </a:rPr>
              <a:t> </a:t>
            </a:r>
            <a:r>
              <a:rPr sz="2400" dirty="0">
                <a:latin typeface="Trebuchet MS" panose="020B0603020202020204" pitchFamily="34" charset="0"/>
                <a:cs typeface="Arial MT"/>
              </a:rPr>
              <a:t>but</a:t>
            </a:r>
            <a:r>
              <a:rPr sz="2400" spc="375" dirty="0">
                <a:latin typeface="Trebuchet MS" panose="020B0603020202020204" pitchFamily="34" charset="0"/>
                <a:cs typeface="Arial MT"/>
              </a:rPr>
              <a:t> </a:t>
            </a:r>
            <a:r>
              <a:rPr sz="2400" dirty="0">
                <a:latin typeface="Trebuchet MS" panose="020B0603020202020204" pitchFamily="34" charset="0"/>
                <a:cs typeface="Arial MT"/>
              </a:rPr>
              <a:t>the</a:t>
            </a:r>
            <a:r>
              <a:rPr sz="2400" spc="400" dirty="0">
                <a:latin typeface="Trebuchet MS" panose="020B0603020202020204" pitchFamily="34" charset="0"/>
                <a:cs typeface="Arial MT"/>
              </a:rPr>
              <a:t> </a:t>
            </a:r>
            <a:r>
              <a:rPr sz="2400" dirty="0">
                <a:latin typeface="Trebuchet MS" panose="020B0603020202020204" pitchFamily="34" charset="0"/>
                <a:cs typeface="Arial MT"/>
              </a:rPr>
              <a:t>panel</a:t>
            </a:r>
            <a:r>
              <a:rPr sz="2400" spc="400" dirty="0">
                <a:latin typeface="Trebuchet MS" panose="020B0603020202020204" pitchFamily="34" charset="0"/>
                <a:cs typeface="Arial MT"/>
              </a:rPr>
              <a:t> </a:t>
            </a:r>
            <a:r>
              <a:rPr sz="2400" dirty="0">
                <a:latin typeface="Trebuchet MS" panose="020B0603020202020204" pitchFamily="34" charset="0"/>
                <a:cs typeface="Arial MT"/>
              </a:rPr>
              <a:t>advised</a:t>
            </a:r>
            <a:r>
              <a:rPr sz="2400" spc="395" dirty="0">
                <a:latin typeface="Trebuchet MS" panose="020B0603020202020204" pitchFamily="34" charset="0"/>
                <a:cs typeface="Arial MT"/>
              </a:rPr>
              <a:t> </a:t>
            </a:r>
            <a:r>
              <a:rPr sz="2400" dirty="0">
                <a:latin typeface="Trebuchet MS" panose="020B0603020202020204" pitchFamily="34" charset="0"/>
                <a:cs typeface="Arial MT"/>
              </a:rPr>
              <a:t>it’s</a:t>
            </a:r>
            <a:r>
              <a:rPr sz="2400" spc="400" dirty="0">
                <a:latin typeface="Trebuchet MS" panose="020B0603020202020204" pitchFamily="34" charset="0"/>
                <a:cs typeface="Arial MT"/>
              </a:rPr>
              <a:t> </a:t>
            </a:r>
            <a:r>
              <a:rPr sz="2400" b="1" dirty="0">
                <a:latin typeface="Trebuchet MS" panose="020B0603020202020204" pitchFamily="34" charset="0"/>
                <a:cs typeface="Arial"/>
              </a:rPr>
              <a:t>not</a:t>
            </a:r>
            <a:r>
              <a:rPr sz="2400" b="1" spc="385" dirty="0">
                <a:latin typeface="Trebuchet MS" panose="020B0603020202020204" pitchFamily="34" charset="0"/>
                <a:cs typeface="Arial"/>
              </a:rPr>
              <a:t> </a:t>
            </a:r>
            <a:r>
              <a:rPr sz="2400" b="1" dirty="0">
                <a:latin typeface="Trebuchet MS" panose="020B0603020202020204" pitchFamily="34" charset="0"/>
                <a:cs typeface="Arial"/>
              </a:rPr>
              <a:t>feasible</a:t>
            </a:r>
            <a:r>
              <a:rPr sz="2400" b="1" spc="390" dirty="0">
                <a:latin typeface="Trebuchet MS" panose="020B0603020202020204" pitchFamily="34" charset="0"/>
                <a:cs typeface="Arial"/>
              </a:rPr>
              <a:t> </a:t>
            </a:r>
            <a:r>
              <a:rPr sz="2400" b="1" dirty="0">
                <a:latin typeface="Trebuchet MS" panose="020B0603020202020204" pitchFamily="34" charset="0"/>
                <a:cs typeface="Arial"/>
              </a:rPr>
              <a:t>for</a:t>
            </a:r>
            <a:r>
              <a:rPr sz="2400" b="1" spc="395" dirty="0">
                <a:latin typeface="Trebuchet MS" panose="020B0603020202020204" pitchFamily="34" charset="0"/>
                <a:cs typeface="Arial"/>
              </a:rPr>
              <a:t> </a:t>
            </a:r>
            <a:r>
              <a:rPr sz="2400" b="1" dirty="0">
                <a:latin typeface="Trebuchet MS" panose="020B0603020202020204" pitchFamily="34" charset="0"/>
                <a:cs typeface="Arial"/>
              </a:rPr>
              <a:t>the</a:t>
            </a:r>
            <a:r>
              <a:rPr sz="2400" b="1" spc="390" dirty="0">
                <a:latin typeface="Trebuchet MS" panose="020B0603020202020204" pitchFamily="34" charset="0"/>
                <a:cs typeface="Arial"/>
              </a:rPr>
              <a:t> </a:t>
            </a:r>
            <a:r>
              <a:rPr sz="2400" b="1" spc="-10" dirty="0">
                <a:latin typeface="Trebuchet MS" panose="020B0603020202020204" pitchFamily="34" charset="0"/>
                <a:cs typeface="Arial"/>
              </a:rPr>
              <a:t>current</a:t>
            </a:r>
            <a:r>
              <a:rPr lang="en-IN" sz="2400" b="1" spc="-10" dirty="0">
                <a:latin typeface="Trebuchet MS" panose="020B0603020202020204" pitchFamily="34" charset="0"/>
                <a:cs typeface="Arial"/>
              </a:rPr>
              <a:t> </a:t>
            </a:r>
            <a:r>
              <a:rPr sz="2400" b="1" spc="-10" dirty="0">
                <a:latin typeface="Trebuchet MS" panose="020B0603020202020204" pitchFamily="34" charset="0"/>
                <a:cs typeface="Arial"/>
              </a:rPr>
              <a:t>scop</a:t>
            </a:r>
            <a:r>
              <a:rPr lang="en-US" sz="2400" b="1" spc="-10" dirty="0">
                <a:latin typeface="Trebuchet MS" panose="020B0603020202020204" pitchFamily="34" charset="0"/>
                <a:cs typeface="Arial"/>
              </a:rPr>
              <a:t>e.</a:t>
            </a:r>
            <a:endParaRPr lang="en-IN" sz="2400" b="1" spc="-10" dirty="0">
              <a:latin typeface="Trebuchet MS" panose="020B0603020202020204" pitchFamily="34" charset="0"/>
              <a:cs typeface="Arial"/>
            </a:endParaRPr>
          </a:p>
          <a:p>
            <a:pPr marL="353060" marR="6985" indent="-340360" algn="just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lang="en-IN" sz="2400" spc="-10" dirty="0">
                <a:latin typeface="Trebuchet MS" panose="020B0603020202020204" pitchFamily="34" charset="0"/>
                <a:cs typeface="Arial"/>
              </a:rPr>
              <a:t>We planned to </a:t>
            </a:r>
            <a:r>
              <a:rPr lang="en-IN" sz="2400" b="1" spc="-10" dirty="0">
                <a:latin typeface="Trebuchet MS" panose="020B0603020202020204" pitchFamily="34" charset="0"/>
                <a:cs typeface="Arial"/>
              </a:rPr>
              <a:t>detect the lane deviation as well </a:t>
            </a:r>
            <a:r>
              <a:rPr lang="en-IN" sz="2400" spc="-10" dirty="0">
                <a:latin typeface="Trebuchet MS" panose="020B0603020202020204" pitchFamily="34" charset="0"/>
                <a:cs typeface="Arial"/>
              </a:rPr>
              <a:t>but the idea was dropped, since</a:t>
            </a:r>
            <a:r>
              <a:rPr lang="en-IN" sz="2400" b="1" spc="-10" dirty="0">
                <a:latin typeface="Trebuchet MS" panose="020B0603020202020204" pitchFamily="34" charset="0"/>
                <a:cs typeface="Arial"/>
              </a:rPr>
              <a:t> </a:t>
            </a:r>
            <a:r>
              <a:rPr lang="en-IN" sz="2400" spc="-10" dirty="0">
                <a:latin typeface="Trebuchet MS" panose="020B0603020202020204" pitchFamily="34" charset="0"/>
                <a:cs typeface="Arial"/>
              </a:rPr>
              <a:t>it will need us to have an </a:t>
            </a:r>
            <a:r>
              <a:rPr lang="en-IN" sz="2400" b="1" spc="-10" dirty="0">
                <a:latin typeface="Trebuchet MS" panose="020B0603020202020204" pitchFamily="34" charset="0"/>
                <a:cs typeface="Arial"/>
              </a:rPr>
              <a:t>extra camera angle </a:t>
            </a:r>
            <a:r>
              <a:rPr lang="en-IN" sz="2400" spc="-10" dirty="0">
                <a:latin typeface="Trebuchet MS" panose="020B0603020202020204" pitchFamily="34" charset="0"/>
                <a:cs typeface="Arial"/>
              </a:rPr>
              <a:t>which is facing towards the road </a:t>
            </a:r>
            <a:r>
              <a:rPr lang="en-IN" sz="2400" b="1" spc="-10" dirty="0">
                <a:latin typeface="Trebuchet MS" panose="020B0603020202020204" pitchFamily="34" charset="0"/>
                <a:cs typeface="Arial"/>
              </a:rPr>
              <a:t>to detect the lane deviation.</a:t>
            </a:r>
          </a:p>
          <a:p>
            <a:pPr marL="353060" marR="6985" indent="-340360" algn="just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</a:tabLst>
            </a:pPr>
            <a:r>
              <a:rPr lang="en-IN" sz="2400" spc="-10" dirty="0">
                <a:latin typeface="Trebuchet MS" panose="020B0603020202020204" pitchFamily="34" charset="0"/>
                <a:cs typeface="Arial"/>
              </a:rPr>
              <a:t>We were told to find </a:t>
            </a:r>
            <a:r>
              <a:rPr lang="en-IN" sz="2400" b="1" spc="-10" dirty="0">
                <a:latin typeface="Trebuchet MS" panose="020B0603020202020204" pitchFamily="34" charset="0"/>
                <a:cs typeface="Arial"/>
              </a:rPr>
              <a:t>more diversified dataset </a:t>
            </a:r>
            <a:r>
              <a:rPr lang="en-IN" sz="2400" spc="-10" dirty="0">
                <a:latin typeface="Trebuchet MS" panose="020B0603020202020204" pitchFamily="34" charset="0"/>
                <a:cs typeface="Arial"/>
              </a:rPr>
              <a:t>but couldn’t find much on the internet so we are planning to</a:t>
            </a:r>
            <a:r>
              <a:rPr lang="en-IN" sz="2400" b="1" spc="-10" dirty="0">
                <a:latin typeface="Trebuchet MS" panose="020B0603020202020204" pitchFamily="34" charset="0"/>
                <a:cs typeface="Arial"/>
              </a:rPr>
              <a:t> create our own custom dataset.</a:t>
            </a:r>
            <a:endParaRPr lang="en-IN" sz="2400" dirty="0">
              <a:latin typeface="Trebuchet MS" panose="020B0603020202020204" pitchFamily="34" charset="0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415480" y="1916832"/>
            <a:ext cx="9252520" cy="4384667"/>
          </a:xfrm>
          <a:prstGeom prst="rect">
            <a:avLst/>
          </a:prstGeom>
        </p:spPr>
        <p:txBody>
          <a:bodyPr/>
          <a:lstStyle/>
          <a:p>
            <a:r>
              <a:rPr lang="en-US" sz="2200" b="1" dirty="0">
                <a:latin typeface="Trebuchet MS" panose="020B0603020202020204" pitchFamily="34" charset="0"/>
              </a:rPr>
              <a:t>Functional Requirements</a:t>
            </a:r>
            <a:endParaRPr lang="en-US" sz="2200" dirty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Detect driver face and landmarks in real 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Identify distracted driving behaviors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Detect objects such as mobile phone using object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Analyze temporal behavior patterns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Generate alert when anomaly is detected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rebuchet MS" panose="020B0603020202020204" pitchFamily="34" charset="0"/>
            </a:endParaRPr>
          </a:p>
          <a:p>
            <a:r>
              <a:rPr lang="en-US" sz="2200" b="1" dirty="0">
                <a:latin typeface="Trebuchet MS" panose="020B0603020202020204" pitchFamily="34" charset="0"/>
              </a:rPr>
              <a:t>Non-Functional Requirements</a:t>
            </a:r>
            <a:endParaRPr lang="en-US" sz="2200" dirty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Real-time performance (&lt;100 </a:t>
            </a:r>
            <a:r>
              <a:rPr lang="en-US" sz="2200" dirty="0" err="1">
                <a:latin typeface="Trebuchet MS" panose="020B0603020202020204" pitchFamily="34" charset="0"/>
              </a:rPr>
              <a:t>ms</a:t>
            </a:r>
            <a:r>
              <a:rPr lang="en-US" sz="2200" dirty="0">
                <a:latin typeface="Trebuchet MS" panose="020B0603020202020204" pitchFamily="34" charset="0"/>
              </a:rPr>
              <a:t> latency)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Accuracy above 85%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Lightweight model for deployment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Robust under varying lighting conditions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Scalable architecture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Requirements Specification</a:t>
            </a:r>
          </a:p>
        </p:txBody>
      </p:sp>
    </p:spTree>
    <p:extLst>
      <p:ext uri="{BB962C8B-B14F-4D97-AF65-F5344CB8AC3E}">
        <p14:creationId xmlns:p14="http://schemas.microsoft.com/office/powerpoint/2010/main" val="1668997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51DF39E-124F-31AE-3D8A-99F70586B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204A0AD-A54E-0520-18A4-464F5056B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B0E7D465-4627-BB46-523D-2B58529B32DA}"/>
              </a:ext>
            </a:extLst>
          </p:cNvPr>
          <p:cNvSpPr txBox="1">
            <a:spLocks/>
          </p:cNvSpPr>
          <p:nvPr/>
        </p:nvSpPr>
        <p:spPr>
          <a:xfrm>
            <a:off x="1847528" y="2434715"/>
            <a:ext cx="7848872" cy="3874605"/>
          </a:xfrm>
          <a:prstGeom prst="rect">
            <a:avLst/>
          </a:prstGeom>
        </p:spPr>
        <p:txBody>
          <a:bodyPr/>
          <a:lstStyle/>
          <a:p>
            <a:r>
              <a:rPr lang="en-IN" sz="2200" b="1" dirty="0">
                <a:latin typeface="Trebuchet MS" panose="020B0603020202020204" pitchFamily="34" charset="0"/>
              </a:rPr>
              <a:t>Technologies Used :</a:t>
            </a:r>
          </a:p>
          <a:p>
            <a:endParaRPr lang="en-IN" sz="2200" b="1" dirty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Python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OpenCV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 err="1">
                <a:latin typeface="Trebuchet MS" panose="020B0603020202020204" pitchFamily="34" charset="0"/>
              </a:rPr>
              <a:t>MediaPipe</a:t>
            </a:r>
            <a:r>
              <a:rPr lang="en-IN" sz="2200" dirty="0">
                <a:latin typeface="Trebuchet MS" panose="020B0603020202020204" pitchFamily="34" charset="0"/>
              </a:rPr>
              <a:t> Face Mesh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YOLOv8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LSTM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Deep Learning frameworks </a:t>
            </a:r>
          </a:p>
        </p:txBody>
      </p:sp>
      <p:sp>
        <p:nvSpPr>
          <p:cNvPr id="14" name="Text Box 34">
            <a:extLst>
              <a:ext uri="{FF2B5EF4-FFF2-40B4-BE49-F238E27FC236}">
                <a16:creationId xmlns="" xmlns:a16="http://schemas.microsoft.com/office/drawing/2014/main" id="{68BAA28A-60A6-F99F-9725-40CC75D77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Requirements Specification</a:t>
            </a:r>
          </a:p>
        </p:txBody>
      </p:sp>
    </p:spTree>
    <p:extLst>
      <p:ext uri="{BB962C8B-B14F-4D97-AF65-F5344CB8AC3E}">
        <p14:creationId xmlns:p14="http://schemas.microsoft.com/office/powerpoint/2010/main" val="4144627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48E2CC5-AA50-92F4-9F77-B05DFC240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3F20D31F-B633-F6D3-95AA-3521B08E9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3F480351-6149-C0C0-0400-1CBDA51403D9}"/>
              </a:ext>
            </a:extLst>
          </p:cNvPr>
          <p:cNvSpPr txBox="1">
            <a:spLocks/>
          </p:cNvSpPr>
          <p:nvPr/>
        </p:nvSpPr>
        <p:spPr>
          <a:xfrm>
            <a:off x="1991544" y="2708920"/>
            <a:ext cx="2448272" cy="4713276"/>
          </a:xfrm>
          <a:prstGeom prst="rect">
            <a:avLst/>
          </a:prstGeom>
        </p:spPr>
        <p:txBody>
          <a:bodyPr/>
          <a:lstStyle/>
          <a:p>
            <a:r>
              <a:rPr lang="en-IN" sz="2200" b="1" dirty="0">
                <a:latin typeface="Trebuchet MS" panose="020B0603020202020204" pitchFamily="34" charset="0"/>
              </a:rPr>
              <a:t>Hardware :                                   </a:t>
            </a:r>
            <a:endParaRPr lang="en-IN" sz="2200" dirty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Webcam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GPU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Laptop/PC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rebuchet MS" panose="020B0603020202020204" pitchFamily="34" charset="0"/>
            </a:endParaRPr>
          </a:p>
        </p:txBody>
      </p:sp>
      <p:sp>
        <p:nvSpPr>
          <p:cNvPr id="14" name="Text Box 34">
            <a:extLst>
              <a:ext uri="{FF2B5EF4-FFF2-40B4-BE49-F238E27FC236}">
                <a16:creationId xmlns="" xmlns:a16="http://schemas.microsoft.com/office/drawing/2014/main" id="{23473BC4-A128-42A7-F368-85D805D19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			   </a:t>
            </a:r>
            <a:r>
              <a:rPr lang="en-IN" sz="2400" dirty="0">
                <a:solidFill>
                  <a:srgbClr val="FF0000"/>
                </a:solidFill>
              </a:rPr>
              <a:t>System Requirements</a:t>
            </a:r>
          </a:p>
        </p:txBody>
      </p:sp>
      <p:sp>
        <p:nvSpPr>
          <p:cNvPr id="2" name="Rectangle 1"/>
          <p:cNvSpPr/>
          <p:nvPr/>
        </p:nvSpPr>
        <p:spPr>
          <a:xfrm>
            <a:off x="6096000" y="2708920"/>
            <a:ext cx="376808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200" b="1" dirty="0">
                <a:latin typeface="Trebuchet MS" panose="020B0603020202020204" pitchFamily="34" charset="0"/>
              </a:rPr>
              <a:t>Software :</a:t>
            </a:r>
            <a:endParaRPr lang="en-IN" sz="2200" dirty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Python 3.x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 err="1">
                <a:latin typeface="Trebuchet MS" panose="020B0603020202020204" pitchFamily="34" charset="0"/>
              </a:rPr>
              <a:t>PyTorch</a:t>
            </a:r>
            <a:r>
              <a:rPr lang="en-IN" sz="2200" dirty="0">
                <a:latin typeface="Trebuchet MS" panose="020B0603020202020204" pitchFamily="34" charset="0"/>
              </a:rPr>
              <a:t>/</a:t>
            </a:r>
            <a:r>
              <a:rPr lang="en-IN" sz="2200" dirty="0" err="1">
                <a:latin typeface="Trebuchet MS" panose="020B0603020202020204" pitchFamily="34" charset="0"/>
              </a:rPr>
              <a:t>TensorFlow</a:t>
            </a:r>
            <a:endParaRPr lang="en-IN" sz="2200" dirty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 err="1">
                <a:latin typeface="Trebuchet MS" panose="020B0603020202020204" pitchFamily="34" charset="0"/>
              </a:rPr>
              <a:t>OpenCV</a:t>
            </a:r>
            <a:endParaRPr lang="en-IN" sz="2200" dirty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 err="1">
                <a:latin typeface="Trebuchet MS" panose="020B0603020202020204" pitchFamily="34" charset="0"/>
              </a:rPr>
              <a:t>MediaPipe</a:t>
            </a:r>
            <a:endParaRPr lang="en-IN" sz="2200" dirty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YOLOv5 framework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90998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865E465-1C9C-615D-D8B2-6BD7FD5FF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D2B2E6A7-557D-A993-ED2E-5D6609477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481EFFDC-2826-2D08-06DD-67E6EDFE1872}"/>
              </a:ext>
            </a:extLst>
          </p:cNvPr>
          <p:cNvSpPr txBox="1">
            <a:spLocks/>
          </p:cNvSpPr>
          <p:nvPr/>
        </p:nvSpPr>
        <p:spPr>
          <a:xfrm>
            <a:off x="1905000" y="2092332"/>
            <a:ext cx="8077200" cy="4384667"/>
          </a:xfrm>
          <a:prstGeom prst="rect">
            <a:avLst/>
          </a:prstGeom>
        </p:spPr>
        <p:txBody>
          <a:bodyPr/>
          <a:lstStyle/>
          <a:p>
            <a:pPr marL="342891" algn="just" eaLnBrk="0" hangingPunct="0">
              <a:spcBef>
                <a:spcPct val="20000"/>
              </a:spcBef>
              <a:defRPr/>
            </a:pPr>
            <a:endParaRPr lang="en-US" sz="2400" kern="0" dirty="0">
              <a:solidFill>
                <a:srgbClr val="0000FF"/>
              </a:solidFill>
              <a:latin typeface="Trebuchet MS" pitchFamily="34" charset="0"/>
              <a:sym typeface="Trebuchet MS"/>
            </a:endParaRPr>
          </a:p>
        </p:txBody>
      </p:sp>
      <p:sp>
        <p:nvSpPr>
          <p:cNvPr id="14" name="Text Box 34">
            <a:extLst>
              <a:ext uri="{FF2B5EF4-FFF2-40B4-BE49-F238E27FC236}">
                <a16:creationId xmlns="" xmlns:a16="http://schemas.microsoft.com/office/drawing/2014/main" id="{68821C58-7138-7937-D52E-94E24F9A8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Dataset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672D779-16B4-F2C0-654B-AAD914E18574}"/>
              </a:ext>
            </a:extLst>
          </p:cNvPr>
          <p:cNvSpPr txBox="1"/>
          <p:nvPr/>
        </p:nvSpPr>
        <p:spPr>
          <a:xfrm>
            <a:off x="1485900" y="2276872"/>
            <a:ext cx="891540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latin typeface="Trebuchet MS" panose="020B0603020202020204" pitchFamily="34" charset="0"/>
              </a:rPr>
              <a:t>Dataset Used :</a:t>
            </a:r>
            <a:endParaRPr lang="en-US" sz="2200" dirty="0">
              <a:latin typeface="Trebuchet MS" panose="020B0603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   State Farm Distracted Driver Dataset 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>
              <a:latin typeface="Trebuchet MS" panose="020B0603020202020204" pitchFamily="34" charset="0"/>
            </a:endParaRPr>
          </a:p>
          <a:p>
            <a:r>
              <a:rPr lang="en-US" sz="2200" b="1" dirty="0">
                <a:latin typeface="Trebuchet MS" panose="020B0603020202020204" pitchFamily="34" charset="0"/>
              </a:rPr>
              <a:t>Future Dataset Plan :</a:t>
            </a:r>
            <a:endParaRPr lang="en-US" sz="2200" dirty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Custom real-time webcam recordings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Multi-driver data collection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Temporal sequence generation for LSTM training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Data augmentation for robustness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402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DF3543FE-1B07-59B5-80F4-23EB61CB5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88916E9E-3FFC-817B-C37D-B9C59AE82943}"/>
              </a:ext>
            </a:extLst>
          </p:cNvPr>
          <p:cNvSpPr txBox="1"/>
          <p:nvPr/>
        </p:nvSpPr>
        <p:spPr>
          <a:xfrm>
            <a:off x="7723584" y="1104714"/>
            <a:ext cx="338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</a:rPr>
              <a:t>Design 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167310F3-E56B-4FEF-980C-FC0B5C0E3000}"/>
              </a:ext>
            </a:extLst>
          </p:cNvPr>
          <p:cNvSpPr txBox="1"/>
          <p:nvPr/>
        </p:nvSpPr>
        <p:spPr>
          <a:xfrm>
            <a:off x="1170856" y="2132856"/>
            <a:ext cx="993710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Trebuchet MS" panose="020B0603020202020204" pitchFamily="34" charset="0"/>
              </a:rPr>
              <a:t>Approach Followed</a:t>
            </a:r>
            <a:endParaRPr lang="en-US" sz="2200" dirty="0">
              <a:latin typeface="Trebuchet MS" panose="020B06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Modular deep learning pipeline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Hybrid spatial + temporal behavior modeling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Real-time computer vision 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Feature fusion from multiple detectors</a:t>
            </a:r>
          </a:p>
          <a:p>
            <a:endParaRPr lang="en-US" sz="2200" dirty="0">
              <a:latin typeface="Trebuchet MS" panose="020B0603020202020204" pitchFamily="34" charset="0"/>
            </a:endParaRPr>
          </a:p>
          <a:p>
            <a:r>
              <a:rPr lang="en-IN" sz="2200" b="1" dirty="0">
                <a:latin typeface="Trebuchet MS" panose="020B0603020202020204" pitchFamily="34" charset="0"/>
              </a:rPr>
              <a:t>This approach helps 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Driver behavior depends on visual cues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Modular design allows independent model improvement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Supports real-time anomaly detection</a:t>
            </a:r>
          </a:p>
        </p:txBody>
      </p:sp>
    </p:spTree>
    <p:extLst>
      <p:ext uri="{BB962C8B-B14F-4D97-AF65-F5344CB8AC3E}">
        <p14:creationId xmlns:p14="http://schemas.microsoft.com/office/powerpoint/2010/main" val="36614127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B800C1D-A0AB-8042-6140-C62B81565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F39A74A-C512-8EFC-FEA2-7AD2FD4D3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C19ABB99-A93C-B0C3-6528-2B1F2E5E40B9}"/>
              </a:ext>
            </a:extLst>
          </p:cNvPr>
          <p:cNvSpPr txBox="1"/>
          <p:nvPr/>
        </p:nvSpPr>
        <p:spPr>
          <a:xfrm>
            <a:off x="7723584" y="1104714"/>
            <a:ext cx="338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Alternate Approaches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A55D4C09-3862-627D-BC39-024D647132E6}"/>
              </a:ext>
            </a:extLst>
          </p:cNvPr>
          <p:cNvSpPr txBox="1"/>
          <p:nvPr/>
        </p:nvSpPr>
        <p:spPr>
          <a:xfrm>
            <a:off x="1271464" y="2276872"/>
            <a:ext cx="993710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200" dirty="0">
              <a:latin typeface="Trebuchet MS" panose="020B06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CNN-only single frame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rebuchet MS" panose="020B06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Classical computer vision (rule-based)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rebuchet MS" panose="020B06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Sensor-based fatigue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>
              <a:latin typeface="Trebuchet MS" panose="020B06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End-to-end transformer models</a:t>
            </a:r>
          </a:p>
        </p:txBody>
      </p:sp>
    </p:spTree>
    <p:extLst>
      <p:ext uri="{BB962C8B-B14F-4D97-AF65-F5344CB8AC3E}">
        <p14:creationId xmlns:p14="http://schemas.microsoft.com/office/powerpoint/2010/main" val="2461958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Constraints, Assumptions</a:t>
            </a:r>
            <a:endParaRPr lang="en-US" sz="2400" dirty="0"/>
          </a:p>
        </p:txBody>
      </p:sp>
      <p:sp>
        <p:nvSpPr>
          <p:cNvPr id="54" name="Google Shape;54;p7"/>
          <p:cNvSpPr txBox="1"/>
          <p:nvPr/>
        </p:nvSpPr>
        <p:spPr>
          <a:xfrm>
            <a:off x="1199456" y="1700808"/>
            <a:ext cx="10535344" cy="5029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200" b="1" dirty="0">
                <a:latin typeface="Trebuchet MS" panose="020B0603020202020204" pitchFamily="34" charset="0"/>
              </a:rPr>
              <a:t>Design Constraints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Real-time processing requirement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Limited computational resources (GPU/CPU)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Camera angle and lighting variability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Dataset limited to static images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Accuracy vs speed trade-off</a:t>
            </a:r>
          </a:p>
          <a:p>
            <a:endParaRPr lang="en-US" sz="2200" dirty="0">
              <a:latin typeface="Trebuchet MS" panose="020B0603020202020204" pitchFamily="34" charset="0"/>
            </a:endParaRPr>
          </a:p>
          <a:p>
            <a:r>
              <a:rPr lang="en-US" sz="2200" b="1" dirty="0">
                <a:latin typeface="Trebuchet MS" panose="020B0603020202020204" pitchFamily="34" charset="0"/>
              </a:rPr>
              <a:t>Assumptions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Driver face is visible to the camera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Single-driver monitoring environment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Adequate lighting conditions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Stable camera placement inside vehicle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No major occlusion of face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>
          <a:extLst>
            <a:ext uri="{FF2B5EF4-FFF2-40B4-BE49-F238E27FC236}">
              <a16:creationId xmlns="" xmlns:a16="http://schemas.microsoft.com/office/drawing/2014/main" id="{E6431B6F-56F9-F495-82B7-104DBCDB4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>
            <a:extLst>
              <a:ext uri="{FF2B5EF4-FFF2-40B4-BE49-F238E27FC236}">
                <a16:creationId xmlns="" xmlns:a16="http://schemas.microsoft.com/office/drawing/2014/main" id="{002845BC-37A7-424A-F226-C6AC67134B66}"/>
              </a:ext>
            </a:extLst>
          </p:cNvPr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>
            <a:extLst>
              <a:ext uri="{FF2B5EF4-FFF2-40B4-BE49-F238E27FC236}">
                <a16:creationId xmlns="" xmlns:a16="http://schemas.microsoft.com/office/drawing/2014/main" id="{8630A7E7-5337-F26E-65FE-16F9E5B84773}"/>
              </a:ext>
            </a:extLst>
          </p:cNvPr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Dependencies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05BBBCE-1F0B-1ECB-7070-9EDED281FBBD}"/>
              </a:ext>
            </a:extLst>
          </p:cNvPr>
          <p:cNvSpPr txBox="1"/>
          <p:nvPr/>
        </p:nvSpPr>
        <p:spPr>
          <a:xfrm>
            <a:off x="1271464" y="2276872"/>
            <a:ext cx="108732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Media Pipe Face Mesh for landmark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YOLOv5 framework for object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Python + OpenCV runtime environment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Availability of </a:t>
            </a:r>
            <a:r>
              <a:rPr lang="en-IN" sz="2200" dirty="0" err="1">
                <a:latin typeface="Trebuchet MS" panose="020B0603020202020204" pitchFamily="34" charset="0"/>
              </a:rPr>
              <a:t>labeled</a:t>
            </a:r>
            <a:r>
              <a:rPr lang="en-IN" sz="2200" dirty="0">
                <a:latin typeface="Trebuchet MS" panose="020B0603020202020204" pitchFamily="34" charset="0"/>
              </a:rPr>
              <a:t> training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rebuchet MS" panose="020B0603020202020204" pitchFamily="34" charset="0"/>
              </a:rPr>
              <a:t>Hardware performance for model inference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1919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Details</a:t>
            </a:r>
          </a:p>
        </p:txBody>
      </p:sp>
      <p:sp>
        <p:nvSpPr>
          <p:cNvPr id="47" name="Google Shape;47;p6"/>
          <p:cNvSpPr txBox="1"/>
          <p:nvPr/>
        </p:nvSpPr>
        <p:spPr>
          <a:xfrm>
            <a:off x="1343472" y="2276872"/>
            <a:ext cx="9721080" cy="3744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sz="2000" dirty="0">
                <a:latin typeface="Trebuchet MS" panose="020B0603020202020204" pitchFamily="34" charset="0"/>
              </a:rPr>
              <a:t>Hybrid pipeline combining Face Mesh + YOLO + LSTM for smarter temporal driver </a:t>
            </a:r>
            <a:r>
              <a:rPr lang="en-IN" sz="2000" dirty="0" err="1">
                <a:latin typeface="Trebuchet MS" panose="020B0603020202020204" pitchFamily="34" charset="0"/>
              </a:rPr>
              <a:t>behavior</a:t>
            </a:r>
            <a:r>
              <a:rPr lang="en-IN" sz="2000" dirty="0">
                <a:latin typeface="Trebuchet MS" panose="020B0603020202020204" pitchFamily="34" charset="0"/>
              </a:rPr>
              <a:t> detection.</a:t>
            </a:r>
          </a:p>
          <a:p>
            <a:endParaRPr lang="en-IN" sz="2000" dirty="0">
              <a:latin typeface="Trebuchet MS" panose="020B0603020202020204" pitchFamily="34" charset="0"/>
            </a:endParaRPr>
          </a:p>
          <a:p>
            <a:r>
              <a:rPr lang="en-IN" sz="2000" b="1" dirty="0">
                <a:latin typeface="Trebuchet MS" panose="020B0603020202020204" pitchFamily="34" charset="0"/>
              </a:rPr>
              <a:t>Interoperability :</a:t>
            </a:r>
            <a:r>
              <a:rPr lang="en-IN" sz="2000" dirty="0">
                <a:latin typeface="Trebuchet MS" panose="020B0603020202020204" pitchFamily="34" charset="0"/>
              </a:rPr>
              <a:t/>
            </a:r>
            <a:br>
              <a:rPr lang="en-IN" sz="2000" dirty="0">
                <a:latin typeface="Trebuchet MS" panose="020B0603020202020204" pitchFamily="34" charset="0"/>
              </a:rPr>
            </a:br>
            <a:r>
              <a:rPr lang="en-IN" sz="2000" dirty="0">
                <a:latin typeface="Trebuchet MS" panose="020B0603020202020204" pitchFamily="34" charset="0"/>
              </a:rPr>
              <a:t>Works with webcams and vehicle cameras; easily integrates new datasets and models.</a:t>
            </a:r>
          </a:p>
          <a:p>
            <a:endParaRPr lang="en-IN" sz="2000" dirty="0">
              <a:latin typeface="Trebuchet MS" panose="020B0603020202020204" pitchFamily="34" charset="0"/>
            </a:endParaRPr>
          </a:p>
          <a:p>
            <a:r>
              <a:rPr lang="en-US" sz="2000" b="1" dirty="0">
                <a:latin typeface="Trebuchet MS" panose="020B0603020202020204" pitchFamily="34" charset="0"/>
              </a:rPr>
              <a:t>Performance :</a:t>
            </a:r>
            <a:r>
              <a:rPr lang="en-US" sz="2000" dirty="0">
                <a:latin typeface="Trebuchet MS" panose="020B0603020202020204" pitchFamily="34" charset="0"/>
              </a:rPr>
              <a:t/>
            </a:r>
            <a:br>
              <a:rPr lang="en-US" sz="2000" dirty="0">
                <a:latin typeface="Trebuchet MS" panose="020B0603020202020204" pitchFamily="34" charset="0"/>
              </a:rPr>
            </a:br>
            <a:r>
              <a:rPr lang="en-US" sz="2000" dirty="0">
                <a:latin typeface="Trebuchet MS" panose="020B0603020202020204" pitchFamily="34" charset="0"/>
              </a:rPr>
              <a:t>Real-time detection with low latency while maintaining high accuracy.</a:t>
            </a:r>
          </a:p>
          <a:p>
            <a:endParaRPr lang="en-US" sz="2000" dirty="0">
              <a:latin typeface="Trebuchet MS" panose="020B0603020202020204" pitchFamily="34" charset="0"/>
            </a:endParaRPr>
          </a:p>
          <a:p>
            <a:r>
              <a:rPr lang="en-US" sz="2000" b="1" dirty="0">
                <a:latin typeface="Trebuchet MS" panose="020B0603020202020204" pitchFamily="34" charset="0"/>
              </a:rPr>
              <a:t>Security &amp; Reliability :</a:t>
            </a:r>
            <a:r>
              <a:rPr lang="en-US" sz="2000" dirty="0">
                <a:latin typeface="Trebuchet MS" panose="020B0603020202020204" pitchFamily="34" charset="0"/>
              </a:rPr>
              <a:t/>
            </a:r>
            <a:br>
              <a:rPr lang="en-US" sz="2000" dirty="0">
                <a:latin typeface="Trebuchet MS" panose="020B0603020202020204" pitchFamily="34" charset="0"/>
              </a:rPr>
            </a:br>
            <a:r>
              <a:rPr lang="en-US" sz="2000" dirty="0">
                <a:latin typeface="Trebuchet MS" panose="020B0603020202020204" pitchFamily="34" charset="0"/>
              </a:rPr>
              <a:t>Local processing protects privacy and works across lighting and driver variations.</a:t>
            </a:r>
          </a:p>
        </p:txBody>
      </p:sp>
    </p:spTree>
    <p:extLst>
      <p:ext uri="{BB962C8B-B14F-4D97-AF65-F5344CB8AC3E}">
        <p14:creationId xmlns:p14="http://schemas.microsoft.com/office/powerpoint/2010/main" val="3167076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Design Details</a:t>
            </a:r>
          </a:p>
        </p:txBody>
      </p:sp>
      <p:sp>
        <p:nvSpPr>
          <p:cNvPr id="47" name="Google Shape;47;p6"/>
          <p:cNvSpPr txBox="1"/>
          <p:nvPr/>
        </p:nvSpPr>
        <p:spPr>
          <a:xfrm>
            <a:off x="1415480" y="2348880"/>
            <a:ext cx="9505056" cy="3690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000" b="1" dirty="0">
                <a:latin typeface="Trebuchet MS" panose="020B0603020202020204" pitchFamily="34" charset="0"/>
              </a:rPr>
              <a:t>Maintainability :</a:t>
            </a:r>
            <a:r>
              <a:rPr lang="en-US" sz="2000" dirty="0">
                <a:latin typeface="Trebuchet MS" panose="020B0603020202020204" pitchFamily="34" charset="0"/>
              </a:rPr>
              <a:t/>
            </a:r>
            <a:br>
              <a:rPr lang="en-US" sz="2000" dirty="0">
                <a:latin typeface="Trebuchet MS" panose="020B0603020202020204" pitchFamily="34" charset="0"/>
              </a:rPr>
            </a:br>
            <a:r>
              <a:rPr lang="en-US" sz="2000" dirty="0">
                <a:latin typeface="Trebuchet MS" panose="020B0603020202020204" pitchFamily="34" charset="0"/>
              </a:rPr>
              <a:t>Independent modules allow easy upgrades without redesigning the system.</a:t>
            </a:r>
          </a:p>
          <a:p>
            <a:endParaRPr lang="en-US" sz="2000" dirty="0">
              <a:latin typeface="Trebuchet MS" panose="020B0603020202020204" pitchFamily="34" charset="0"/>
            </a:endParaRPr>
          </a:p>
          <a:p>
            <a:r>
              <a:rPr lang="en-US" sz="2000" b="1" dirty="0">
                <a:latin typeface="Trebuchet MS" panose="020B0603020202020204" pitchFamily="34" charset="0"/>
              </a:rPr>
              <a:t>Portability :</a:t>
            </a:r>
            <a:r>
              <a:rPr lang="en-US" sz="2000" dirty="0">
                <a:latin typeface="Trebuchet MS" panose="020B0603020202020204" pitchFamily="34" charset="0"/>
              </a:rPr>
              <a:t/>
            </a:r>
            <a:br>
              <a:rPr lang="en-US" sz="2000" dirty="0">
                <a:latin typeface="Trebuchet MS" panose="020B0603020202020204" pitchFamily="34" charset="0"/>
              </a:rPr>
            </a:br>
            <a:r>
              <a:rPr lang="en-US" sz="2000" dirty="0">
                <a:latin typeface="Trebuchet MS" panose="020B0603020202020204" pitchFamily="34" charset="0"/>
              </a:rPr>
              <a:t>Runs on laptops and edge devices for flexible deployment.</a:t>
            </a:r>
          </a:p>
          <a:p>
            <a:endParaRPr lang="en-US" sz="2000" dirty="0">
              <a:latin typeface="Trebuchet MS" panose="020B0603020202020204" pitchFamily="34" charset="0"/>
            </a:endParaRPr>
          </a:p>
          <a:p>
            <a:r>
              <a:rPr lang="en-US" sz="2000" b="1" dirty="0">
                <a:latin typeface="Trebuchet MS" panose="020B0603020202020204" pitchFamily="34" charset="0"/>
              </a:rPr>
              <a:t>Reusability :</a:t>
            </a:r>
            <a:endParaRPr lang="en-US" sz="2000" dirty="0">
              <a:latin typeface="Trebuchet MS" panose="020B0603020202020204" pitchFamily="34" charset="0"/>
            </a:endParaRPr>
          </a:p>
          <a:p>
            <a:r>
              <a:rPr lang="en-US" sz="2000" dirty="0">
                <a:latin typeface="Trebuchet MS" panose="020B0603020202020204" pitchFamily="34" charset="0"/>
              </a:rPr>
              <a:t>Architecture can be reused for other behavior monitoring applications.</a:t>
            </a:r>
          </a:p>
          <a:p>
            <a:endParaRPr lang="en-US" sz="2000" dirty="0">
              <a:latin typeface="Trebuchet MS" panose="020B0603020202020204" pitchFamily="34" charset="0"/>
            </a:endParaRPr>
          </a:p>
          <a:p>
            <a:r>
              <a:rPr lang="en-US" sz="2000" b="1" dirty="0">
                <a:latin typeface="Trebuchet MS" panose="020B0603020202020204" pitchFamily="34" charset="0"/>
              </a:rPr>
              <a:t>Compatibility</a:t>
            </a:r>
            <a:r>
              <a:rPr lang="en-US" sz="2000" dirty="0">
                <a:latin typeface="Trebuchet MS" panose="020B0603020202020204" pitchFamily="34" charset="0"/>
              </a:rPr>
              <a:t/>
            </a:r>
            <a:br>
              <a:rPr lang="en-US" sz="2000" dirty="0">
                <a:latin typeface="Trebuchet MS" panose="020B0603020202020204" pitchFamily="34" charset="0"/>
              </a:rPr>
            </a:br>
            <a:r>
              <a:rPr lang="en-US" sz="2000" dirty="0">
                <a:latin typeface="Trebuchet MS" panose="020B0603020202020204" pitchFamily="34" charset="0"/>
              </a:rPr>
              <a:t>Fully compatible with Python, </a:t>
            </a:r>
            <a:r>
              <a:rPr lang="en-US" sz="2000" dirty="0" err="1">
                <a:latin typeface="Trebuchet MS" panose="020B0603020202020204" pitchFamily="34" charset="0"/>
              </a:rPr>
              <a:t>OpenCV</a:t>
            </a:r>
            <a:r>
              <a:rPr lang="en-US" sz="2000" dirty="0">
                <a:latin typeface="Trebuchet MS" panose="020B0603020202020204" pitchFamily="34" charset="0"/>
              </a:rPr>
              <a:t>, and modern deep learning frameworks.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10829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Proposed System / Approach</a:t>
            </a:r>
            <a:endParaRPr lang="en-US" sz="2400" dirty="0"/>
          </a:p>
        </p:txBody>
      </p:sp>
      <p:sp>
        <p:nvSpPr>
          <p:cNvPr id="54" name="Google Shape;54;p7"/>
          <p:cNvSpPr txBox="1"/>
          <p:nvPr/>
        </p:nvSpPr>
        <p:spPr>
          <a:xfrm>
            <a:off x="1559496" y="2276872"/>
            <a:ext cx="9505056" cy="468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200" b="1" dirty="0">
                <a:latin typeface="Trebuchet MS" panose="020B0603020202020204" pitchFamily="34" charset="0"/>
              </a:rPr>
              <a:t>Basic 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Face Mesh + YOLO used for frame-level detection</a:t>
            </a:r>
          </a:p>
          <a:p>
            <a:endParaRPr lang="en-US" sz="2200" dirty="0">
              <a:latin typeface="Trebuchet MS" panose="020B0603020202020204" pitchFamily="34" charset="0"/>
            </a:endParaRPr>
          </a:p>
          <a:p>
            <a:r>
              <a:rPr lang="en-US" sz="2200" dirty="0">
                <a:latin typeface="Trebuchet MS" panose="020B0603020202020204" pitchFamily="34" charset="0"/>
              </a:rPr>
              <a:t>But this approach can detect distraction only in the static frames drivers </a:t>
            </a:r>
            <a:r>
              <a:rPr lang="en-IN" sz="2200" dirty="0" err="1">
                <a:latin typeface="Trebuchet MS" panose="020B0603020202020204" pitchFamily="34" charset="0"/>
              </a:rPr>
              <a:t>behavior</a:t>
            </a:r>
            <a:r>
              <a:rPr lang="en-IN" sz="2200" dirty="0">
                <a:latin typeface="Trebuchet MS" panose="020B0603020202020204" pitchFamily="34" charset="0"/>
              </a:rPr>
              <a:t> changes over time.</a:t>
            </a:r>
          </a:p>
          <a:p>
            <a:r>
              <a:rPr lang="en-US" sz="2200" b="1" dirty="0">
                <a:latin typeface="Trebuchet MS" panose="020B0603020202020204" pitchFamily="34" charset="0"/>
              </a:rPr>
              <a:t>Need for Improvement</a:t>
            </a:r>
          </a:p>
          <a:p>
            <a:r>
              <a:rPr lang="en-US" sz="2200" dirty="0">
                <a:latin typeface="Trebuchet MS" panose="020B0603020202020204" pitchFamily="34" charset="0"/>
              </a:rPr>
              <a:t>Driver behavior is time-dependent</a:t>
            </a:r>
          </a:p>
          <a:p>
            <a:r>
              <a:rPr lang="en-US" sz="2200" dirty="0">
                <a:latin typeface="Trebuchet MS" panose="020B0603020202020204" pitchFamily="34" charset="0"/>
              </a:rPr>
              <a:t>Fatigue and distraction occur as sequences</a:t>
            </a:r>
          </a:p>
          <a:p>
            <a:r>
              <a:rPr lang="en-US" sz="2200" dirty="0">
                <a:latin typeface="Trebuchet MS" panose="020B0603020202020204" pitchFamily="34" charset="0"/>
              </a:rPr>
              <a:t>Frame-based detection is insufficient</a:t>
            </a:r>
          </a:p>
          <a:p>
            <a:endParaRPr lang="en-US" sz="2200" dirty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rebuchet MS" panose="020B0603020202020204" pitchFamily="34" charset="0"/>
            </a:endParaRPr>
          </a:p>
          <a:p>
            <a:endParaRPr lang="en-US" sz="2200" dirty="0">
              <a:latin typeface="Trebuchet MS" panose="020B0603020202020204" pitchFamily="34" charset="0"/>
            </a:endParaRP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endParaRPr lang="en-US" sz="2200" dirty="0">
              <a:solidFill>
                <a:srgbClr val="0033CC"/>
              </a:solidFill>
              <a:latin typeface="Trebuchet MS" panose="020B0603020202020204" pitchFamily="34" charset="0"/>
            </a:endParaRPr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="" xmlns:a16="http://schemas.microsoft.com/office/drawing/2014/main" id="{CB5345BB-3284-F75B-0BA3-013ACC727E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608168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 descr="Generated image">
            <a:extLst>
              <a:ext uri="{FF2B5EF4-FFF2-40B4-BE49-F238E27FC236}">
                <a16:creationId xmlns="" xmlns:a16="http://schemas.microsoft.com/office/drawing/2014/main" id="{00B58002-1991-2464-F7BC-6C0C99A35D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4724400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Generated image">
            <a:extLst>
              <a:ext uri="{FF2B5EF4-FFF2-40B4-BE49-F238E27FC236}">
                <a16:creationId xmlns="" xmlns:a16="http://schemas.microsoft.com/office/drawing/2014/main" id="{A8A9F111-3268-54D1-FA0C-FD8C3A12ADF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0B06AF54-A273-42C7-E5F5-6F0AD1C903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44" y="1338841"/>
            <a:ext cx="6336704" cy="4224469"/>
          </a:xfrm>
          <a:prstGeom prst="rect">
            <a:avLst/>
          </a:prstGeom>
        </p:spPr>
      </p:pic>
      <p:sp>
        <p:nvSpPr>
          <p:cNvPr id="5" name="AutoShape 4" descr="Generated image">
            <a:extLst>
              <a:ext uri="{FF2B5EF4-FFF2-40B4-BE49-F238E27FC236}">
                <a16:creationId xmlns="" xmlns:a16="http://schemas.microsoft.com/office/drawing/2014/main" id="{21D2935F-A6E3-DFA9-61C9-83CD199BFC5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E07CF632-0416-04B3-C3FB-D45009EB06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270" y="1346301"/>
            <a:ext cx="5716338" cy="381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560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>
          <a:extLst>
            <a:ext uri="{FF2B5EF4-FFF2-40B4-BE49-F238E27FC236}">
              <a16:creationId xmlns="" xmlns:a16="http://schemas.microsoft.com/office/drawing/2014/main" id="{D26EB642-0402-870C-8EA1-C765E865B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>
            <a:extLst>
              <a:ext uri="{FF2B5EF4-FFF2-40B4-BE49-F238E27FC236}">
                <a16:creationId xmlns="" xmlns:a16="http://schemas.microsoft.com/office/drawing/2014/main" id="{1FF32AA7-88E6-B6E1-0DD9-699C3621345A}"/>
              </a:ext>
            </a:extLst>
          </p:cNvPr>
          <p:cNvSpPr/>
          <p:nvPr/>
        </p:nvSpPr>
        <p:spPr>
          <a:xfrm>
            <a:off x="3048000" y="1581150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>
            <a:extLst>
              <a:ext uri="{FF2B5EF4-FFF2-40B4-BE49-F238E27FC236}">
                <a16:creationId xmlns="" xmlns:a16="http://schemas.microsoft.com/office/drawing/2014/main" id="{6B35FCF7-E413-888C-DCE0-FB44D5A97844}"/>
              </a:ext>
            </a:extLst>
          </p:cNvPr>
          <p:cNvSpPr txBox="1"/>
          <p:nvPr/>
        </p:nvSpPr>
        <p:spPr>
          <a:xfrm>
            <a:off x="2895600" y="1143000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Proposed System / Approach</a:t>
            </a:r>
            <a:endParaRPr lang="en-US" sz="2400" dirty="0"/>
          </a:p>
        </p:txBody>
      </p:sp>
      <p:sp>
        <p:nvSpPr>
          <p:cNvPr id="54" name="Google Shape;54;p7">
            <a:extLst>
              <a:ext uri="{FF2B5EF4-FFF2-40B4-BE49-F238E27FC236}">
                <a16:creationId xmlns="" xmlns:a16="http://schemas.microsoft.com/office/drawing/2014/main" id="{EBEBCAF6-1641-1FF8-1CB7-B41EA17B8E63}"/>
              </a:ext>
            </a:extLst>
          </p:cNvPr>
          <p:cNvSpPr txBox="1"/>
          <p:nvPr/>
        </p:nvSpPr>
        <p:spPr>
          <a:xfrm>
            <a:off x="1703512" y="1791525"/>
            <a:ext cx="9721080" cy="4588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2400" b="1" dirty="0">
                <a:latin typeface="Trebuchet MS" panose="020B0603020202020204" pitchFamily="34" charset="0"/>
              </a:rPr>
              <a:t>Hybrid Approach :</a:t>
            </a:r>
          </a:p>
          <a:p>
            <a:r>
              <a:rPr lang="en-US" sz="2400" dirty="0">
                <a:latin typeface="Trebuchet MS" panose="020B0603020202020204" pitchFamily="34" charset="0"/>
              </a:rPr>
              <a:t>Added LSTM for temporal modeling</a:t>
            </a:r>
          </a:p>
          <a:p>
            <a:r>
              <a:rPr lang="en-US" sz="2400" dirty="0">
                <a:latin typeface="Trebuchet MS" panose="020B0603020202020204" pitchFamily="34" charset="0"/>
              </a:rPr>
              <a:t>Combines spatial + time-based features</a:t>
            </a:r>
          </a:p>
          <a:p>
            <a:r>
              <a:rPr lang="en-US" sz="2400" dirty="0">
                <a:latin typeface="Trebuchet MS" panose="020B0603020202020204" pitchFamily="34" charset="0"/>
              </a:rPr>
              <a:t>Enables real-time anomaly detection</a:t>
            </a:r>
          </a:p>
          <a:p>
            <a:endParaRPr lang="en-US" sz="2400" dirty="0">
              <a:latin typeface="Trebuchet MS" panose="020B0603020202020204" pitchFamily="34" charset="0"/>
            </a:endParaRPr>
          </a:p>
          <a:p>
            <a:r>
              <a:rPr lang="en-US" sz="2400" b="1" dirty="0">
                <a:latin typeface="Trebuchet MS" panose="020B0603020202020204" pitchFamily="34" charset="0"/>
              </a:rPr>
              <a:t>Benefits :</a:t>
            </a:r>
            <a:endParaRPr lang="en-US" sz="2400" dirty="0">
              <a:latin typeface="Trebuchet MS" panose="020B0603020202020204" pitchFamily="34" charset="0"/>
            </a:endParaRPr>
          </a:p>
          <a:p>
            <a:r>
              <a:rPr lang="en-US" sz="2400" dirty="0">
                <a:latin typeface="Trebuchet MS" panose="020B0603020202020204" pitchFamily="34" charset="0"/>
              </a:rPr>
              <a:t>Higher detection accuracy</a:t>
            </a:r>
          </a:p>
          <a:p>
            <a:r>
              <a:rPr lang="en-US" sz="2400" dirty="0">
                <a:latin typeface="Trebuchet MS" panose="020B0603020202020204" pitchFamily="34" charset="0"/>
              </a:rPr>
              <a:t>Captures fatigue progression</a:t>
            </a:r>
          </a:p>
          <a:p>
            <a:r>
              <a:rPr lang="en-US" sz="2400" dirty="0">
                <a:latin typeface="Trebuchet MS" panose="020B0603020202020204" pitchFamily="34" charset="0"/>
              </a:rPr>
              <a:t>Real-time monitoring</a:t>
            </a: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endParaRPr lang="en-US" sz="24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8393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3048000" y="1245113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2783632" y="801713"/>
            <a:ext cx="777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r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rgbClr val="FF0000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</a:t>
            </a:r>
            <a:endParaRPr lang="en-US" sz="2400" dirty="0"/>
          </a:p>
        </p:txBody>
      </p:sp>
      <p:sp>
        <p:nvSpPr>
          <p:cNvPr id="54" name="Google Shape;54;p7"/>
          <p:cNvSpPr txBox="1"/>
          <p:nvPr/>
        </p:nvSpPr>
        <p:spPr>
          <a:xfrm>
            <a:off x="2114900" y="1791525"/>
            <a:ext cx="8553100" cy="3777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just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</a:pP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53574BB9-E6CC-BB83-DE65-4B8A7CD92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84" y="1921820"/>
            <a:ext cx="10488488" cy="417321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="" xmlns:a16="http://schemas.microsoft.com/office/drawing/2014/main" id="{326688A1-C940-6F9B-35C7-2CAABC0DA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>
            <a:extLst>
              <a:ext uri="{FF2B5EF4-FFF2-40B4-BE49-F238E27FC236}">
                <a16:creationId xmlns="" xmlns:a16="http://schemas.microsoft.com/office/drawing/2014/main" id="{023D5034-4211-169A-8A29-EF65C53F169D}"/>
              </a:ext>
            </a:extLst>
          </p:cNvPr>
          <p:cNvSpPr/>
          <p:nvPr/>
        </p:nvSpPr>
        <p:spPr>
          <a:xfrm>
            <a:off x="3048000" y="1581151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>
            <a:extLst>
              <a:ext uri="{FF2B5EF4-FFF2-40B4-BE49-F238E27FC236}">
                <a16:creationId xmlns="" xmlns:a16="http://schemas.microsoft.com/office/drawing/2014/main" id="{64F8F539-C2E5-75D1-8DE8-34D0AF5F4582}"/>
              </a:ext>
            </a:extLst>
          </p:cNvPr>
          <p:cNvSpPr txBox="1"/>
          <p:nvPr/>
        </p:nvSpPr>
        <p:spPr>
          <a:xfrm>
            <a:off x="2971800" y="1084906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</a:pPr>
            <a:r>
              <a:rPr lang="en-US" sz="2400" dirty="0">
                <a:solidFill>
                  <a:srgbClr val="FF0000"/>
                </a:solidFill>
                <a:latin typeface="Trebuchet MS"/>
                <a:sym typeface="Trebuchet MS"/>
              </a:rPr>
              <a:t>		                               Master class diagram </a:t>
            </a:r>
          </a:p>
        </p:txBody>
      </p:sp>
      <p:sp>
        <p:nvSpPr>
          <p:cNvPr id="62" name="Google Shape;62;p8">
            <a:extLst>
              <a:ext uri="{FF2B5EF4-FFF2-40B4-BE49-F238E27FC236}">
                <a16:creationId xmlns="" xmlns:a16="http://schemas.microsoft.com/office/drawing/2014/main" id="{39E989DE-945B-4781-0E92-BAE335A257DC}"/>
              </a:ext>
            </a:extLst>
          </p:cNvPr>
          <p:cNvSpPr txBox="1"/>
          <p:nvPr/>
        </p:nvSpPr>
        <p:spPr>
          <a:xfrm>
            <a:off x="1991544" y="1617664"/>
            <a:ext cx="9019350" cy="47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</a:pPr>
            <a:endParaRPr lang="en-US" sz="24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endParaRPr lang="en-US" sz="2400" dirty="0">
              <a:solidFill>
                <a:srgbClr val="0033CC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7BD2F144-B10B-78C3-1020-BC80EA0CBA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295" y="1772816"/>
            <a:ext cx="6042921" cy="486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065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="" xmlns:a16="http://schemas.microsoft.com/office/drawing/2014/main" id="{53D6B453-0098-F192-E128-5D4C60CD8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>
            <a:extLst>
              <a:ext uri="{FF2B5EF4-FFF2-40B4-BE49-F238E27FC236}">
                <a16:creationId xmlns="" xmlns:a16="http://schemas.microsoft.com/office/drawing/2014/main" id="{B92E5706-24DA-9BC2-C369-794A738F8D03}"/>
              </a:ext>
            </a:extLst>
          </p:cNvPr>
          <p:cNvSpPr/>
          <p:nvPr/>
        </p:nvSpPr>
        <p:spPr>
          <a:xfrm>
            <a:off x="3048000" y="1581151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>
            <a:extLst>
              <a:ext uri="{FF2B5EF4-FFF2-40B4-BE49-F238E27FC236}">
                <a16:creationId xmlns="" xmlns:a16="http://schemas.microsoft.com/office/drawing/2014/main" id="{8A89E7A9-1E6D-B41E-F09E-654F1E4095FF}"/>
              </a:ext>
            </a:extLst>
          </p:cNvPr>
          <p:cNvSpPr txBox="1"/>
          <p:nvPr/>
        </p:nvSpPr>
        <p:spPr>
          <a:xfrm>
            <a:off x="3048000" y="1077919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</a:pPr>
            <a:r>
              <a:rPr lang="en-US" sz="2400" dirty="0">
                <a:solidFill>
                  <a:srgbClr val="0033CC"/>
                </a:solidFill>
                <a:latin typeface="Trebuchet MS"/>
                <a:sym typeface="Trebuchet MS"/>
              </a:rPr>
              <a:t>						     </a:t>
            </a:r>
            <a:r>
              <a:rPr lang="en-US" sz="2400" dirty="0">
                <a:solidFill>
                  <a:srgbClr val="FF0000"/>
                </a:solidFill>
                <a:latin typeface="Trebuchet MS"/>
                <a:sym typeface="Trebuchet MS"/>
              </a:rPr>
              <a:t>ER Diagram</a:t>
            </a:r>
          </a:p>
        </p:txBody>
      </p:sp>
      <p:sp>
        <p:nvSpPr>
          <p:cNvPr id="62" name="Google Shape;62;p8">
            <a:extLst>
              <a:ext uri="{FF2B5EF4-FFF2-40B4-BE49-F238E27FC236}">
                <a16:creationId xmlns="" xmlns:a16="http://schemas.microsoft.com/office/drawing/2014/main" id="{E4136F4F-1011-3D72-9713-1C05A4C4EE6E}"/>
              </a:ext>
            </a:extLst>
          </p:cNvPr>
          <p:cNvSpPr txBox="1"/>
          <p:nvPr/>
        </p:nvSpPr>
        <p:spPr>
          <a:xfrm>
            <a:off x="2029650" y="1617675"/>
            <a:ext cx="9019350" cy="47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Arial"/>
              <a:buAutoNum type="arabicPeriod"/>
            </a:pPr>
            <a:endParaRPr lang="en-US" sz="2400" dirty="0">
              <a:solidFill>
                <a:srgbClr val="0033CC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4501D313-3148-4604-FEF5-1D7D751D07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632" y="1700808"/>
            <a:ext cx="7272808" cy="487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0456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="" xmlns:a16="http://schemas.microsoft.com/office/drawing/2014/main" id="{ECD0582B-9C8C-BA73-0D3B-1D988C622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>
            <a:extLst>
              <a:ext uri="{FF2B5EF4-FFF2-40B4-BE49-F238E27FC236}">
                <a16:creationId xmlns="" xmlns:a16="http://schemas.microsoft.com/office/drawing/2014/main" id="{DB7F4A6B-CB17-3273-3CBE-72C5A3A02A1B}"/>
              </a:ext>
            </a:extLst>
          </p:cNvPr>
          <p:cNvSpPr/>
          <p:nvPr/>
        </p:nvSpPr>
        <p:spPr>
          <a:xfrm>
            <a:off x="3048000" y="1581151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>
            <a:extLst>
              <a:ext uri="{FF2B5EF4-FFF2-40B4-BE49-F238E27FC236}">
                <a16:creationId xmlns="" xmlns:a16="http://schemas.microsoft.com/office/drawing/2014/main" id="{BE5EFC5A-C3D5-7B43-EF58-1ADE132C4CBA}"/>
              </a:ext>
            </a:extLst>
          </p:cNvPr>
          <p:cNvSpPr txBox="1"/>
          <p:nvPr/>
        </p:nvSpPr>
        <p:spPr>
          <a:xfrm>
            <a:off x="3039414" y="1078439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</a:pPr>
            <a:r>
              <a:rPr lang="en-US" sz="2400" dirty="0">
                <a:solidFill>
                  <a:srgbClr val="FF0000"/>
                </a:solidFill>
                <a:latin typeface="Trebuchet MS"/>
                <a:sym typeface="Trebuchet MS"/>
              </a:rPr>
              <a:t>                                                      Use Case Diagrams</a:t>
            </a:r>
          </a:p>
        </p:txBody>
      </p:sp>
      <p:sp>
        <p:nvSpPr>
          <p:cNvPr id="62" name="Google Shape;62;p8">
            <a:extLst>
              <a:ext uri="{FF2B5EF4-FFF2-40B4-BE49-F238E27FC236}">
                <a16:creationId xmlns="" xmlns:a16="http://schemas.microsoft.com/office/drawing/2014/main" id="{A2632824-0BBF-B50F-DC4C-99F257D02281}"/>
              </a:ext>
            </a:extLst>
          </p:cNvPr>
          <p:cNvSpPr txBox="1"/>
          <p:nvPr/>
        </p:nvSpPr>
        <p:spPr>
          <a:xfrm>
            <a:off x="2029650" y="1617675"/>
            <a:ext cx="9019350" cy="47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</a:pPr>
            <a:endParaRPr lang="en-US" sz="2400" dirty="0">
              <a:solidFill>
                <a:srgbClr val="0033CC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99731A8-5480-89D4-22C2-D5AE162004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704" y="1772816"/>
            <a:ext cx="5688632" cy="492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3098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048000" y="1581151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 txBox="1"/>
          <p:nvPr/>
        </p:nvSpPr>
        <p:spPr>
          <a:xfrm>
            <a:off x="2971800" y="1100809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</a:pPr>
            <a:r>
              <a:rPr lang="en-US" sz="2400" dirty="0">
                <a:solidFill>
                  <a:srgbClr val="FF0000"/>
                </a:solidFill>
                <a:latin typeface="Trebuchet MS"/>
                <a:sym typeface="Trebuchet MS"/>
              </a:rPr>
              <a:t>			                        External Interfaces</a:t>
            </a:r>
          </a:p>
        </p:txBody>
      </p:sp>
      <p:sp>
        <p:nvSpPr>
          <p:cNvPr id="62" name="Google Shape;62;p8"/>
          <p:cNvSpPr txBox="1"/>
          <p:nvPr/>
        </p:nvSpPr>
        <p:spPr>
          <a:xfrm>
            <a:off x="2063552" y="1617664"/>
            <a:ext cx="9019350" cy="47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just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ct val="80000"/>
            </a:pPr>
            <a:endParaRPr lang="en-US" sz="2400" dirty="0">
              <a:solidFill>
                <a:srgbClr val="0033CC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9A488E22-D63D-55ED-4715-B2179939DE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608" y="2008144"/>
            <a:ext cx="7315215" cy="374904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 flipV="1">
            <a:off x="1199456" y="1617668"/>
            <a:ext cx="9468544" cy="45719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140888" y="1156003"/>
            <a:ext cx="85324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FF0000"/>
                </a:solidFill>
                <a:latin typeface="Trebuchet MS"/>
              </a:rPr>
              <a:t>Capstone (Phase-I ,Phase-II and phase -III) Project Timeline</a:t>
            </a:r>
            <a:endParaRPr lang="en-US" sz="2400" dirty="0">
              <a:solidFill>
                <a:srgbClr val="FF0000"/>
              </a:solidFill>
              <a:latin typeface="Trebuchet M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1199456" y="1988840"/>
            <a:ext cx="9601200" cy="3884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000FF"/>
                </a:solidFill>
                <a:latin typeface="Trebuchet MS" panose="020B0603020202020204" pitchFamily="34" charset="0"/>
              </a:rPr>
              <a:t>Phase-I → Research &amp; Baseline Development :</a:t>
            </a:r>
          </a:p>
          <a:p>
            <a:endParaRPr lang="en-US" sz="2200" b="1" dirty="0">
              <a:latin typeface="Trebuchet MS" panose="020B0603020202020204" pitchFamily="34" charset="0"/>
            </a:endParaRPr>
          </a:p>
          <a:p>
            <a:r>
              <a:rPr lang="en-US" sz="2200" b="1" dirty="0">
                <a:latin typeface="Trebuchet MS" panose="020B0603020202020204" pitchFamily="34" charset="0"/>
              </a:rPr>
              <a:t>Activities:</a:t>
            </a:r>
            <a:endParaRPr lang="en-US" sz="2200" dirty="0">
              <a:latin typeface="Trebuchet MS" panose="020B06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Collect and preprocess datasets (e.g., State Farm Dataset).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Perform literature survey &amp; problem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Build baseline anomaly detection models: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Simple CNN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Perform initial feature extraction &amp; preprocessing.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Establish performance baseline metrics.</a:t>
            </a:r>
          </a:p>
          <a:p>
            <a:pPr marL="1077913" lvl="1" indent="-265113" algn="just" eaLnBrk="0" hangingPunct="0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IN" sz="2200" dirty="0">
              <a:solidFill>
                <a:srgbClr val="0033CC"/>
              </a:solidFill>
              <a:latin typeface="Trebuchet MS" panose="020B0603020202020204" pitchFamily="34" charset="0"/>
            </a:endParaRPr>
          </a:p>
          <a:p>
            <a:pPr marL="1077913" lvl="1" indent="-265113" algn="just" eaLnBrk="0" hangingPunct="0">
              <a:spcBef>
                <a:spcPct val="20000"/>
              </a:spcBef>
              <a:defRPr/>
            </a:pPr>
            <a:endParaRPr lang="en-IN" sz="2200" dirty="0">
              <a:solidFill>
                <a:srgbClr val="0000FF"/>
              </a:solidFill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9404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 flipV="1">
            <a:off x="839416" y="1617668"/>
            <a:ext cx="9828584" cy="45719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279576" y="1165360"/>
            <a:ext cx="84646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FF0000"/>
                </a:solidFill>
                <a:latin typeface="Trebuchet MS"/>
              </a:rPr>
              <a:t>Capstone (Phase-I ,Phase-II and phase -III) Project Timeline</a:t>
            </a:r>
            <a:endParaRPr lang="en-US" sz="2400" dirty="0">
              <a:solidFill>
                <a:srgbClr val="FF0000"/>
              </a:solidFill>
              <a:latin typeface="Trebuchet M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407368" y="1971974"/>
            <a:ext cx="662473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FF"/>
                </a:solidFill>
                <a:latin typeface="Trebuchet MS" panose="020B0603020202020204" pitchFamily="34" charset="0"/>
              </a:rPr>
              <a:t>Phase-II → Model Development &amp; System Integration :</a:t>
            </a:r>
          </a:p>
          <a:p>
            <a:endParaRPr lang="en-US" sz="2000" b="1" dirty="0">
              <a:latin typeface="Trebuchet MS" panose="020B0603020202020204" pitchFamily="34" charset="0"/>
            </a:endParaRPr>
          </a:p>
          <a:p>
            <a:r>
              <a:rPr lang="en-US" sz="2000" b="1" dirty="0">
                <a:latin typeface="Trebuchet MS" panose="020B0603020202020204" pitchFamily="34" charset="0"/>
              </a:rPr>
              <a:t>Activities:</a:t>
            </a:r>
            <a:endParaRPr lang="en-US" sz="2000" dirty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rebuchet MS" panose="020B0603020202020204" pitchFamily="34" charset="0"/>
              </a:rPr>
              <a:t>Design multi-modal deep learning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rebuchet MS" panose="020B0603020202020204" pitchFamily="34" charset="0"/>
              </a:rPr>
              <a:t>Train and optimize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rebuchet MS" panose="020B0603020202020204" pitchFamily="34" charset="0"/>
              </a:rPr>
              <a:t>Evaluate using metrics: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rebuchet MS" panose="020B0603020202020204" pitchFamily="34" charset="0"/>
              </a:rPr>
              <a:t>Accuracy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rebuchet MS" panose="020B0603020202020204" pitchFamily="34" charset="0"/>
              </a:rPr>
              <a:t>Precision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rebuchet MS" panose="020B0603020202020204" pitchFamily="34" charset="0"/>
              </a:rPr>
              <a:t>Recall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rebuchet MS" panose="020B0603020202020204" pitchFamily="34" charset="0"/>
              </a:rPr>
              <a:t>F1-Score</a:t>
            </a:r>
          </a:p>
          <a:p>
            <a:endParaRPr lang="en-US" sz="2000" dirty="0">
              <a:latin typeface="Trebuchet MS" panose="020B0603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23992" y="2564904"/>
            <a:ext cx="54534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000" dirty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rebuchet MS" panose="020B0603020202020204" pitchFamily="34" charset="0"/>
              </a:rPr>
              <a:t>Implement real-time monitoring (latency &lt; 100 </a:t>
            </a:r>
            <a:r>
              <a:rPr lang="en-US" sz="2000" dirty="0" err="1">
                <a:latin typeface="Trebuchet MS" panose="020B0603020202020204" pitchFamily="34" charset="0"/>
              </a:rPr>
              <a:t>ms</a:t>
            </a:r>
            <a:r>
              <a:rPr lang="en-US" sz="2000" dirty="0">
                <a:latin typeface="Trebuchet MS" panose="020B0603020202020204" pitchFamily="34" charset="0"/>
              </a:rPr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rebuchet MS" panose="020B0603020202020204" pitchFamily="34" charset="0"/>
              </a:rPr>
              <a:t>Add alert mechanisms: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rebuchet MS" panose="020B0603020202020204" pitchFamily="34" charset="0"/>
              </a:rPr>
              <a:t>Buzzer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rebuchet MS" panose="020B0603020202020204" pitchFamily="34" charset="0"/>
              </a:rPr>
              <a:t>Screen alert</a:t>
            </a:r>
          </a:p>
        </p:txBody>
      </p:sp>
    </p:spTree>
    <p:extLst>
      <p:ext uri="{BB962C8B-B14F-4D97-AF65-F5344CB8AC3E}">
        <p14:creationId xmlns:p14="http://schemas.microsoft.com/office/powerpoint/2010/main" val="21106569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 flipV="1">
            <a:off x="1271464" y="1617668"/>
            <a:ext cx="9396536" cy="45719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1703512" y="1174595"/>
            <a:ext cx="90406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FF0000"/>
                </a:solidFill>
                <a:latin typeface="Trebuchet MS"/>
              </a:rPr>
              <a:t>Capstone (Phase-I ,Phase-II and phase -III) Project Timeline</a:t>
            </a:r>
            <a:endParaRPr lang="en-US" sz="2400" dirty="0">
              <a:solidFill>
                <a:srgbClr val="FF0000"/>
              </a:solidFill>
              <a:latin typeface="Trebuchet M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1271464" y="2132856"/>
            <a:ext cx="784887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0000FF"/>
                </a:solidFill>
                <a:latin typeface="Trebuchet MS" panose="020B0603020202020204" pitchFamily="34" charset="0"/>
              </a:rPr>
              <a:t>Phase-III → Deployment &amp; Final Validation :</a:t>
            </a:r>
            <a:endParaRPr lang="en-US" sz="2200" b="1" dirty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rebuchet MS" panose="020B0603020202020204" pitchFamily="34" charset="0"/>
              </a:rPr>
              <a:t>Activities:</a:t>
            </a:r>
            <a:endParaRPr lang="en-US" sz="2200" dirty="0">
              <a:latin typeface="Trebuchet MS" panose="020B0603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Deploy anomaly detection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Perform live testing &amp; validation.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Optimize performance &amp; stability.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Conduct final system evaluation.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Prepare deliverables: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Final documentation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Project report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Publication paper(s)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Trebuchet MS" panose="020B0603020202020204" pitchFamily="34" charset="0"/>
              </a:rPr>
              <a:t>Presentation &amp; demo</a:t>
            </a:r>
          </a:p>
        </p:txBody>
      </p:sp>
    </p:spTree>
    <p:extLst>
      <p:ext uri="{BB962C8B-B14F-4D97-AF65-F5344CB8AC3E}">
        <p14:creationId xmlns:p14="http://schemas.microsoft.com/office/powerpoint/2010/main" val="353063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276600" y="1404151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3200400" y="942486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dirty="0">
                <a:solidFill>
                  <a:srgbClr val="FF0000"/>
                </a:solidFill>
                <a:latin typeface="Trebuchet MS"/>
              </a:rPr>
              <a:t>Capstone Project Timeline</a:t>
            </a:r>
            <a:endParaRPr lang="en-US" sz="2400" dirty="0">
              <a:solidFill>
                <a:srgbClr val="FF0000"/>
              </a:solidFill>
              <a:latin typeface="Trebuchet MS"/>
            </a:endParaRPr>
          </a:p>
        </p:txBody>
      </p:sp>
      <p:graphicFrame>
        <p:nvGraphicFramePr>
          <p:cNvPr id="48" name="Content Placeholder 47"/>
          <p:cNvGraphicFramePr>
            <a:graphicFrameLocks noGrp="1"/>
          </p:cNvGraphicFramePr>
          <p:nvPr>
            <p:ph idx="1"/>
          </p:nvPr>
        </p:nvGraphicFramePr>
        <p:xfrm>
          <a:off x="914400" y="1825624"/>
          <a:ext cx="11201400" cy="4803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1581213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43600" y="1199057"/>
            <a:ext cx="105156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93415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0000"/>
                </a:solidFill>
                <a:latin typeface="Trebuchet MS" panose="020B0603020202020204" pitchFamily="34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8D4AC5B-6B65-AEC2-EFEB-D9573523772D}"/>
              </a:ext>
            </a:extLst>
          </p:cNvPr>
          <p:cNvSpPr txBox="1"/>
          <p:nvPr/>
        </p:nvSpPr>
        <p:spPr>
          <a:xfrm>
            <a:off x="1371600" y="2133600"/>
            <a:ext cx="9829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rebuchet MS" panose="020B0603020202020204" pitchFamily="34" charset="0"/>
              </a:rPr>
              <a:t>The project </a:t>
            </a:r>
            <a:r>
              <a:rPr lang="en-US" b="1" i="1" dirty="0">
                <a:latin typeface="Trebuchet MS" panose="020B0603020202020204" pitchFamily="34" charset="0"/>
              </a:rPr>
              <a:t>“Driver Behavior Anomaly Detection using Deep Learning ”</a:t>
            </a:r>
            <a:r>
              <a:rPr lang="en-US" b="1" dirty="0">
                <a:latin typeface="Trebuchet MS" panose="020B0603020202020204" pitchFamily="34" charset="0"/>
              </a:rPr>
              <a:t> lays the foundation for an intelligent system that detects unsafe driver behaviors like drowsiness, distraction, and rash driving using CNN and LSTM models.</a:t>
            </a:r>
            <a:br>
              <a:rPr lang="en-US" b="1" dirty="0">
                <a:latin typeface="Trebuchet MS" panose="020B0603020202020204" pitchFamily="34" charset="0"/>
              </a:rPr>
            </a:br>
            <a:r>
              <a:rPr lang="en-US" b="1" dirty="0">
                <a:latin typeface="Trebuchet MS" panose="020B0603020202020204" pitchFamily="34" charset="0"/>
              </a:rPr>
              <a:t>By analyzing real-time data, it enhances road safety and minimizes human error.</a:t>
            </a:r>
            <a:br>
              <a:rPr lang="en-US" b="1" dirty="0">
                <a:latin typeface="Trebuchet MS" panose="020B0603020202020204" pitchFamily="34" charset="0"/>
              </a:rPr>
            </a:br>
            <a:r>
              <a:rPr lang="en-US" b="1" dirty="0">
                <a:latin typeface="Trebuchet MS" panose="020B0603020202020204" pitchFamily="34" charset="0"/>
              </a:rPr>
              <a:t>Future improvements include integrating multi-modal data, lightweight on-device models, and explainable AI to build safer and smarter transportation systems.</a:t>
            </a:r>
            <a:endParaRPr lang="en-IN" b="1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References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828800" y="1828799"/>
            <a:ext cx="8610600" cy="4919659"/>
          </a:xfrm>
          <a:prstGeom prst="rect">
            <a:avLst/>
          </a:prstGeom>
        </p:spPr>
        <p:txBody>
          <a:bodyPr/>
          <a:lstStyle/>
          <a:p>
            <a:pPr marL="342900" indent="12700" algn="l" eaLnBrk="0" hangingPunct="0">
              <a:spcBef>
                <a:spcPct val="20000"/>
              </a:spcBef>
              <a:defRPr/>
            </a:pPr>
            <a:r>
              <a:rPr lang="en-IN" b="1" dirty="0">
                <a:latin typeface="Trebuchet MS" pitchFamily="34" charset="0"/>
              </a:rPr>
              <a:t>[1] M. A. Uddin et al., “Abnormal Driving </a:t>
            </a:r>
            <a:r>
              <a:rPr lang="en-IN" b="1" dirty="0" err="1">
                <a:latin typeface="Trebuchet MS" pitchFamily="34" charset="0"/>
              </a:rPr>
              <a:t>Behavior</a:t>
            </a:r>
            <a:r>
              <a:rPr lang="en-IN" b="1" dirty="0">
                <a:latin typeface="Trebuchet MS" pitchFamily="34" charset="0"/>
              </a:rPr>
              <a:t> Detection: A Machine and Deep Learning Based Hybrid Model,” Int. J. </a:t>
            </a:r>
            <a:r>
              <a:rPr lang="en-IN" b="1" dirty="0" err="1">
                <a:latin typeface="Trebuchet MS" pitchFamily="34" charset="0"/>
              </a:rPr>
              <a:t>Intell</a:t>
            </a:r>
            <a:r>
              <a:rPr lang="en-IN" b="1" dirty="0">
                <a:latin typeface="Trebuchet MS" pitchFamily="34" charset="0"/>
              </a:rPr>
              <a:t>. Transp. Syst. Res., 2025.</a:t>
            </a:r>
          </a:p>
          <a:p>
            <a:pPr marL="342900" indent="12700" algn="l" eaLnBrk="0" hangingPunct="0">
              <a:spcBef>
                <a:spcPct val="20000"/>
              </a:spcBef>
              <a:defRPr/>
            </a:pPr>
            <a:endParaRPr lang="en-IN" b="1" dirty="0">
              <a:latin typeface="Trebuchet MS" pitchFamily="34" charset="0"/>
            </a:endParaRPr>
          </a:p>
          <a:p>
            <a:pPr marL="342900" indent="12700" algn="l" eaLnBrk="0" hangingPunct="0">
              <a:spcBef>
                <a:spcPct val="20000"/>
              </a:spcBef>
              <a:defRPr/>
            </a:pPr>
            <a:r>
              <a:rPr lang="en-IN" b="1" dirty="0">
                <a:latin typeface="Trebuchet MS" pitchFamily="34" charset="0"/>
              </a:rPr>
              <a:t>[2] E. </a:t>
            </a:r>
            <a:r>
              <a:rPr lang="en-IN" b="1" dirty="0" err="1">
                <a:latin typeface="Trebuchet MS" pitchFamily="34" charset="0"/>
              </a:rPr>
              <a:t>Civik</a:t>
            </a:r>
            <a:r>
              <a:rPr lang="en-IN" b="1" dirty="0">
                <a:latin typeface="Trebuchet MS" pitchFamily="34" charset="0"/>
              </a:rPr>
              <a:t> and U. </a:t>
            </a:r>
            <a:r>
              <a:rPr lang="en-IN" b="1" dirty="0" err="1">
                <a:latin typeface="Trebuchet MS" pitchFamily="34" charset="0"/>
              </a:rPr>
              <a:t>Yuzgec</a:t>
            </a:r>
            <a:r>
              <a:rPr lang="en-IN" b="1" dirty="0">
                <a:latin typeface="Trebuchet MS" pitchFamily="34" charset="0"/>
              </a:rPr>
              <a:t>, “Real-Time Driver Fatigue Detection System with Deep Learning on a Low-Cost Embedded System,” Microprocessors </a:t>
            </a:r>
            <a:r>
              <a:rPr lang="en-IN" b="1" dirty="0" err="1">
                <a:latin typeface="Trebuchet MS" pitchFamily="34" charset="0"/>
              </a:rPr>
              <a:t>Microsyst</a:t>
            </a:r>
            <a:r>
              <a:rPr lang="en-IN" b="1" dirty="0">
                <a:latin typeface="Trebuchet MS" pitchFamily="34" charset="0"/>
              </a:rPr>
              <a:t>., 2023.</a:t>
            </a:r>
          </a:p>
          <a:p>
            <a:pPr marL="342900" indent="12700" algn="l" eaLnBrk="0" hangingPunct="0">
              <a:spcBef>
                <a:spcPct val="20000"/>
              </a:spcBef>
              <a:defRPr/>
            </a:pPr>
            <a:endParaRPr lang="en-IN" b="1" kern="0" dirty="0">
              <a:latin typeface="Trebuchet MS" pitchFamily="34" charset="0"/>
            </a:endParaRPr>
          </a:p>
          <a:p>
            <a:pPr marL="342900" indent="12700" algn="l" eaLnBrk="0" hangingPunct="0">
              <a:spcBef>
                <a:spcPct val="20000"/>
              </a:spcBef>
              <a:defRPr/>
            </a:pPr>
            <a:r>
              <a:rPr lang="en-IN" b="1" dirty="0">
                <a:latin typeface="Trebuchet MS" pitchFamily="34" charset="0"/>
              </a:rPr>
              <a:t>[3] F. Qu et al., “Comprehensive Study of Driver </a:t>
            </a:r>
            <a:r>
              <a:rPr lang="en-IN" b="1" dirty="0" err="1">
                <a:latin typeface="Trebuchet MS" pitchFamily="34" charset="0"/>
              </a:rPr>
              <a:t>Behavior</a:t>
            </a:r>
            <a:r>
              <a:rPr lang="en-IN" b="1" dirty="0">
                <a:latin typeface="Trebuchet MS" pitchFamily="34" charset="0"/>
              </a:rPr>
              <a:t> Monitoring Systems Using Computer Vision and Machine Learning Techniques,” J. Big Data, 2024.</a:t>
            </a:r>
          </a:p>
          <a:p>
            <a:pPr marL="342900" indent="12700" algn="l" eaLnBrk="0" hangingPunct="0">
              <a:spcBef>
                <a:spcPct val="20000"/>
              </a:spcBef>
              <a:defRPr/>
            </a:pPr>
            <a:endParaRPr lang="en-IN" b="1" dirty="0">
              <a:latin typeface="Trebuchet MS" pitchFamily="34" charset="0"/>
            </a:endParaRPr>
          </a:p>
          <a:p>
            <a:pPr marL="342900" indent="12700" algn="l" eaLnBrk="0" hangingPunct="0">
              <a:spcBef>
                <a:spcPct val="20000"/>
              </a:spcBef>
              <a:defRPr/>
            </a:pPr>
            <a:r>
              <a:rPr lang="en-IN" b="1" dirty="0">
                <a:latin typeface="Trebuchet MS" pitchFamily="34" charset="0"/>
              </a:rPr>
              <a:t>[4] B. B. Gupta et al., “Deep Learning Model for Driver </a:t>
            </a:r>
            <a:r>
              <a:rPr lang="en-IN" b="1" dirty="0" err="1">
                <a:latin typeface="Trebuchet MS" pitchFamily="34" charset="0"/>
              </a:rPr>
              <a:t>Behavior</a:t>
            </a:r>
            <a:r>
              <a:rPr lang="en-IN" b="1" dirty="0">
                <a:latin typeface="Trebuchet MS" pitchFamily="34" charset="0"/>
              </a:rPr>
              <a:t> Detection in Cyber-Physical System-Based Intelligent Transport Systems,” IEEE Access, 2024.</a:t>
            </a:r>
          </a:p>
          <a:p>
            <a:pPr marL="342900" indent="12700" algn="l" eaLnBrk="0" hangingPunct="0">
              <a:spcBef>
                <a:spcPct val="20000"/>
              </a:spcBef>
              <a:defRPr/>
            </a:pPr>
            <a:endParaRPr lang="en-IN" b="1" kern="0" dirty="0">
              <a:latin typeface="Trebuchet MS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0445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1581213"/>
            <a:ext cx="7620000" cy="36830"/>
          </a:xfrm>
          <a:custGeom>
            <a:avLst/>
            <a:gdLst/>
            <a:ahLst/>
            <a:cxnLst/>
            <a:rect l="l" t="t" r="r" b="b"/>
            <a:pathLst>
              <a:path w="7620000" h="36830">
                <a:moveTo>
                  <a:pt x="7620000" y="0"/>
                </a:moveTo>
                <a:lnTo>
                  <a:pt x="0" y="0"/>
                </a:lnTo>
                <a:lnTo>
                  <a:pt x="0" y="36512"/>
                </a:lnTo>
                <a:lnTo>
                  <a:pt x="7620000" y="36512"/>
                </a:lnTo>
                <a:lnTo>
                  <a:pt x="7620000" y="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51711" y="1235990"/>
            <a:ext cx="2982108" cy="3452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891" indent="-342891" algn="r" eaLnBrk="0" hangingPunct="0">
              <a:defRPr/>
            </a:pPr>
            <a:r>
              <a:rPr lang="en-US" sz="2400" dirty="0">
                <a:solidFill>
                  <a:srgbClr val="FF0000"/>
                </a:solidFill>
                <a:latin typeface="Trebuchet MS" pitchFamily="34" charset="0"/>
              </a:rPr>
              <a:t>References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05000" y="2057400"/>
            <a:ext cx="8990076" cy="37164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715" algn="l">
              <a:lnSpc>
                <a:spcPct val="100000"/>
              </a:lnSpc>
              <a:spcBef>
                <a:spcPts val="100"/>
              </a:spcBef>
            </a:pPr>
            <a:r>
              <a:rPr lang="en-US" b="1" dirty="0">
                <a:solidFill>
                  <a:schemeClr val="tx1"/>
                </a:solidFill>
                <a:latin typeface="Trebuchet MS"/>
                <a:cs typeface="Trebuchet MS"/>
              </a:rPr>
              <a:t>[5] S. Abbas et al., “Naturalistic Driving Data-Based Anomalous Driving Behavior Detection Using </a:t>
            </a:r>
            <a:r>
              <a:rPr lang="en-US" b="1" dirty="0" err="1">
                <a:solidFill>
                  <a:schemeClr val="tx1"/>
                </a:solidFill>
                <a:latin typeface="Trebuchet MS"/>
                <a:cs typeface="Trebuchet MS"/>
              </a:rPr>
              <a:t>Hypertuned</a:t>
            </a:r>
            <a:r>
              <a:rPr lang="en-US" b="1" dirty="0">
                <a:solidFill>
                  <a:schemeClr val="tx1"/>
                </a:solidFill>
                <a:latin typeface="Trebuchet MS"/>
                <a:cs typeface="Trebuchet MS"/>
              </a:rPr>
              <a:t> Deep Autoencoders,” Electronics, 2023.</a:t>
            </a:r>
          </a:p>
          <a:p>
            <a:pPr marL="12700" marR="5715" algn="l">
              <a:lnSpc>
                <a:spcPct val="100000"/>
              </a:lnSpc>
              <a:spcBef>
                <a:spcPts val="100"/>
              </a:spcBef>
            </a:pPr>
            <a:endParaRPr lang="en-US" b="1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12700" marR="5715" algn="l">
              <a:lnSpc>
                <a:spcPct val="100000"/>
              </a:lnSpc>
              <a:spcBef>
                <a:spcPts val="100"/>
              </a:spcBef>
            </a:pPr>
            <a:r>
              <a:rPr lang="en-US" b="1" dirty="0">
                <a:solidFill>
                  <a:schemeClr val="tx1"/>
                </a:solidFill>
                <a:latin typeface="Trebuchet MS"/>
                <a:cs typeface="Trebuchet MS"/>
              </a:rPr>
              <a:t>[6] A. Author et al., “Enhanced Deep Neural Network Model for Anomalous Driving Behavior Detection,” Wiley J. Surveillance, 2024.</a:t>
            </a:r>
          </a:p>
          <a:p>
            <a:pPr marL="12700" marR="5715" algn="l">
              <a:lnSpc>
                <a:spcPct val="100000"/>
              </a:lnSpc>
              <a:spcBef>
                <a:spcPts val="100"/>
              </a:spcBef>
            </a:pPr>
            <a:endParaRPr lang="en-US" b="1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12700" marR="5715" algn="l">
              <a:lnSpc>
                <a:spcPct val="100000"/>
              </a:lnSpc>
              <a:spcBef>
                <a:spcPts val="100"/>
              </a:spcBef>
            </a:pPr>
            <a:r>
              <a:rPr lang="en-US" b="1" dirty="0">
                <a:solidFill>
                  <a:schemeClr val="tx1"/>
                </a:solidFill>
                <a:latin typeface="Trebuchet MS"/>
                <a:cs typeface="Trebuchet MS"/>
              </a:rPr>
              <a:t>[7] R. Kumar and S. Gupta, “Driver Drowsiness Detection Using CNN-LSTM Hybrid Deep Learning Model,” IEEE Sensors J., 2023.</a:t>
            </a:r>
          </a:p>
          <a:p>
            <a:pPr marL="12700" marR="5715" algn="l">
              <a:lnSpc>
                <a:spcPct val="100000"/>
              </a:lnSpc>
              <a:spcBef>
                <a:spcPts val="100"/>
              </a:spcBef>
            </a:pPr>
            <a:endParaRPr lang="en-US" b="1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12700" marR="5715" algn="l">
              <a:lnSpc>
                <a:spcPct val="100000"/>
              </a:lnSpc>
              <a:spcBef>
                <a:spcPts val="100"/>
              </a:spcBef>
            </a:pPr>
            <a:r>
              <a:rPr lang="en-US" b="1" dirty="0">
                <a:solidFill>
                  <a:schemeClr val="tx1"/>
                </a:solidFill>
                <a:latin typeface="Trebuchet MS"/>
                <a:cs typeface="Trebuchet MS"/>
              </a:rPr>
              <a:t>[8] H. Zhang et al., “Multi-Modal Driver Fatigue Detection Using Infrared and RGB Fusion,” IEEE Trans. </a:t>
            </a:r>
            <a:r>
              <a:rPr lang="en-US" b="1" dirty="0" err="1">
                <a:solidFill>
                  <a:schemeClr val="tx1"/>
                </a:solidFill>
                <a:latin typeface="Trebuchet MS"/>
                <a:cs typeface="Trebuchet MS"/>
              </a:rPr>
              <a:t>Intell</a:t>
            </a:r>
            <a:r>
              <a:rPr lang="en-US" b="1" dirty="0">
                <a:solidFill>
                  <a:schemeClr val="tx1"/>
                </a:solidFill>
                <a:latin typeface="Trebuchet MS"/>
                <a:cs typeface="Trebuchet MS"/>
              </a:rPr>
              <a:t>. Veh., 2023.</a:t>
            </a:r>
          </a:p>
          <a:p>
            <a:pPr marL="12700" marR="5715" algn="l">
              <a:lnSpc>
                <a:spcPct val="100000"/>
              </a:lnSpc>
              <a:spcBef>
                <a:spcPts val="100"/>
              </a:spcBef>
            </a:pPr>
            <a:endParaRPr lang="en-US" b="1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 marL="12700" marR="5715" algn="l">
              <a:lnSpc>
                <a:spcPct val="100000"/>
              </a:lnSpc>
              <a:spcBef>
                <a:spcPts val="100"/>
              </a:spcBef>
            </a:pPr>
            <a:endParaRPr lang="en-US" b="1" dirty="0">
              <a:solidFill>
                <a:schemeClr val="tx1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71485" y="3352800"/>
            <a:ext cx="250658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4000" dirty="0">
                <a:solidFill>
                  <a:srgbClr val="FF0000"/>
                </a:solidFill>
                <a:latin typeface="Trebuchet MS" pitchFamily="3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pstone Project - Review 3 - Template.pptx" id="{77E64785-C4AC-D447-9F20-AA3556BA4DEA}" vid="{211B08FD-A304-1146-A3C3-5229E601B3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Project - Review 3 - Template (1)</Template>
  <TotalTime>563</TotalTime>
  <Words>1212</Words>
  <Application>Microsoft Office PowerPoint</Application>
  <PresentationFormat>Widescreen</PresentationFormat>
  <Paragraphs>247</Paragraphs>
  <Slides>33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Arial MT</vt:lpstr>
      <vt:lpstr>Calibri</vt:lpstr>
      <vt:lpstr>Calibri Light</vt:lpstr>
      <vt:lpstr>Trebuchet MS</vt:lpstr>
      <vt:lpstr>Wingdings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PowerPoint Presentation</vt:lpstr>
      <vt:lpstr>References</vt:lpstr>
      <vt:lpstr>PowerPoint Presentation</vt:lpstr>
    </vt:vector>
  </TitlesOfParts>
  <Company>KTwo Technology Solutions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Sunitha R</dc:creator>
  <cp:lastModifiedBy>Microsoft account</cp:lastModifiedBy>
  <cp:revision>63</cp:revision>
  <dcterms:created xsi:type="dcterms:W3CDTF">2020-11-22T08:14:37Z</dcterms:created>
  <dcterms:modified xsi:type="dcterms:W3CDTF">2026-02-24T11:09:53Z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