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21"/>
  </p:notesMasterIdLst>
  <p:handoutMasterIdLst>
    <p:handoutMasterId r:id="rId22"/>
  </p:handoutMasterIdLst>
  <p:sldIdLst>
    <p:sldId id="593" r:id="rId2"/>
    <p:sldId id="538" r:id="rId3"/>
    <p:sldId id="535" r:id="rId4"/>
    <p:sldId id="569" r:id="rId5"/>
    <p:sldId id="585" r:id="rId6"/>
    <p:sldId id="568" r:id="rId7"/>
    <p:sldId id="571" r:id="rId8"/>
    <p:sldId id="567" r:id="rId9"/>
    <p:sldId id="587" r:id="rId10"/>
    <p:sldId id="588" r:id="rId11"/>
    <p:sldId id="589" r:id="rId12"/>
    <p:sldId id="564" r:id="rId13"/>
    <p:sldId id="580" r:id="rId14"/>
    <p:sldId id="592" r:id="rId15"/>
    <p:sldId id="586" r:id="rId16"/>
    <p:sldId id="584" r:id="rId17"/>
    <p:sldId id="581" r:id="rId18"/>
    <p:sldId id="590" r:id="rId19"/>
    <p:sldId id="582" r:id="rId20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66"/>
    <a:srgbClr val="0000FF"/>
    <a:srgbClr val="33CC33"/>
    <a:srgbClr val="00FFFF"/>
    <a:srgbClr val="6600FF"/>
    <a:srgbClr val="CC66FF"/>
    <a:srgbClr val="62832D"/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37" autoAdjust="0"/>
    <p:restoredTop sz="86811" autoAdjust="0"/>
  </p:normalViewPr>
  <p:slideViewPr>
    <p:cSldViewPr>
      <p:cViewPr varScale="1">
        <p:scale>
          <a:sx n="69" d="100"/>
          <a:sy n="69" d="100"/>
        </p:scale>
        <p:origin x="556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351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70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66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03689D6-F988-36D0-D3E5-43EBA9B82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D18EE16-37A0-9A29-E8EF-CEFA18239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A20FBE7-0769-2870-65B4-602407DA4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68AA4D4-D3FB-7917-EF09-378D6AA874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76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" name="Google Shape;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4564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410444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6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" name="Google Shape;58;p6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97802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23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616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78B0268-2C3E-9C16-BB7A-E2CD23C26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0F44405-FBF6-C840-0C43-62C9FB873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B028231-B35D-604A-EA68-7532EBBD1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E68AE70-430C-B6FE-75A2-3EE8B8EA7D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1181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25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89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 descr="PESSAT - All India Online Entrance Exam for Admission to PES University">
            <a:extLst>
              <a:ext uri="{FF2B5EF4-FFF2-40B4-BE49-F238E27FC236}">
                <a16:creationId xmlns:a16="http://schemas.microsoft.com/office/drawing/2014/main" xmlns="" id="{A1C117DA-E63C-A88A-CE36-802FDA28C0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264409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92761" cy="517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688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6800" y="2011308"/>
            <a:ext cx="9525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800" b="1" dirty="0">
                <a:solidFill>
                  <a:srgbClr val="FF0000"/>
                </a:solidFill>
                <a:latin typeface="Trebuchet MS" pitchFamily="34" charset="0"/>
              </a:rPr>
              <a:t>UE23CS320B – Capstone </a:t>
            </a:r>
            <a:r>
              <a:rPr lang="en-US" sz="2800" b="1" dirty="0">
                <a:solidFill>
                  <a:srgbClr val="FF0000"/>
                </a:solidFill>
                <a:latin typeface="Trebuchet MS" pitchFamily="34" charset="0"/>
              </a:rPr>
              <a:t>Project Phase-2 ESA</a:t>
            </a:r>
          </a:p>
          <a:p>
            <a:pPr marL="342891" indent="-342891" algn="ctr" eaLnBrk="0" hangingPunct="0">
              <a:defRPr/>
            </a:pPr>
            <a:r>
              <a:rPr lang="en-US" sz="2800" dirty="0">
                <a:solidFill>
                  <a:srgbClr val="FF0000"/>
                </a:solidFill>
                <a:latin typeface="Trebuchet MS" pitchFamily="34" charset="0"/>
              </a:rPr>
              <a:t>        </a:t>
            </a:r>
            <a:endParaRPr lang="en-US" sz="2800" b="1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4" name="Google Shape;26;p3"/>
          <p:cNvSpPr txBox="1"/>
          <p:nvPr/>
        </p:nvSpPr>
        <p:spPr>
          <a:xfrm>
            <a:off x="1066800" y="2704929"/>
            <a:ext cx="8229600" cy="3619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Project Title   : </a:t>
            </a:r>
            <a:r>
              <a:rPr lang="en-US" sz="2400" dirty="0">
                <a:solidFill>
                  <a:srgbClr val="0033CC"/>
                </a:solidFill>
                <a:latin typeface="Trebuchet MS"/>
                <a:cs typeface="Trebuchet MS"/>
              </a:rPr>
              <a:t>Driver</a:t>
            </a:r>
            <a:r>
              <a:rPr lang="en-US" sz="2400" spc="-8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lang="en-US" sz="2400" spc="-10" dirty="0">
                <a:solidFill>
                  <a:srgbClr val="0033CC"/>
                </a:solidFill>
                <a:latin typeface="Trebuchet MS"/>
                <a:cs typeface="Trebuchet MS"/>
              </a:rPr>
              <a:t>Behavior</a:t>
            </a:r>
            <a:r>
              <a:rPr lang="en-US" sz="2400" spc="-17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Trebuchet MS"/>
                <a:cs typeface="Trebuchet MS"/>
              </a:rPr>
              <a:t>Anomaly</a:t>
            </a:r>
            <a:r>
              <a:rPr lang="en-US" sz="2400" spc="-9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Trebuchet MS"/>
                <a:cs typeface="Trebuchet MS"/>
              </a:rPr>
              <a:t>Detection</a:t>
            </a:r>
            <a:r>
              <a:rPr lang="en-US" sz="2400" spc="-7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lang="en-US" sz="2400" spc="-10" dirty="0">
                <a:solidFill>
                  <a:srgbClr val="0033CC"/>
                </a:solidFill>
                <a:latin typeface="Trebuchet MS"/>
                <a:cs typeface="Trebuchet MS"/>
              </a:rPr>
              <a:t>using </a:t>
            </a:r>
            <a:r>
              <a:rPr lang="en-US" sz="2400" dirty="0">
                <a:solidFill>
                  <a:srgbClr val="0033CC"/>
                </a:solidFill>
                <a:latin typeface="Trebuchet MS"/>
                <a:cs typeface="Trebuchet MS"/>
              </a:rPr>
              <a:t>Deep</a:t>
            </a:r>
            <a:r>
              <a:rPr lang="en-US" sz="2400" spc="-8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Trebuchet MS"/>
                <a:cs typeface="Trebuchet MS"/>
              </a:rPr>
              <a:t>Learning</a:t>
            </a: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Project ID       : 06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Project Guide : </a:t>
            </a:r>
            <a:r>
              <a:rPr lang="en-US" sz="2400" dirty="0" err="1" smtClean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Prof.Kailasam</a:t>
            </a:r>
            <a:r>
              <a:rPr lang="en-US" sz="2400" dirty="0" smtClean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             </a:t>
            </a: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Project Team  : Chetan </a:t>
            </a:r>
            <a:r>
              <a:rPr lang="en-US" sz="2400" dirty="0" err="1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Nadichagi</a:t>
            </a: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         - PES2UG23CS149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		    Poojary Sairaj Shankar  - PES2UG23AM073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		    Ranjith </a:t>
            </a:r>
            <a:r>
              <a:rPr lang="en-US" sz="2400" dirty="0" err="1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Kumar.V</a:t>
            </a: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          -  PES2UG23AM082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		    Mahesh E Ajjer	         -  PES2UG23CS316</a:t>
            </a:r>
            <a:endParaRPr lang="en-US" sz="2000" dirty="0">
              <a:solidFill>
                <a:srgbClr val="0033C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066800" y="1752600"/>
            <a:ext cx="8534400" cy="47244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</a:rPr>
              <a:t>Suggestions from Review – 1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</a:rPr>
              <a:t>Suggestions from Review – 2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</a:rPr>
              <a:t>Analysis and Critique of Research/Relevance -Application in Real world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High Level Design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Design Methodology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Project Progress (Minimum 20% implementation)</a:t>
            </a:r>
          </a:p>
          <a:p>
            <a:pPr marL="1142991" lvl="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Data Preprocessing and Base Model Implementation 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Individual Contribution 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References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US" sz="2400" kern="0" dirty="0">
              <a:solidFill>
                <a:srgbClr val="0000FF"/>
              </a:solidFill>
              <a:latin typeface="Trebuchet MS" pitchFamily="34" charset="0"/>
              <a:ea typeface="Trebuchet MS"/>
              <a:cs typeface="Trebuchet MS"/>
              <a:sym typeface="Trebuchet MS"/>
            </a:endParaRPr>
          </a:p>
          <a:p>
            <a:pPr marL="342891" algn="just" eaLnBrk="0" hangingPunct="0">
              <a:spcBef>
                <a:spcPct val="20000"/>
              </a:spcBef>
              <a:defRPr/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Outline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85800" y="1828800"/>
            <a:ext cx="8077200" cy="4191000"/>
          </a:xfrm>
          <a:prstGeom prst="rect">
            <a:avLst/>
          </a:prstGeom>
        </p:spPr>
        <p:txBody>
          <a:bodyPr/>
          <a:lstStyle/>
          <a:p>
            <a:r>
              <a:rPr lang="en-US" sz="2400" b="1" dirty="0">
                <a:solidFill>
                  <a:srgbClr val="0000FF"/>
                </a:solidFill>
              </a:rPr>
              <a:t>Problem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342891" algn="just" eaLnBrk="0" hangingPunct="0">
              <a:spcBef>
                <a:spcPct val="20000"/>
              </a:spcBef>
              <a:defRPr/>
            </a:pPr>
            <a:endParaRPr lang="en-IN" sz="2400" kern="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419600" y="1119490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  <a:sym typeface="Trebuchet MS"/>
              </a:rPr>
              <a:t>Abstract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5AD6F74-42DC-024D-421B-89AABA6BD531}"/>
              </a:ext>
            </a:extLst>
          </p:cNvPr>
          <p:cNvSpPr txBox="1"/>
          <p:nvPr/>
        </p:nvSpPr>
        <p:spPr>
          <a:xfrm>
            <a:off x="681789" y="2354639"/>
            <a:ext cx="8534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Driver fatigue and distraction are major causes of road accidents. Existing driver monitoring systems are often expensive and not suitable for real-time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project proposes a real-time driver behavior anomaly detection system using deep learning.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It combines </a:t>
            </a:r>
            <a:r>
              <a:rPr lang="en-US" dirty="0" err="1"/>
              <a:t>MediaPipe</a:t>
            </a:r>
            <a:r>
              <a:rPr lang="en-US" dirty="0"/>
              <a:t> Face Mesh for facial feature analysis and YOLOv8 for detecting distraction objects like mobile phones.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uses temporal modeling with </a:t>
            </a:r>
            <a:r>
              <a:rPr lang="en-US" dirty="0" err="1"/>
              <a:t>BiLSTM</a:t>
            </a:r>
            <a:r>
              <a:rPr lang="en-US" dirty="0"/>
              <a:t> to analyze behavior over time and generate alerts for abnormal conditions such as drowsiness and distraction.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solution is low-cost, efficient, and suitable for real-world deployment.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030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A9B9FC5-E1BC-DE82-DB96-80EE189C5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FFEA6F4-E844-37E4-E74C-0D7B8F914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C7ECCC90-D7BA-7AB7-1609-4B507E9631E5}"/>
              </a:ext>
            </a:extLst>
          </p:cNvPr>
          <p:cNvSpPr txBox="1">
            <a:spLocks/>
          </p:cNvSpPr>
          <p:nvPr/>
        </p:nvSpPr>
        <p:spPr>
          <a:xfrm>
            <a:off x="1600200" y="2133600"/>
            <a:ext cx="8839200" cy="4054661"/>
          </a:xfrm>
          <a:prstGeom prst="rect">
            <a:avLst/>
          </a:prstGeom>
        </p:spPr>
        <p:txBody>
          <a:bodyPr/>
          <a:lstStyle/>
          <a:p>
            <a:r>
              <a:rPr lang="en-US" sz="2400" b="1" dirty="0"/>
              <a:t>Suggestion </a:t>
            </a:r>
            <a:r>
              <a:rPr lang="en-US" sz="2400" dirty="0"/>
              <a:t>: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Increase dataset size and add custom </a:t>
            </a:r>
            <a:r>
              <a:rPr lang="en-US" sz="2400" dirty="0" smtClean="0"/>
              <a:t>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dirty="0" smtClean="0"/>
              <a:t>Progress</a:t>
            </a:r>
            <a:r>
              <a:rPr lang="en-US" sz="2400" b="1" dirty="0"/>
              <a:t>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Collected additional custom </a:t>
            </a:r>
            <a:r>
              <a:rPr lang="en-US" sz="2400" dirty="0" smtClean="0"/>
              <a:t>data.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Included multiple driver states (Normal, Distracted, Yawning</a:t>
            </a:r>
            <a:r>
              <a:rPr lang="en-US" sz="2400" dirty="0" smtClean="0"/>
              <a:t>).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Improved dataset diversity and model </a:t>
            </a:r>
            <a:r>
              <a:rPr lang="en-US" sz="2400" dirty="0" smtClean="0"/>
              <a:t>performance.</a:t>
            </a:r>
            <a:endParaRPr lang="en-US" sz="2400" dirty="0"/>
          </a:p>
          <a:p>
            <a:pPr marL="342891" algn="just" eaLnBrk="0" hangingPunct="0">
              <a:spcBef>
                <a:spcPct val="20000"/>
              </a:spcBef>
              <a:defRPr/>
            </a:pPr>
            <a:endParaRPr lang="en-IN" sz="2400" kern="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>
            <a:extLst>
              <a:ext uri="{FF2B5EF4-FFF2-40B4-BE49-F238E27FC236}">
                <a16:creationId xmlns:a16="http://schemas.microsoft.com/office/drawing/2014/main" xmlns="" id="{C6131D96-1223-C722-D8C5-460375546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  <a:sym typeface="Trebuchet MS"/>
              </a:rPr>
              <a:t>Suggestions from Review – 1</a:t>
            </a:r>
          </a:p>
        </p:txBody>
      </p:sp>
    </p:spTree>
    <p:extLst>
      <p:ext uri="{BB962C8B-B14F-4D97-AF65-F5344CB8AC3E}">
        <p14:creationId xmlns:p14="http://schemas.microsoft.com/office/powerpoint/2010/main" val="358820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049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295400" y="1671530"/>
            <a:ext cx="8686800" cy="4211931"/>
          </a:xfrm>
          <a:prstGeom prst="rect">
            <a:avLst/>
          </a:prstGeom>
        </p:spPr>
        <p:txBody>
          <a:bodyPr/>
          <a:lstStyle/>
          <a:p>
            <a:pPr marL="342891" algn="just" eaLnBrk="0" hangingPunct="0">
              <a:spcBef>
                <a:spcPct val="20000"/>
              </a:spcBef>
              <a:defRPr/>
            </a:pPr>
            <a:endParaRPr lang="en-IN" sz="2400" kern="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895600" y="9144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  <a:sym typeface="Trebuchet MS"/>
              </a:rPr>
              <a:t>Suggestions from Review –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201809D-F67D-3004-05BF-ACE90F14E381}"/>
              </a:ext>
            </a:extLst>
          </p:cNvPr>
          <p:cNvSpPr txBox="1"/>
          <p:nvPr/>
        </p:nvSpPr>
        <p:spPr>
          <a:xfrm>
            <a:off x="1524000" y="2209800"/>
            <a:ext cx="9296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smtClean="0"/>
              <a:t>Suggestion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Add </a:t>
            </a:r>
            <a:r>
              <a:rPr lang="en-US" sz="2400" dirty="0"/>
              <a:t>face recognition and create driver </a:t>
            </a:r>
            <a:r>
              <a:rPr lang="en-US" sz="2400" dirty="0" smtClean="0"/>
              <a:t>database.</a:t>
            </a:r>
          </a:p>
          <a:p>
            <a:endParaRPr lang="en-US" sz="2400" dirty="0"/>
          </a:p>
          <a:p>
            <a:r>
              <a:rPr lang="en-US" sz="2400" b="1" dirty="0"/>
              <a:t>Progress: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Implemented real-time face recognition system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Created driver database with details (name, phone, license, etc.)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Integrated recognition with live system to display driver information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Analysis and Critique of Research/Relevance -Application in Real world</a:t>
            </a:r>
          </a:p>
        </p:txBody>
      </p:sp>
      <p:sp>
        <p:nvSpPr>
          <p:cNvPr id="47" name="Google Shape;47;p6"/>
          <p:cNvSpPr txBox="1"/>
          <p:nvPr/>
        </p:nvSpPr>
        <p:spPr>
          <a:xfrm>
            <a:off x="3044456" y="6172200"/>
            <a:ext cx="10439400" cy="277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753EC64-E433-0954-A4AE-F5E1F15A8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256" y="371543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F1B4B12-5EC3-F5E9-129A-69E1C7CDF65D}"/>
              </a:ext>
            </a:extLst>
          </p:cNvPr>
          <p:cNvSpPr txBox="1"/>
          <p:nvPr/>
        </p:nvSpPr>
        <p:spPr>
          <a:xfrm>
            <a:off x="838200" y="1904286"/>
            <a:ext cx="11049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Analysis and Critique of Research:</a:t>
            </a:r>
          </a:p>
          <a:p>
            <a:r>
              <a:rPr lang="en-US" dirty="0"/>
              <a:t>Existing driver monitoring systems use deep learning for detecting fatigue and distraction </a:t>
            </a:r>
          </a:p>
          <a:p>
            <a:r>
              <a:rPr lang="en-US" dirty="0"/>
              <a:t>Many approaches achieve good accuracy but require high computational resources </a:t>
            </a:r>
          </a:p>
          <a:p>
            <a:r>
              <a:rPr lang="en-US" dirty="0"/>
              <a:t>Some systems lack real-time performance and are expensive to deploy </a:t>
            </a:r>
          </a:p>
          <a:p>
            <a:r>
              <a:rPr lang="en-US" dirty="0"/>
              <a:t>Gap identified: Need for a low-cost, real-time, and efficient solution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Relevance:</a:t>
            </a:r>
          </a:p>
          <a:p>
            <a:r>
              <a:rPr lang="en-US" dirty="0"/>
              <a:t>Road accidents due to drowsiness and distraction are a major global issue </a:t>
            </a:r>
          </a:p>
          <a:p>
            <a:r>
              <a:rPr lang="en-US" dirty="0"/>
              <a:t>The problem is highly relevant to current transportation and safety systems </a:t>
            </a:r>
          </a:p>
          <a:p>
            <a:r>
              <a:rPr lang="en-US" dirty="0"/>
              <a:t>Aligns with industry need for real-time driver monitoring solutions </a:t>
            </a:r>
          </a:p>
          <a:p>
            <a:r>
              <a:rPr lang="en-US" dirty="0"/>
              <a:t>Increasing demand for AI-based safety systems in vehicles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 Application in the Real World:</a:t>
            </a:r>
          </a:p>
          <a:p>
            <a:r>
              <a:rPr lang="en-US" dirty="0"/>
              <a:t>Can be implemented in cars, trucks, and public transport systems </a:t>
            </a:r>
          </a:p>
          <a:p>
            <a:r>
              <a:rPr lang="en-US" dirty="0"/>
              <a:t>Works using a simple webcam → low-cost deployment </a:t>
            </a:r>
          </a:p>
          <a:p>
            <a:r>
              <a:rPr lang="en-US" dirty="0"/>
              <a:t>Provides real-time alerts to prevent accidents </a:t>
            </a:r>
          </a:p>
          <a:p>
            <a:r>
              <a:rPr lang="en-US" dirty="0"/>
              <a:t>Scalable for integration into smart vehicles and safety systems </a:t>
            </a:r>
          </a:p>
        </p:txBody>
      </p:sp>
    </p:spTree>
    <p:extLst>
      <p:ext uri="{BB962C8B-B14F-4D97-AF65-F5344CB8AC3E}">
        <p14:creationId xmlns:p14="http://schemas.microsoft.com/office/powerpoint/2010/main" val="316707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high-level design</a:t>
            </a:r>
            <a:endParaRPr lang="en-US" sz="2400" dirty="0"/>
          </a:p>
        </p:txBody>
      </p:sp>
      <p:sp>
        <p:nvSpPr>
          <p:cNvPr id="54" name="Google Shape;54;p7"/>
          <p:cNvSpPr txBox="1"/>
          <p:nvPr/>
        </p:nvSpPr>
        <p:spPr>
          <a:xfrm>
            <a:off x="2114900" y="1791525"/>
            <a:ext cx="8553100" cy="377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1819676C-FE83-2CCA-EBA2-A498B7A39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31837"/>
            <a:ext cx="10488488" cy="41732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F58E5CB-841A-5E96-AACF-7A7C144DE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119187"/>
            <a:ext cx="9753600" cy="4619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5864947-2740-C83E-2F21-5CA146AAC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119187"/>
            <a:ext cx="9753600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69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5F1364E-7C25-E999-3501-0BEC41A56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119187"/>
            <a:ext cx="9753600" cy="4619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E88DD5A-22ED-895B-DF14-2A249BF4D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363200" y="5181600"/>
            <a:ext cx="476210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6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F7AD80A-E143-F716-99D5-028E04BDF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119187"/>
            <a:ext cx="9753600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67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048000" y="1581151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 txBox="1"/>
          <p:nvPr/>
        </p:nvSpPr>
        <p:spPr>
          <a:xfrm>
            <a:off x="2895600" y="1143001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</p:txBody>
      </p:sp>
      <p:sp>
        <p:nvSpPr>
          <p:cNvPr id="62" name="Google Shape;62;p8"/>
          <p:cNvSpPr txBox="1"/>
          <p:nvPr/>
        </p:nvSpPr>
        <p:spPr>
          <a:xfrm>
            <a:off x="685800" y="2971800"/>
            <a:ext cx="8382000" cy="210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b="1" dirty="0"/>
              <a:t>Technology Selection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 Programming Language:</a:t>
            </a:r>
          </a:p>
          <a:p>
            <a:r>
              <a:rPr lang="en-US" dirty="0"/>
              <a:t>Python</a:t>
            </a:r>
            <a:br>
              <a:rPr lang="en-US" dirty="0"/>
            </a:br>
            <a:r>
              <a:rPr lang="en-US" dirty="0"/>
              <a:t>→ Used for implementing the complete system </a:t>
            </a:r>
          </a:p>
          <a:p>
            <a:r>
              <a:rPr lang="en-US" dirty="0"/>
              <a:t>and model logic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Tools &amp; Frameworks:</a:t>
            </a:r>
          </a:p>
          <a:p>
            <a:r>
              <a:rPr lang="en-IN" dirty="0"/>
              <a:t>OpenCV</a:t>
            </a:r>
            <a:br>
              <a:rPr lang="en-IN" dirty="0"/>
            </a:br>
            <a:r>
              <a:rPr lang="en-IN" dirty="0"/>
              <a:t>→ Video capture and real-time frame processing </a:t>
            </a:r>
          </a:p>
          <a:p>
            <a:r>
              <a:rPr lang="en-IN" dirty="0" err="1"/>
              <a:t>MediaPipe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→ Face Mesh for extracting facial landmarks </a:t>
            </a:r>
          </a:p>
          <a:p>
            <a:r>
              <a:rPr lang="en-IN" dirty="0"/>
              <a:t>YOLOv8</a:t>
            </a:r>
            <a:br>
              <a:rPr lang="en-IN" dirty="0"/>
            </a:br>
            <a:r>
              <a:rPr lang="en-IN" dirty="0"/>
              <a:t>→ Object detection (mobile usage, distractions) </a:t>
            </a:r>
          </a:p>
          <a:p>
            <a:r>
              <a:rPr lang="en-IN" dirty="0" err="1"/>
              <a:t>PyTorch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→ Deep learning framework for </a:t>
            </a:r>
            <a:r>
              <a:rPr lang="en-IN" dirty="0" err="1"/>
              <a:t>BiLSTM</a:t>
            </a:r>
            <a:r>
              <a:rPr lang="en-IN" dirty="0"/>
              <a:t> model </a:t>
            </a:r>
          </a:p>
          <a:p>
            <a:endParaRPr lang="en-US" dirty="0"/>
          </a:p>
        </p:txBody>
      </p:sp>
      <p:sp>
        <p:nvSpPr>
          <p:cNvPr id="2" name="Google Shape;53;p7">
            <a:extLst>
              <a:ext uri="{FF2B5EF4-FFF2-40B4-BE49-F238E27FC236}">
                <a16:creationId xmlns:a16="http://schemas.microsoft.com/office/drawing/2014/main" xmlns="" id="{4AD8EAA6-9264-448D-B05D-A7D097EAA502}"/>
              </a:ext>
            </a:extLst>
          </p:cNvPr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methodology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72B7F2B-4F70-0F55-E45F-A27E892C82C4}"/>
              </a:ext>
            </a:extLst>
          </p:cNvPr>
          <p:cNvSpPr txBox="1"/>
          <p:nvPr/>
        </p:nvSpPr>
        <p:spPr>
          <a:xfrm>
            <a:off x="6019800" y="2136338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Other Components:</a:t>
            </a:r>
          </a:p>
          <a:p>
            <a:r>
              <a:rPr lang="en-IN" dirty="0"/>
              <a:t>Webcam</a:t>
            </a:r>
            <a:br>
              <a:rPr lang="en-IN" dirty="0"/>
            </a:br>
            <a:r>
              <a:rPr lang="en-IN" dirty="0"/>
              <a:t>→ Real-time input source </a:t>
            </a:r>
          </a:p>
          <a:p>
            <a:r>
              <a:rPr lang="en-IN" dirty="0"/>
              <a:t>Feature Extraction</a:t>
            </a:r>
            <a:br>
              <a:rPr lang="en-IN" dirty="0"/>
            </a:br>
            <a:r>
              <a:rPr lang="en-IN" dirty="0"/>
              <a:t>→ EAR (Eye Aspect Ratio), MAR (Mouth Aspect Ratio) </a:t>
            </a:r>
          </a:p>
          <a:p>
            <a:r>
              <a:rPr lang="en-IN" dirty="0"/>
              <a:t>Temporal </a:t>
            </a:r>
            <a:r>
              <a:rPr lang="en-IN" dirty="0" err="1"/>
              <a:t>Modeling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→ </a:t>
            </a:r>
            <a:r>
              <a:rPr lang="en-IN" dirty="0" err="1"/>
              <a:t>BiLSTM</a:t>
            </a:r>
            <a:r>
              <a:rPr lang="en-IN" dirty="0"/>
              <a:t> for </a:t>
            </a:r>
            <a:r>
              <a:rPr lang="en-IN" dirty="0" err="1"/>
              <a:t>behavior</a:t>
            </a:r>
            <a:r>
              <a:rPr lang="en-IN" dirty="0"/>
              <a:t> analysis over time </a:t>
            </a:r>
          </a:p>
          <a:p>
            <a:r>
              <a:rPr lang="en-IN" dirty="0"/>
              <a:t>Alert System</a:t>
            </a:r>
            <a:br>
              <a:rPr lang="en-IN" dirty="0"/>
            </a:br>
            <a:r>
              <a:rPr lang="en-IN" dirty="0"/>
              <a:t>→ Generates warning for drowsiness and distraction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2019300" y="1143000"/>
            <a:ext cx="8763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Progress-Data Preprocessing and Base model implementation</a:t>
            </a:r>
          </a:p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010064" y="2145145"/>
            <a:ext cx="8229600" cy="4724400"/>
          </a:xfrm>
          <a:prstGeom prst="rect">
            <a:avLst/>
          </a:prstGeom>
        </p:spPr>
        <p:txBody>
          <a:bodyPr/>
          <a:lstStyle/>
          <a:p>
            <a:r>
              <a:rPr lang="en-US" sz="2400" b="1" dirty="0"/>
              <a:t>Completed</a:t>
            </a:r>
            <a:r>
              <a:rPr lang="en-US" sz="2400" b="1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Real-time </a:t>
            </a:r>
            <a:r>
              <a:rPr lang="en-US" dirty="0"/>
              <a:t>webcam integration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Face Recognition system implemented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Driver database system created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Face Mesh feature extraction implemented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Behaviour</a:t>
            </a:r>
            <a:r>
              <a:rPr lang="en-US" dirty="0"/>
              <a:t> classification (Normal / Distracted) </a:t>
            </a:r>
            <a:endParaRPr lang="en-US" dirty="0" smtClean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 smtClean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r>
              <a:rPr lang="en-US" sz="2400" b="1" dirty="0"/>
              <a:t>Achievements: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detection working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Driver details displayed dynamically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FPS-based live system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2019300" y="1143000"/>
            <a:ext cx="8763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Progress-Data Preprocessing and Base model implementation</a:t>
            </a:r>
          </a:p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62000" y="2334093"/>
            <a:ext cx="8229600" cy="4724400"/>
          </a:xfrm>
          <a:prstGeom prst="rect">
            <a:avLst/>
          </a:prstGeom>
        </p:spPr>
        <p:txBody>
          <a:bodyPr/>
          <a:lstStyle/>
          <a:p>
            <a:r>
              <a:rPr lang="en-US" sz="2400" b="1" dirty="0" smtClean="0"/>
              <a:t>Implementation Overview :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Continuous frame capture loop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BGR → RGB conversion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Face detection &amp; encoding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Landmark extraction using Face Mesh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Behaviour</a:t>
            </a:r>
            <a:r>
              <a:rPr lang="en-US" dirty="0"/>
              <a:t> classification using trained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 displayed with bounding boxes and details</a:t>
            </a:r>
            <a:endParaRPr lang="en-US" sz="24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39000" y="2438400"/>
            <a:ext cx="44196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Future Enhancements :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YOLOv8 </a:t>
            </a:r>
            <a:r>
              <a:rPr lang="en-US" dirty="0"/>
              <a:t>integration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LSTM for temporal modeling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accuracy using larger dataset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 on embedded </a:t>
            </a:r>
            <a:r>
              <a:rPr lang="en-US" dirty="0" smtClean="0"/>
              <a:t>systems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cloud logging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56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A9EFAC8-E554-32A2-BB12-9D83E7755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F64AC014-F06E-8375-F747-8075E75E9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>
            <a:extLst>
              <a:ext uri="{FF2B5EF4-FFF2-40B4-BE49-F238E27FC236}">
                <a16:creationId xmlns:a16="http://schemas.microsoft.com/office/drawing/2014/main" xmlns="" id="{3030717F-F456-6442-1B28-E3D2DDB34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156003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Individual Contribution</a:t>
            </a:r>
            <a:endParaRPr lang="en-US" sz="2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D2238785-1325-419C-E83F-AA3D12B884F2}"/>
              </a:ext>
            </a:extLst>
          </p:cNvPr>
          <p:cNvSpPr txBox="1">
            <a:spLocks/>
          </p:cNvSpPr>
          <p:nvPr/>
        </p:nvSpPr>
        <p:spPr>
          <a:xfrm>
            <a:off x="1981200" y="1752600"/>
            <a:ext cx="8229600" cy="4724400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76400" y="1905000"/>
            <a:ext cx="8077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Chetan : Face Recognition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Implemented real-time face detection and identification.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Displayed driver name with confidence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r>
              <a:rPr lang="en-US" b="1" dirty="0" err="1" smtClean="0"/>
              <a:t>Sairaj</a:t>
            </a:r>
            <a:r>
              <a:rPr lang="en-US" b="1" dirty="0" smtClean="0"/>
              <a:t> : </a:t>
            </a:r>
            <a:r>
              <a:rPr lang="en-US" b="1" dirty="0" err="1" smtClean="0"/>
              <a:t>Behaviour</a:t>
            </a:r>
            <a:r>
              <a:rPr lang="en-US" b="1" dirty="0" smtClean="0"/>
              <a:t>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Developed behavior classification using Face Mesh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Classified driver states (Normal/Distracted)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r>
              <a:rPr lang="en-US" b="1" dirty="0" smtClean="0"/>
              <a:t>Mahesh : Driver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Built GUI for storing driver details and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Manages data for Face recognition module.</a:t>
            </a:r>
          </a:p>
          <a:p>
            <a:endParaRPr lang="en-US" dirty="0" smtClean="0"/>
          </a:p>
          <a:p>
            <a:r>
              <a:rPr lang="en-US" b="1" dirty="0" err="1" smtClean="0"/>
              <a:t>Ranjith</a:t>
            </a:r>
            <a:r>
              <a:rPr lang="en-US" b="1" dirty="0" smtClean="0"/>
              <a:t>  : Model Integration and Alert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Integrated all modules into one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Implemented real-time alert generation.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43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943100" y="2743200"/>
            <a:ext cx="8915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Developed a real-time driver monitoring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Successfully Implemented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Face Recognition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 smtClean="0"/>
              <a:t>Behaviour</a:t>
            </a:r>
            <a:r>
              <a:rPr lang="en-US" sz="2000" dirty="0" smtClean="0"/>
              <a:t>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System works efficiently in real-time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Provides a low-cost solution for driver safety.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Ready for further enhancement in phase-3.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752600" y="1949601"/>
            <a:ext cx="464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Conclusion from Phase-2 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8653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References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14400" y="1676400"/>
            <a:ext cx="9372600" cy="4876800"/>
          </a:xfrm>
          <a:prstGeom prst="rect">
            <a:avLst/>
          </a:prstGeom>
        </p:spPr>
        <p:txBody>
          <a:bodyPr/>
          <a:lstStyle/>
          <a:p>
            <a:pPr marL="342900" indent="12700" eaLnBrk="0" hangingPunct="0">
              <a:spcBef>
                <a:spcPct val="20000"/>
              </a:spcBef>
              <a:defRPr/>
            </a:pPr>
            <a:r>
              <a:rPr lang="en-IN" sz="2000" b="1" dirty="0">
                <a:latin typeface="Trebuchet MS" pitchFamily="34" charset="0"/>
              </a:rPr>
              <a:t>[1] M. A. Uddin et al., “Abnormal Driving </a:t>
            </a:r>
            <a:r>
              <a:rPr lang="en-IN" sz="2000" b="1" dirty="0" err="1">
                <a:latin typeface="Trebuchet MS" pitchFamily="34" charset="0"/>
              </a:rPr>
              <a:t>Behavior</a:t>
            </a:r>
            <a:r>
              <a:rPr lang="en-IN" sz="2000" b="1" dirty="0">
                <a:latin typeface="Trebuchet MS" pitchFamily="34" charset="0"/>
              </a:rPr>
              <a:t> Detection: A Machine and Deep Learning Based Hybrid Model,” Int. J. </a:t>
            </a:r>
            <a:r>
              <a:rPr lang="en-IN" sz="2000" b="1" dirty="0" err="1">
                <a:latin typeface="Trebuchet MS" pitchFamily="34" charset="0"/>
              </a:rPr>
              <a:t>Intell</a:t>
            </a:r>
            <a:r>
              <a:rPr lang="en-IN" sz="2000" b="1" dirty="0">
                <a:latin typeface="Trebuchet MS" pitchFamily="34" charset="0"/>
              </a:rPr>
              <a:t>. Transp. Syst. Res., 2025.</a:t>
            </a:r>
          </a:p>
          <a:p>
            <a:pPr marL="342900" indent="12700" eaLnBrk="0" hangingPunct="0">
              <a:spcBef>
                <a:spcPct val="20000"/>
              </a:spcBef>
              <a:defRPr/>
            </a:pPr>
            <a:endParaRPr lang="en-IN" sz="2000" b="1" dirty="0">
              <a:latin typeface="Trebuchet MS" pitchFamily="34" charset="0"/>
            </a:endParaRPr>
          </a:p>
          <a:p>
            <a:pPr marL="342900" indent="12700" eaLnBrk="0" hangingPunct="0">
              <a:spcBef>
                <a:spcPct val="20000"/>
              </a:spcBef>
              <a:defRPr/>
            </a:pPr>
            <a:r>
              <a:rPr lang="en-IN" sz="2000" b="1" dirty="0">
                <a:latin typeface="Trebuchet MS" pitchFamily="34" charset="0"/>
              </a:rPr>
              <a:t>[2] E. </a:t>
            </a:r>
            <a:r>
              <a:rPr lang="en-IN" sz="2000" b="1" dirty="0" err="1">
                <a:latin typeface="Trebuchet MS" pitchFamily="34" charset="0"/>
              </a:rPr>
              <a:t>Civik</a:t>
            </a:r>
            <a:r>
              <a:rPr lang="en-IN" sz="2000" b="1" dirty="0">
                <a:latin typeface="Trebuchet MS" pitchFamily="34" charset="0"/>
              </a:rPr>
              <a:t> and U. </a:t>
            </a:r>
            <a:r>
              <a:rPr lang="en-IN" sz="2000" b="1" dirty="0" err="1">
                <a:latin typeface="Trebuchet MS" pitchFamily="34" charset="0"/>
              </a:rPr>
              <a:t>Yuzgec</a:t>
            </a:r>
            <a:r>
              <a:rPr lang="en-IN" sz="2000" b="1" dirty="0">
                <a:latin typeface="Trebuchet MS" pitchFamily="34" charset="0"/>
              </a:rPr>
              <a:t>, “Real-Time Driver Fatigue Detection System with Deep Learning on a Low-Cost Embedded System,” Microprocessors </a:t>
            </a:r>
            <a:r>
              <a:rPr lang="en-IN" sz="2000" b="1" dirty="0" err="1">
                <a:latin typeface="Trebuchet MS" pitchFamily="34" charset="0"/>
              </a:rPr>
              <a:t>Microsyst</a:t>
            </a:r>
            <a:r>
              <a:rPr lang="en-IN" sz="2000" b="1" dirty="0">
                <a:latin typeface="Trebuchet MS" pitchFamily="34" charset="0"/>
              </a:rPr>
              <a:t>., 2023.</a:t>
            </a:r>
          </a:p>
          <a:p>
            <a:pPr marL="342900" indent="12700" eaLnBrk="0" hangingPunct="0">
              <a:spcBef>
                <a:spcPct val="20000"/>
              </a:spcBef>
              <a:defRPr/>
            </a:pPr>
            <a:endParaRPr lang="en-IN" sz="2000" b="1" kern="0" dirty="0">
              <a:latin typeface="Trebuchet MS" pitchFamily="34" charset="0"/>
            </a:endParaRPr>
          </a:p>
          <a:p>
            <a:pPr marL="342900" indent="12700" eaLnBrk="0" hangingPunct="0">
              <a:spcBef>
                <a:spcPct val="20000"/>
              </a:spcBef>
              <a:defRPr/>
            </a:pPr>
            <a:r>
              <a:rPr lang="en-IN" sz="2000" b="1" dirty="0">
                <a:latin typeface="Trebuchet MS" pitchFamily="34" charset="0"/>
              </a:rPr>
              <a:t>[3] F. Qu et al., “Comprehensive Study of Driver </a:t>
            </a:r>
            <a:r>
              <a:rPr lang="en-IN" sz="2000" b="1" dirty="0" err="1">
                <a:latin typeface="Trebuchet MS" pitchFamily="34" charset="0"/>
              </a:rPr>
              <a:t>Behavior</a:t>
            </a:r>
            <a:r>
              <a:rPr lang="en-IN" sz="2000" b="1" dirty="0">
                <a:latin typeface="Trebuchet MS" pitchFamily="34" charset="0"/>
              </a:rPr>
              <a:t> Monitoring Systems Using Computer Vision and Machine Learning Techniques,” J. Big Data, 2024.</a:t>
            </a:r>
          </a:p>
          <a:p>
            <a:pPr marL="342900" indent="12700" eaLnBrk="0" hangingPunct="0">
              <a:spcBef>
                <a:spcPct val="20000"/>
              </a:spcBef>
              <a:defRPr/>
            </a:pPr>
            <a:endParaRPr lang="en-IN" sz="2000" b="1" dirty="0">
              <a:latin typeface="Trebuchet MS" pitchFamily="34" charset="0"/>
            </a:endParaRPr>
          </a:p>
          <a:p>
            <a:pPr marL="342900" indent="12700" eaLnBrk="0" hangingPunct="0">
              <a:spcBef>
                <a:spcPct val="20000"/>
              </a:spcBef>
              <a:defRPr/>
            </a:pPr>
            <a:r>
              <a:rPr lang="en-IN" sz="2000" b="1" dirty="0">
                <a:latin typeface="Trebuchet MS" pitchFamily="34" charset="0"/>
              </a:rPr>
              <a:t>[4] B. B. Gupta et al., “Deep Learning Model for Driver </a:t>
            </a:r>
            <a:r>
              <a:rPr lang="en-IN" sz="2000" b="1" dirty="0" err="1">
                <a:latin typeface="Trebuchet MS" pitchFamily="34" charset="0"/>
              </a:rPr>
              <a:t>Behavior</a:t>
            </a:r>
            <a:r>
              <a:rPr lang="en-IN" sz="2000" b="1" dirty="0">
                <a:latin typeface="Trebuchet MS" pitchFamily="34" charset="0"/>
              </a:rPr>
              <a:t> Detection in Cyber-Physical System-Based Intelligent Transport Systems,” IEEE Access, 2024.</a:t>
            </a:r>
          </a:p>
          <a:p>
            <a:pPr marL="342900" indent="12700" eaLnBrk="0" hangingPunct="0">
              <a:spcBef>
                <a:spcPct val="20000"/>
              </a:spcBef>
              <a:defRPr/>
            </a:pPr>
            <a:endParaRPr lang="en-IN" sz="2000" b="1" kern="0" dirty="0">
              <a:latin typeface="Trebuchet MS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en-IN" sz="2000" kern="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727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References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66800" y="1948873"/>
            <a:ext cx="9372600" cy="4876800"/>
          </a:xfrm>
          <a:prstGeom prst="rect">
            <a:avLst/>
          </a:prstGeom>
        </p:spPr>
        <p:txBody>
          <a:bodyPr/>
          <a:lstStyle/>
          <a:p>
            <a:pPr marL="12700" marR="5715">
              <a:spcBef>
                <a:spcPts val="100"/>
              </a:spcBef>
            </a:pPr>
            <a:r>
              <a:rPr lang="en-US" sz="2000" b="1" dirty="0">
                <a:latin typeface="Trebuchet MS"/>
                <a:cs typeface="Trebuchet MS"/>
              </a:rPr>
              <a:t>[5] S. Abbas et al., “Naturalistic Driving Data-Based Anomalous Driving Behavior Detection Using </a:t>
            </a:r>
            <a:r>
              <a:rPr lang="en-US" sz="2000" b="1" dirty="0" err="1">
                <a:latin typeface="Trebuchet MS"/>
                <a:cs typeface="Trebuchet MS"/>
              </a:rPr>
              <a:t>Hypertuned</a:t>
            </a:r>
            <a:r>
              <a:rPr lang="en-US" sz="2000" b="1" dirty="0">
                <a:latin typeface="Trebuchet MS"/>
                <a:cs typeface="Trebuchet MS"/>
              </a:rPr>
              <a:t> Deep </a:t>
            </a:r>
            <a:r>
              <a:rPr lang="en-US" sz="2000" b="1" dirty="0" err="1">
                <a:latin typeface="Trebuchet MS"/>
                <a:cs typeface="Trebuchet MS"/>
              </a:rPr>
              <a:t>Autoencoders</a:t>
            </a:r>
            <a:r>
              <a:rPr lang="en-US" sz="2000" b="1" dirty="0">
                <a:latin typeface="Trebuchet MS"/>
                <a:cs typeface="Trebuchet MS"/>
              </a:rPr>
              <a:t>,” Electronics, 2023.</a:t>
            </a:r>
          </a:p>
          <a:p>
            <a:pPr marL="12700" marR="5715">
              <a:spcBef>
                <a:spcPts val="100"/>
              </a:spcBef>
            </a:pPr>
            <a:endParaRPr lang="en-US" sz="2000" b="1" dirty="0">
              <a:latin typeface="Trebuchet MS"/>
              <a:cs typeface="Trebuchet MS"/>
            </a:endParaRPr>
          </a:p>
          <a:p>
            <a:pPr marL="12700" marR="5715">
              <a:spcBef>
                <a:spcPts val="100"/>
              </a:spcBef>
            </a:pPr>
            <a:r>
              <a:rPr lang="en-US" sz="2000" b="1" dirty="0">
                <a:latin typeface="Trebuchet MS"/>
                <a:cs typeface="Trebuchet MS"/>
              </a:rPr>
              <a:t>[6] A. Author et al., “Enhanced Deep Neural Network Model for Anomalous Driving Behavior Detection,” Wiley J. Surveillance, 2024.</a:t>
            </a:r>
          </a:p>
          <a:p>
            <a:pPr marL="12700" marR="5715">
              <a:spcBef>
                <a:spcPts val="100"/>
              </a:spcBef>
            </a:pPr>
            <a:endParaRPr lang="en-US" sz="2000" b="1" dirty="0">
              <a:latin typeface="Trebuchet MS"/>
              <a:cs typeface="Trebuchet MS"/>
            </a:endParaRPr>
          </a:p>
          <a:p>
            <a:pPr marL="12700" marR="5715">
              <a:spcBef>
                <a:spcPts val="100"/>
              </a:spcBef>
            </a:pPr>
            <a:r>
              <a:rPr lang="en-US" sz="2000" b="1" dirty="0">
                <a:latin typeface="Trebuchet MS"/>
                <a:cs typeface="Trebuchet MS"/>
              </a:rPr>
              <a:t>[7] R. Kumar and S. Gupta, “Driver Drowsiness Detection Using CNN-LSTM Hybrid Deep Learning Model,” IEEE Sensors J., 2023.</a:t>
            </a:r>
          </a:p>
          <a:p>
            <a:pPr marL="12700" marR="5715">
              <a:spcBef>
                <a:spcPts val="100"/>
              </a:spcBef>
            </a:pPr>
            <a:endParaRPr lang="en-US" sz="2000" b="1" dirty="0">
              <a:latin typeface="Trebuchet MS"/>
              <a:cs typeface="Trebuchet MS"/>
            </a:endParaRPr>
          </a:p>
          <a:p>
            <a:pPr marL="12700" marR="5715">
              <a:spcBef>
                <a:spcPts val="100"/>
              </a:spcBef>
            </a:pPr>
            <a:r>
              <a:rPr lang="en-US" sz="2000" b="1" dirty="0">
                <a:latin typeface="Trebuchet MS"/>
                <a:cs typeface="Trebuchet MS"/>
              </a:rPr>
              <a:t>[8] H. Zhang et al., “Multi-Modal Driver Fatigue Detection Using Infrared and RGB Fusion,” IEEE Trans. </a:t>
            </a:r>
            <a:r>
              <a:rPr lang="en-US" sz="2000" b="1" dirty="0" err="1">
                <a:latin typeface="Trebuchet MS"/>
                <a:cs typeface="Trebuchet MS"/>
              </a:rPr>
              <a:t>Intell</a:t>
            </a:r>
            <a:r>
              <a:rPr lang="en-US" sz="2000" b="1" dirty="0">
                <a:latin typeface="Trebuchet MS"/>
                <a:cs typeface="Trebuchet MS"/>
              </a:rPr>
              <a:t>. </a:t>
            </a:r>
            <a:r>
              <a:rPr lang="en-US" sz="2000" b="1" dirty="0" err="1">
                <a:latin typeface="Trebuchet MS"/>
                <a:cs typeface="Trebuchet MS"/>
              </a:rPr>
              <a:t>Veh</a:t>
            </a:r>
            <a:r>
              <a:rPr lang="en-US" sz="2000" b="1" dirty="0">
                <a:latin typeface="Trebuchet MS"/>
                <a:cs typeface="Trebuchet MS"/>
              </a:rPr>
              <a:t>., 2023.</a:t>
            </a:r>
          </a:p>
          <a:p>
            <a:pPr marL="12700" marR="5715">
              <a:spcBef>
                <a:spcPts val="100"/>
              </a:spcBef>
            </a:pPr>
            <a:endParaRPr lang="en-US" sz="2000" b="1" dirty="0">
              <a:latin typeface="Trebuchet MS"/>
              <a:cs typeface="Trebuchet MS"/>
            </a:endParaRPr>
          </a:p>
          <a:p>
            <a:pPr marL="12700" marR="5715">
              <a:spcBef>
                <a:spcPts val="100"/>
              </a:spcBef>
            </a:pPr>
            <a:endParaRPr lang="en-US" sz="2000" b="1" dirty="0">
              <a:latin typeface="Trebuchet MS"/>
              <a:cs typeface="Trebuchet MS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en-IN" sz="2000" kern="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60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4000" dirty="0">
                <a:solidFill>
                  <a:srgbClr val="FF0000"/>
                </a:solidFill>
                <a:latin typeface="Trebuchet MS" pitchFamily="34" charset="0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687</TotalTime>
  <Words>859</Words>
  <Application>Microsoft Office PowerPoint</Application>
  <PresentationFormat>Widescreen</PresentationFormat>
  <Paragraphs>163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Trebuchet MS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KTwo Technology Solutions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Sunitha R</dc:creator>
  <cp:lastModifiedBy>Microsoft account</cp:lastModifiedBy>
  <cp:revision>176</cp:revision>
  <dcterms:created xsi:type="dcterms:W3CDTF">2020-11-22T08:14:37Z</dcterms:created>
  <dcterms:modified xsi:type="dcterms:W3CDTF">2026-04-24T18:35:48Z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