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21"/>
  </p:notesMasterIdLst>
  <p:handoutMasterIdLst>
    <p:handoutMasterId r:id="rId22"/>
  </p:handoutMasterIdLst>
  <p:sldIdLst>
    <p:sldId id="538" r:id="rId3"/>
    <p:sldId id="583" r:id="rId4"/>
    <p:sldId id="588" r:id="rId5"/>
    <p:sldId id="589" r:id="rId6"/>
    <p:sldId id="590" r:id="rId7"/>
    <p:sldId id="592" r:id="rId8"/>
    <p:sldId id="593" r:id="rId9"/>
    <p:sldId id="600" r:id="rId10"/>
    <p:sldId id="601" r:id="rId11"/>
    <p:sldId id="603" r:id="rId12"/>
    <p:sldId id="602" r:id="rId13"/>
    <p:sldId id="604" r:id="rId14"/>
    <p:sldId id="599" r:id="rId15"/>
    <p:sldId id="596" r:id="rId16"/>
    <p:sldId id="594" r:id="rId17"/>
    <p:sldId id="579" r:id="rId18"/>
    <p:sldId id="597" r:id="rId19"/>
    <p:sldId id="549" r:id="rId20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0066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 showGuides="1">
      <p:cViewPr varScale="1">
        <p:scale>
          <a:sx n="82" d="100"/>
          <a:sy n="82" d="100"/>
        </p:scale>
        <p:origin x="52" y="120"/>
      </p:cViewPr>
      <p:guideLst>
        <p:guide orient="horz" pos="2160"/>
        <p:guide pos="38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46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557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285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PESSAT - All India Online Entrance Exam for Admission to PES University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PESSAT - All India Online Entrance Exam for Admission to PES University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906449"/>
            <a:ext cx="7924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rebuchet MS" panose="020B0603020202020204" pitchFamily="34" charset="0"/>
              </a:rPr>
              <a:t>UE23CS320B</a:t>
            </a:r>
            <a:r>
              <a:rPr lang="en-US" sz="2800" dirty="0">
                <a:latin typeface="Trebuchet MS" panose="020B0603020202020204" pitchFamily="34" charset="0"/>
              </a:rPr>
              <a:t> – Capstone Project Phase – 2</a:t>
            </a:r>
          </a:p>
          <a:p>
            <a:pPr algn="ctr"/>
            <a:endParaRPr lang="en-US" sz="2800" dirty="0">
              <a:latin typeface="Trebuchet MS" panose="020B0603020202020204" pitchFamily="34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Trebuchet MS" panose="020B0603020202020204" pitchFamily="34" charset="0"/>
              </a:rPr>
              <a:t>Project Progress Review #2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219200" y="3276600"/>
            <a:ext cx="102108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Title   :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Driver</a:t>
            </a:r>
            <a:r>
              <a:rPr lang="en-US" sz="2400" spc="-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0033CC"/>
                </a:solidFill>
                <a:latin typeface="Trebuchet MS"/>
                <a:cs typeface="Trebuchet MS"/>
              </a:rPr>
              <a:t>Behavior</a:t>
            </a:r>
            <a:r>
              <a:rPr lang="en-US" sz="2400" spc="-17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Anomaly</a:t>
            </a:r>
            <a:r>
              <a:rPr lang="en-US"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Detection</a:t>
            </a:r>
            <a:r>
              <a:rPr lang="en-US" sz="2400" spc="-7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0033CC"/>
                </a:solidFill>
                <a:latin typeface="Trebuchet MS"/>
                <a:cs typeface="Trebuchet MS"/>
              </a:rPr>
              <a:t>using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Deep</a:t>
            </a:r>
            <a:r>
              <a:rPr lang="en-US" sz="2400" spc="-8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Learning</a:t>
            </a: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endParaRPr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ID       : 06</a:t>
            </a:r>
            <a:endParaRPr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Guide : </a:t>
            </a:r>
            <a:r>
              <a:rPr lang="en-US" sz="2400" dirty="0" err="1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Prof.Kailsam</a:t>
            </a: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             </a:t>
            </a:r>
            <a:endParaRPr sz="2400" dirty="0">
              <a:solidFill>
                <a:srgbClr val="0033CC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Project Team  : </a:t>
            </a: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Chetan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Nadichagi</a:t>
            </a: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- PES2UG23CS149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Poojary</a:t>
            </a: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Sairaj</a:t>
            </a: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Shankar  - PES2UG23AM073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Ranjith</a:t>
            </a: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Kumar.V</a:t>
            </a: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-  PES2UG23AM082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sym typeface="Trebuchet MS"/>
              </a:rPr>
              <a:t>		    Mahesh E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sym typeface="Trebuchet MS"/>
              </a:rPr>
              <a:t>Ajjer</a:t>
            </a:r>
            <a:r>
              <a:rPr lang="en-IN" sz="2400" dirty="0">
                <a:solidFill>
                  <a:srgbClr val="0033CC"/>
                </a:solidFill>
                <a:latin typeface="Trebuchet MS"/>
                <a:sym typeface="Trebuchet MS"/>
              </a:rPr>
              <a:t>	         -  PES2UG23CS316</a:t>
            </a:r>
            <a:endParaRPr lang="en-IN" sz="20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971800" y="1001078"/>
            <a:ext cx="7772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</a:rPr>
              <a:t>What Problem Are We Solving ?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09600" y="1828800"/>
            <a:ext cx="89154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Problem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Road accidents occur due to: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Drowsiness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Distraction (mobile usage)</a:t>
            </a:r>
          </a:p>
          <a:p>
            <a:pPr lvl="1"/>
            <a:r>
              <a:rPr lang="en-US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Existing systems: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Expensive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Not real-time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Not accessible </a:t>
            </a:r>
          </a:p>
          <a:p>
            <a:pPr lv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6155D2-822F-1A53-1BA4-E0BC4858F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772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</a:rPr>
              <a:t>Objectives &amp; Novelty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05D59-50E7-DB6D-543E-19FFA4BB87D3}"/>
              </a:ext>
            </a:extLst>
          </p:cNvPr>
          <p:cNvSpPr txBox="1"/>
          <p:nvPr/>
        </p:nvSpPr>
        <p:spPr>
          <a:xfrm>
            <a:off x="745210" y="1600200"/>
            <a:ext cx="10515600" cy="50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5026543-855F-DF51-E5AE-0315DC933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82256"/>
            <a:ext cx="11506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Objectives: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Detect driver anomalies in real-time (Drowsiness &amp; Distraction).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alerts to prevent accidents.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Novel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Multi-Modal Fusion: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physiological data (Face Mesh) with object context (YOLOv8).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Two-Tier Classification: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Blending instant rule-based thresholds with temporal sequence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 Mechanism: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Utilizing advanced neural network layers to focus on critical behavioral shifts (e.g., the exact moment eyes close)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03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971800" y="1025230"/>
            <a:ext cx="7772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</a:rPr>
              <a:t>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1FE4D-EF3E-498F-4FB7-B61AF85B1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5490292-85FF-1B8E-461B-A93CD460446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3400" y="1730455"/>
            <a:ext cx="133350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Stage 1: Input &amp; Preprocessing: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Webcam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altLang="en-US" dirty="0"/>
              <a:t>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rame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altLang="en-US" dirty="0"/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esizing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   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olor conversion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Stage 2: Feature Extraction: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MediaPipe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 Mesh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YOLOv8 object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Stage 3: Temporal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Bidirectional LSTM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powered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Stage 4: Classification &amp; Alert: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 / Fatigue / Distracted state classification and immediate alert generation</a:t>
            </a:r>
          </a:p>
        </p:txBody>
      </p:sp>
    </p:spTree>
    <p:extLst>
      <p:ext uri="{BB962C8B-B14F-4D97-AF65-F5344CB8AC3E}">
        <p14:creationId xmlns:p14="http://schemas.microsoft.com/office/powerpoint/2010/main" val="3046021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971800" y="892070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Data Preprocessing &amp; Training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9753600" y="1785943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Pipeline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522" y="2358201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	Webcam</a:t>
            </a:r>
          </a:p>
          <a:p>
            <a:r>
              <a:rPr lang="en-US" sz="2000" dirty="0"/>
              <a:t>    </a:t>
            </a:r>
          </a:p>
          <a:p>
            <a:r>
              <a:rPr lang="en-US" sz="2000" dirty="0"/>
              <a:t>	Frames</a:t>
            </a:r>
          </a:p>
          <a:p>
            <a:endParaRPr lang="en-US" sz="2000" dirty="0"/>
          </a:p>
          <a:p>
            <a:r>
              <a:rPr lang="en-US" sz="2000" dirty="0"/>
              <a:t>	 Resize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           </a:t>
            </a:r>
          </a:p>
          <a:p>
            <a:r>
              <a:rPr lang="en-US" sz="2000" dirty="0"/>
              <a:t>           Model Input</a:t>
            </a:r>
          </a:p>
        </p:txBody>
      </p:sp>
      <p:sp>
        <p:nvSpPr>
          <p:cNvPr id="8" name="Down Arrow 7"/>
          <p:cNvSpPr/>
          <p:nvPr/>
        </p:nvSpPr>
        <p:spPr>
          <a:xfrm>
            <a:off x="10247177" y="2833279"/>
            <a:ext cx="228600" cy="2303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own Arrow 8"/>
          <p:cNvSpPr/>
          <p:nvPr/>
        </p:nvSpPr>
        <p:spPr>
          <a:xfrm>
            <a:off x="10246100" y="3405089"/>
            <a:ext cx="228600" cy="2303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10287000" y="4003590"/>
            <a:ext cx="228600" cy="2303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45210" y="5772090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Note : </a:t>
            </a:r>
            <a:r>
              <a:rPr lang="en-US" sz="2000" dirty="0"/>
              <a:t>Preprocessing is done in real-time for efficient model 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494C5A-B5A6-D16A-3734-4250EBCC1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E8929-24CA-4F9F-2D89-A436A12327A0}"/>
              </a:ext>
            </a:extLst>
          </p:cNvPr>
          <p:cNvSpPr txBox="1"/>
          <p:nvPr/>
        </p:nvSpPr>
        <p:spPr>
          <a:xfrm>
            <a:off x="9601200" y="42060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RGB Conversion</a:t>
            </a:r>
          </a:p>
        </p:txBody>
      </p:sp>
      <p:sp>
        <p:nvSpPr>
          <p:cNvPr id="14" name="Down Arrow 9">
            <a:extLst>
              <a:ext uri="{FF2B5EF4-FFF2-40B4-BE49-F238E27FC236}">
                <a16:creationId xmlns:a16="http://schemas.microsoft.com/office/drawing/2014/main" id="{1694E552-C210-E9BB-77DA-1D1AAFFC6A73}"/>
              </a:ext>
            </a:extLst>
          </p:cNvPr>
          <p:cNvSpPr/>
          <p:nvPr/>
        </p:nvSpPr>
        <p:spPr>
          <a:xfrm>
            <a:off x="10321654" y="4589974"/>
            <a:ext cx="228600" cy="2303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E806678A-F353-009D-11D4-D5118E3FFE3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5210" y="2503090"/>
            <a:ext cx="8474990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 Phase Augmentation: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Rotation, flipping, brightness adjustment, and zoom applied to improve robustness and handle lighting variations.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Architecture Validation: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Phase 2 temporal logic validated and tested using synthetic sequence data.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31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999788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Feature Extraction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FDCCE-7352-1DEA-EFD9-15554942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D28C94F-7F29-A9DE-796D-E5B0E9AE0C7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600" y="1918901"/>
            <a:ext cx="12039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MediaPipe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 Mesh (478 Landmarks):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Eye Aspect Ratio (EAR) for drowsiness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Mouth Aspect Ratio (MAR) for yawning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Head Pose Estimation (Pitch/Yaw/Roll) for cognitive distraction.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YOLOv8: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Detects mobile phones and other distraction objects in the driver's hands.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588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999788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Temporal Modeling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472814" y="6507480"/>
            <a:ext cx="7347585" cy="457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8C4E32-F307-4083-3ADA-FE09FBB47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001CDE1-B556-405D-930C-8A36E2D4257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39305" y="1828800"/>
            <a:ext cx="10134600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Why Needed?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Google Sans Text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Driver behavior is time-based; for example, eyes closed for 3 seconds indicates fatigue, not just a blink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Bidirectional LSTM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Advantage: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Captures behavior duration instead of single-frame detection, utilizing a 30-frame rolling window to       understand past and future context.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395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423578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743200" y="911747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High-level Design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8553100" cy="37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74BB9-E6CC-BB83-DE65-4B8A7CD92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921820"/>
            <a:ext cx="10488488" cy="4173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3DC8F7-12F5-3569-1B19-E74B3548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D03EF4-D955-020D-533D-76906EE29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628" y="3124200"/>
            <a:ext cx="452772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78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11447023" cy="542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98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42110"/>
            <a:ext cx="10287000" cy="56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6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07473"/>
            <a:ext cx="10210800" cy="556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36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14400"/>
            <a:ext cx="10439400" cy="56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1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4478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973616"/>
            <a:ext cx="7772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</a:rPr>
              <a:t>Tools &amp; Tech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281098"/>
              </p:ext>
            </p:extLst>
          </p:nvPr>
        </p:nvGraphicFramePr>
        <p:xfrm>
          <a:off x="745210" y="2022727"/>
          <a:ext cx="10075190" cy="3692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7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338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787">
                <a:tc>
                  <a:txBody>
                    <a:bodyPr/>
                    <a:lstStyle/>
                    <a:p>
                      <a:r>
                        <a:rPr lang="en-US" dirty="0" err="1"/>
                        <a:t>OpenCV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Video processing &amp; Visual Alerts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787">
                <a:tc>
                  <a:txBody>
                    <a:bodyPr/>
                    <a:lstStyle/>
                    <a:p>
                      <a:r>
                        <a:rPr lang="en-US" dirty="0" err="1"/>
                        <a:t>MediaPipe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Face landmarks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787">
                <a:tc>
                  <a:txBody>
                    <a:bodyPr/>
                    <a:lstStyle/>
                    <a:p>
                      <a:r>
                        <a:rPr lang="en-US" dirty="0"/>
                        <a:t>YOLOv5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787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787">
                <a:tc>
                  <a:txBody>
                    <a:bodyPr/>
                    <a:lstStyle/>
                    <a:p>
                      <a:r>
                        <a:rPr lang="en-US" dirty="0" err="1"/>
                        <a:t>Pytorch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 Learning Model Engine (</a:t>
                      </a:r>
                      <a:r>
                        <a:rPr lang="en-US" dirty="0" err="1"/>
                        <a:t>BiLSTM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681D791-B980-A1AB-3C04-537D85B2A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03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971800" y="953414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Implementation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1750682"/>
            <a:ext cx="8839200" cy="3928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What we Have Built :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Real-time webcam detection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Face landmark extraction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YOLO object detection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Basic classification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302" y="5745106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Note : </a:t>
            </a:r>
            <a:r>
              <a:rPr lang="en-US" sz="2000" dirty="0"/>
              <a:t>System successfully runs in real-time using laptop webcam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85F851-9FB1-9AE8-4CD1-23802B863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6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54271" y="1035919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Implementation Progress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24453" y="1752600"/>
            <a:ext cx="3429000" cy="3928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Completed : </a:t>
            </a:r>
          </a:p>
          <a:p>
            <a:endParaRPr lang="en-US" sz="2400" dirty="0">
              <a:solidFill>
                <a:srgbClr val="0000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Webcam pipeline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Face Mesh working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YOLO detection working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Basic anomaly logic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48FA3C-777F-0A38-A1A0-19A9F4633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02" y="1541661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99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19400" y="979284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References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600200" y="1988706"/>
            <a:ext cx="891540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12700" eaLnBrk="0" hangingPunct="0">
              <a:spcBef>
                <a:spcPct val="20000"/>
              </a:spcBef>
              <a:defRPr/>
            </a:pPr>
            <a:r>
              <a:rPr lang="en-IN" b="1" dirty="0">
                <a:latin typeface="Trebuchet MS" pitchFamily="34" charset="0"/>
              </a:rPr>
              <a:t>[1] M. A. Uddin et al., “Abnormal Driving </a:t>
            </a:r>
            <a:r>
              <a:rPr lang="en-IN" b="1" dirty="0" err="1">
                <a:latin typeface="Trebuchet MS" pitchFamily="34" charset="0"/>
              </a:rPr>
              <a:t>Behavior</a:t>
            </a:r>
            <a:r>
              <a:rPr lang="en-IN" b="1" dirty="0">
                <a:latin typeface="Trebuchet MS" pitchFamily="34" charset="0"/>
              </a:rPr>
              <a:t> Detection: A Machine and Deep Learning Based Hybrid Model,” Int. J. </a:t>
            </a:r>
            <a:r>
              <a:rPr lang="en-IN" b="1" dirty="0" err="1">
                <a:latin typeface="Trebuchet MS" pitchFamily="34" charset="0"/>
              </a:rPr>
              <a:t>Intell</a:t>
            </a:r>
            <a:r>
              <a:rPr lang="en-IN" b="1" dirty="0">
                <a:latin typeface="Trebuchet MS" pitchFamily="34" charset="0"/>
              </a:rPr>
              <a:t>. Transp. Syst. Res., 2025.</a:t>
            </a:r>
          </a:p>
          <a:p>
            <a:pPr marL="342900" indent="12700" eaLnBrk="0" hangingPunct="0">
              <a:spcBef>
                <a:spcPct val="20000"/>
              </a:spcBef>
              <a:defRPr/>
            </a:pPr>
            <a:endParaRPr lang="en-IN" b="1" dirty="0">
              <a:latin typeface="Trebuchet MS" pitchFamily="34" charset="0"/>
            </a:endParaRPr>
          </a:p>
          <a:p>
            <a:pPr marL="342900" indent="12700" eaLnBrk="0" hangingPunct="0">
              <a:spcBef>
                <a:spcPct val="20000"/>
              </a:spcBef>
              <a:defRPr/>
            </a:pPr>
            <a:r>
              <a:rPr lang="en-IN" b="1" dirty="0">
                <a:latin typeface="Trebuchet MS" pitchFamily="34" charset="0"/>
              </a:rPr>
              <a:t>[2] E. </a:t>
            </a:r>
            <a:r>
              <a:rPr lang="en-IN" b="1" dirty="0" err="1">
                <a:latin typeface="Trebuchet MS" pitchFamily="34" charset="0"/>
              </a:rPr>
              <a:t>Civik</a:t>
            </a:r>
            <a:r>
              <a:rPr lang="en-IN" b="1" dirty="0">
                <a:latin typeface="Trebuchet MS" pitchFamily="34" charset="0"/>
              </a:rPr>
              <a:t> and U. </a:t>
            </a:r>
            <a:r>
              <a:rPr lang="en-IN" b="1" dirty="0" err="1">
                <a:latin typeface="Trebuchet MS" pitchFamily="34" charset="0"/>
              </a:rPr>
              <a:t>Yuzgec</a:t>
            </a:r>
            <a:r>
              <a:rPr lang="en-IN" b="1" dirty="0">
                <a:latin typeface="Trebuchet MS" pitchFamily="34" charset="0"/>
              </a:rPr>
              <a:t>, “Real-Time Driver Fatigue Detection System with Deep Learning on a Low-Cost Embedded System,” Microprocessors </a:t>
            </a:r>
            <a:r>
              <a:rPr lang="en-IN" b="1" dirty="0" err="1">
                <a:latin typeface="Trebuchet MS" pitchFamily="34" charset="0"/>
              </a:rPr>
              <a:t>Microsyst</a:t>
            </a:r>
            <a:r>
              <a:rPr lang="en-IN" b="1" dirty="0">
                <a:latin typeface="Trebuchet MS" pitchFamily="34" charset="0"/>
              </a:rPr>
              <a:t>., 2023.</a:t>
            </a:r>
          </a:p>
          <a:p>
            <a:pPr marL="342900" indent="12700" eaLnBrk="0" hangingPunct="0">
              <a:spcBef>
                <a:spcPct val="20000"/>
              </a:spcBef>
              <a:defRPr/>
            </a:pPr>
            <a:endParaRPr lang="en-IN" b="1" kern="0" dirty="0">
              <a:latin typeface="Trebuchet MS" pitchFamily="34" charset="0"/>
            </a:endParaRPr>
          </a:p>
          <a:p>
            <a:pPr marL="342900" indent="12700" eaLnBrk="0" hangingPunct="0">
              <a:spcBef>
                <a:spcPct val="20000"/>
              </a:spcBef>
              <a:defRPr/>
            </a:pPr>
            <a:r>
              <a:rPr lang="en-IN" b="1" dirty="0">
                <a:latin typeface="Trebuchet MS" pitchFamily="34" charset="0"/>
              </a:rPr>
              <a:t>[3] F. Qu et al., “Comprehensive Study of Driver </a:t>
            </a:r>
            <a:r>
              <a:rPr lang="en-IN" b="1" dirty="0" err="1">
                <a:latin typeface="Trebuchet MS" pitchFamily="34" charset="0"/>
              </a:rPr>
              <a:t>Behavior</a:t>
            </a:r>
            <a:r>
              <a:rPr lang="en-IN" b="1" dirty="0">
                <a:latin typeface="Trebuchet MS" pitchFamily="34" charset="0"/>
              </a:rPr>
              <a:t> Monitoring Systems Using Computer Vision and Machine Learning Techniques,” J. Big Data, 2024.</a:t>
            </a:r>
          </a:p>
          <a:p>
            <a:pPr marL="342900" indent="12700" eaLnBrk="0" hangingPunct="0">
              <a:spcBef>
                <a:spcPct val="20000"/>
              </a:spcBef>
              <a:defRPr/>
            </a:pPr>
            <a:endParaRPr lang="en-IN" b="1" dirty="0">
              <a:latin typeface="Trebuchet MS" pitchFamily="34" charset="0"/>
            </a:endParaRPr>
          </a:p>
          <a:p>
            <a:pPr marL="342900" indent="12700" eaLnBrk="0" hangingPunct="0">
              <a:spcBef>
                <a:spcPct val="20000"/>
              </a:spcBef>
              <a:defRPr/>
            </a:pPr>
            <a:r>
              <a:rPr lang="en-IN" b="1" dirty="0">
                <a:latin typeface="Trebuchet MS" pitchFamily="34" charset="0"/>
              </a:rPr>
              <a:t>[4] B. B. Gupta et al., “Deep Learning Model for Driver </a:t>
            </a:r>
            <a:r>
              <a:rPr lang="en-IN" b="1" dirty="0" err="1">
                <a:latin typeface="Trebuchet MS" pitchFamily="34" charset="0"/>
              </a:rPr>
              <a:t>Behavior</a:t>
            </a:r>
            <a:r>
              <a:rPr lang="en-IN" b="1" dirty="0">
                <a:latin typeface="Trebuchet MS" pitchFamily="34" charset="0"/>
              </a:rPr>
              <a:t> Detection in Cyber-Physical System-Based Intelligent Transport Systems,” IEEE Access, 2024.</a:t>
            </a:r>
          </a:p>
          <a:p>
            <a:pPr marL="342900" indent="12700" eaLnBrk="0" hangingPunct="0">
              <a:spcBef>
                <a:spcPct val="20000"/>
              </a:spcBef>
              <a:defRPr/>
            </a:pPr>
            <a:endParaRPr lang="en-IN" b="1" kern="0" dirty="0">
              <a:latin typeface="Trebuchet MS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571F69-7AAD-F46D-871D-F927B2CEC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62020" y="1065223"/>
            <a:ext cx="77724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References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717964" y="2133600"/>
            <a:ext cx="891540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2700" marR="5715">
              <a:spcBef>
                <a:spcPts val="100"/>
              </a:spcBef>
            </a:pPr>
            <a:r>
              <a:rPr lang="en-US" b="1" dirty="0">
                <a:latin typeface="Trebuchet MS"/>
                <a:cs typeface="Trebuchet MS"/>
              </a:rPr>
              <a:t>[5] S. Abbas et al., “Naturalistic Driving Data-Based Anomalous Driving Behavior Detection Using </a:t>
            </a:r>
            <a:r>
              <a:rPr lang="en-US" b="1" dirty="0" err="1">
                <a:latin typeface="Trebuchet MS"/>
                <a:cs typeface="Trebuchet MS"/>
              </a:rPr>
              <a:t>Hypertuned</a:t>
            </a:r>
            <a:r>
              <a:rPr lang="en-US" b="1" dirty="0">
                <a:latin typeface="Trebuchet MS"/>
                <a:cs typeface="Trebuchet MS"/>
              </a:rPr>
              <a:t> Deep </a:t>
            </a:r>
            <a:r>
              <a:rPr lang="en-US" b="1" dirty="0" err="1">
                <a:latin typeface="Trebuchet MS"/>
                <a:cs typeface="Trebuchet MS"/>
              </a:rPr>
              <a:t>Autoencoders</a:t>
            </a:r>
            <a:r>
              <a:rPr lang="en-US" b="1" dirty="0">
                <a:latin typeface="Trebuchet MS"/>
                <a:cs typeface="Trebuchet MS"/>
              </a:rPr>
              <a:t>,” Electronics, 2023.</a:t>
            </a:r>
          </a:p>
          <a:p>
            <a:pPr marL="12700" marR="5715">
              <a:spcBef>
                <a:spcPts val="100"/>
              </a:spcBef>
            </a:pPr>
            <a:endParaRPr lang="en-US" b="1" dirty="0">
              <a:latin typeface="Trebuchet MS"/>
              <a:cs typeface="Trebuchet MS"/>
            </a:endParaRPr>
          </a:p>
          <a:p>
            <a:pPr marL="12700" marR="5715">
              <a:spcBef>
                <a:spcPts val="100"/>
              </a:spcBef>
            </a:pPr>
            <a:r>
              <a:rPr lang="en-US" b="1" dirty="0">
                <a:latin typeface="Trebuchet MS"/>
                <a:cs typeface="Trebuchet MS"/>
              </a:rPr>
              <a:t>[6] A. Author et al., “Enhanced Deep Neural Network Model for Anomalous Driving Behavior Detection,” Wiley J. Surveillance, 2024.</a:t>
            </a:r>
          </a:p>
          <a:p>
            <a:pPr marL="12700" marR="5715">
              <a:spcBef>
                <a:spcPts val="100"/>
              </a:spcBef>
            </a:pPr>
            <a:endParaRPr lang="en-US" b="1" dirty="0">
              <a:latin typeface="Trebuchet MS"/>
              <a:cs typeface="Trebuchet MS"/>
            </a:endParaRPr>
          </a:p>
          <a:p>
            <a:pPr marL="12700" marR="5715">
              <a:spcBef>
                <a:spcPts val="100"/>
              </a:spcBef>
            </a:pPr>
            <a:r>
              <a:rPr lang="en-US" b="1" dirty="0">
                <a:latin typeface="Trebuchet MS"/>
                <a:cs typeface="Trebuchet MS"/>
              </a:rPr>
              <a:t>[7] R. Kumar and S. Gupta, “Driver Drowsiness Detection Using CNN-LSTM Hybrid Deep Learning Model,” IEEE Sensors J., 2023.</a:t>
            </a:r>
          </a:p>
          <a:p>
            <a:pPr marL="12700" marR="5715">
              <a:spcBef>
                <a:spcPts val="100"/>
              </a:spcBef>
            </a:pPr>
            <a:endParaRPr lang="en-US" b="1" dirty="0">
              <a:latin typeface="Trebuchet MS"/>
              <a:cs typeface="Trebuchet MS"/>
            </a:endParaRPr>
          </a:p>
          <a:p>
            <a:pPr marL="12700" marR="5715">
              <a:spcBef>
                <a:spcPts val="100"/>
              </a:spcBef>
            </a:pPr>
            <a:r>
              <a:rPr lang="en-US" b="1" dirty="0">
                <a:latin typeface="Trebuchet MS"/>
                <a:cs typeface="Trebuchet MS"/>
              </a:rPr>
              <a:t>[8] H. Zhang et al., “Multi-Modal Driver Fatigue Detection Using Infrared and RGB Fusion,” IEEE Trans. </a:t>
            </a:r>
            <a:r>
              <a:rPr lang="en-US" b="1" dirty="0" err="1">
                <a:latin typeface="Trebuchet MS"/>
                <a:cs typeface="Trebuchet MS"/>
              </a:rPr>
              <a:t>Intell</a:t>
            </a:r>
            <a:r>
              <a:rPr lang="en-US" b="1" dirty="0">
                <a:latin typeface="Trebuchet MS"/>
                <a:cs typeface="Trebuchet MS"/>
              </a:rPr>
              <a:t>. </a:t>
            </a:r>
            <a:r>
              <a:rPr lang="en-US" b="1" dirty="0" err="1">
                <a:latin typeface="Trebuchet MS"/>
                <a:cs typeface="Trebuchet MS"/>
              </a:rPr>
              <a:t>Veh</a:t>
            </a:r>
            <a:r>
              <a:rPr lang="en-US" b="1" dirty="0">
                <a:latin typeface="Trebuchet MS"/>
                <a:cs typeface="Trebuchet MS"/>
              </a:rPr>
              <a:t>., 2023.</a:t>
            </a:r>
          </a:p>
          <a:p>
            <a:pPr marL="12700" marR="5715">
              <a:spcBef>
                <a:spcPts val="100"/>
              </a:spcBef>
            </a:pPr>
            <a:endParaRPr lang="en-US" b="1" dirty="0">
              <a:latin typeface="Trebuchet MS"/>
              <a:cs typeface="Trebuchet MS"/>
            </a:endParaRPr>
          </a:p>
          <a:p>
            <a:pPr marL="12700" marR="5715">
              <a:spcBef>
                <a:spcPts val="100"/>
              </a:spcBef>
            </a:pPr>
            <a:endParaRPr lang="en-US" b="1" dirty="0">
              <a:latin typeface="Trebuchet MS"/>
              <a:cs typeface="Trebuchet M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DF5F69-800C-47FF-B8DE-B60C07C79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0" y="1438594"/>
            <a:ext cx="992279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9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anose="020B06030202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244</TotalTime>
  <Words>768</Words>
  <Application>Microsoft Office PowerPoint</Application>
  <PresentationFormat>Widescreen</PresentationFormat>
  <Paragraphs>139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Google Sans Text</vt:lpstr>
      <vt:lpstr>Trebuchet MS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Sairaj Poojary</cp:lastModifiedBy>
  <cp:revision>392</cp:revision>
  <dcterms:created xsi:type="dcterms:W3CDTF">2020-11-22T08:14:00Z</dcterms:created>
  <dcterms:modified xsi:type="dcterms:W3CDTF">2026-04-10T05:40:56Z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ICV">
    <vt:lpwstr>B8DB9D2C274F4100B7A344BF1D107853_13</vt:lpwstr>
  </property>
  <property fmtid="{D5CDD505-2E9C-101B-9397-08002B2CF9AE}" pid="4" name="KSOProductBuildVer">
    <vt:lpwstr>1033-12.2.0.23196</vt:lpwstr>
  </property>
</Properties>
</file>